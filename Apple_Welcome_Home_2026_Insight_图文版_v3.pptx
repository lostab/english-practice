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pple-welcome-hom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pple-welcome-hom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726bf42554f1890.jpg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bb657e24aac6b08.jpg"/>
  <Relationship Id="rId3" Type="http://schemas.openxmlformats.org/officeDocument/2006/relationships/image" Target="../media/image_716304f54ed73cbf.jp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bb657e24aac6b08.jpg"/>
  <Relationship Id="rId3" Type="http://schemas.openxmlformats.org/officeDocument/2006/relationships/image" Target="../media/image_716304f54ed73cbf.jp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bb657e24aac6b08.jp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50000">
              <a:srgbClr val="0A1120"/>
            </a:gs>
            <a:gs pos="100000">
              <a:srgbClr val="070C1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6780" y="869950"/>
            <a:ext cx="584415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45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智能家居竞品深度洞察报告 · 2026-10-13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6300" y="1822450"/>
            <a:ext cx="8459178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'Welcome Home' 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8586" y="2736850"/>
            <a:ext cx="812213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智能家居生态战略 · 深度拆解与三方对决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5830" y="3556000"/>
            <a:ext cx="560339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产品 · 参数 · 功能 · 架构 · 生态 · AI 语音助手 · 解决方案优劣势</a:t>
            </a:r>
          </a:p>
        </p:txBody>
      </p:sp>
      <p:sp>
        <p:nvSpPr>
          <p:cNvPr id="7" name="Rectangle 7"/>
          <p:cNvSpPr/>
          <p:nvPr/>
        </p:nvSpPr>
        <p:spPr>
          <a:xfrm>
            <a:off x="914400" y="4000500"/>
            <a:ext cx="4572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26592" y="4311650"/>
            <a:ext cx="592904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对标竞品：Huawei 全屋智能（HarmonyOS Connect） · Xiaomi 米家生态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14400" y="4953000"/>
            <a:ext cx="2477750" cy="819150"/>
            <a:chOff x="914400" y="4953000"/>
            <a:chExt cx="2477750" cy="819150"/>
          </a:xfrm>
        </p:grpSpPr>
        <p:sp>
          <p:nvSpPr>
            <p:cNvPr id="9" name="Rectangle 9"/>
            <p:cNvSpPr/>
            <p:nvPr/>
          </p:nvSpPr>
          <p:spPr>
            <a:xfrm>
              <a:off x="9144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7666" y="5168900"/>
              <a:ext cx="506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EVENT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6142" y="5397500"/>
              <a:ext cx="22560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2026-10-13 · Apple Event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619500" y="4953000"/>
            <a:ext cx="2476500" cy="819150"/>
            <a:chOff x="3619500" y="4953000"/>
            <a:chExt cx="2476500" cy="819150"/>
          </a:xfrm>
        </p:grpSpPr>
        <p:sp>
          <p:nvSpPr>
            <p:cNvPr id="13" name="Rectangle 13"/>
            <p:cNvSpPr/>
            <p:nvPr/>
          </p:nvSpPr>
          <p:spPr>
            <a:xfrm>
              <a:off x="36195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42766" y="5168900"/>
              <a:ext cx="817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AUDIENCE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41242" y="5397500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 · 技术 · 战略 · 市场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24600" y="4953000"/>
            <a:ext cx="2476500" cy="819150"/>
            <a:chOff x="6324600" y="4953000"/>
            <a:chExt cx="2476500" cy="819150"/>
          </a:xfrm>
        </p:grpSpPr>
        <p:sp>
          <p:nvSpPr>
            <p:cNvPr id="17" name="Rectangle 17"/>
            <p:cNvSpPr/>
            <p:nvPr/>
          </p:nvSpPr>
          <p:spPr>
            <a:xfrm>
              <a:off x="63246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7866" y="5168900"/>
              <a:ext cx="506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SCOPE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6342" y="5397500"/>
              <a:ext cx="20419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× Huawei × Xiaomi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01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7542" y="596900"/>
            <a:ext cx="342214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spc="225" dirty="0">
                <a:solidFill>
                  <a:srgbClr val="A5F3FC"/>
                </a:solidFill>
                <a:latin typeface="Consolas"/>
                <a:ea typeface="Consolas"/>
                <a:cs typeface="Consolas"/>
              </a:rPr>
              <a:t>// TIMELINE · 2011 — 2026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8586" y="927100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苹果智能家居演进史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3048000" cy="38100"/>
          </a:xfrm>
          <a:prstGeom prst="roundRect">
            <a:avLst>
              <a:gd name="adj" fmla="val 3750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1143000" y="38100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28575">
            <a:solidFill>
              <a:srgbClr val="1E3A5F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685800" y="3416300"/>
            <a:ext cx="1295400" cy="1651000"/>
            <a:chOff x="685800" y="3416300"/>
            <a:chExt cx="1295400" cy="1651000"/>
          </a:xfrm>
        </p:grpSpPr>
        <p:sp>
          <p:nvSpPr>
            <p:cNvPr id="6" name="Ellipse 6"/>
            <p:cNvSpPr/>
            <p:nvPr/>
          </p:nvSpPr>
          <p:spPr>
            <a:xfrm>
              <a:off x="1238250" y="3714750"/>
              <a:ext cx="190500" cy="1905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67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2011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4038600"/>
              <a:ext cx="12954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69842" y="4165600"/>
              <a:ext cx="7273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iPhone 4S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9481" y="4419600"/>
              <a:ext cx="768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Siri 语音首秀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0837" y="46291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语音交互概念引入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476500" y="3416300"/>
            <a:ext cx="1295400" cy="1651000"/>
            <a:chOff x="2476500" y="3416300"/>
            <a:chExt cx="1295400" cy="1651000"/>
          </a:xfrm>
        </p:grpSpPr>
        <p:sp>
          <p:nvSpPr>
            <p:cNvPr id="13" name="Ellipse 13"/>
            <p:cNvSpPr/>
            <p:nvPr/>
          </p:nvSpPr>
          <p:spPr>
            <a:xfrm>
              <a:off x="3028950" y="3714750"/>
              <a:ext cx="190500" cy="1905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9174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2014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476500" y="4038600"/>
              <a:ext cx="12954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812825" y="4165600"/>
              <a:ext cx="6227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HomeKit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23464" y="44196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统一智能家居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23464" y="462915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通信协议框架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267200" y="3416300"/>
            <a:ext cx="1295400" cy="1651000"/>
            <a:chOff x="4267200" y="3416300"/>
            <a:chExt cx="1295400" cy="1651000"/>
          </a:xfrm>
        </p:grpSpPr>
        <p:sp>
          <p:nvSpPr>
            <p:cNvPr id="20" name="Ellipse 20"/>
            <p:cNvSpPr/>
            <p:nvPr/>
          </p:nvSpPr>
          <p:spPr>
            <a:xfrm>
              <a:off x="4819650" y="3714750"/>
              <a:ext cx="190500" cy="1905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081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2016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267200" y="4038600"/>
              <a:ext cx="12954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83416" y="4165600"/>
              <a:ext cx="6629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HomePod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73229" y="4419600"/>
              <a:ext cx="8833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音频中心 + Siri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4164" y="462915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音频交互入口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57900" y="3416300"/>
            <a:ext cx="1295400" cy="1651000"/>
            <a:chOff x="6057900" y="3416300"/>
            <a:chExt cx="1295400" cy="1651000"/>
          </a:xfrm>
        </p:grpSpPr>
        <p:sp>
          <p:nvSpPr>
            <p:cNvPr id="27" name="Ellipse 27"/>
            <p:cNvSpPr/>
            <p:nvPr/>
          </p:nvSpPr>
          <p:spPr>
            <a:xfrm>
              <a:off x="6610350" y="3714750"/>
              <a:ext cx="190500" cy="1905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988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2018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057900" y="4038600"/>
              <a:ext cx="12954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00065" y="4165600"/>
              <a:ext cx="1011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HomePod mini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70828" y="44196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低价位入口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36792" y="46291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生态普及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673032" y="3416300"/>
            <a:ext cx="1646536" cy="1651000"/>
            <a:chOff x="7673032" y="3416300"/>
            <a:chExt cx="1646536" cy="1651000"/>
          </a:xfrm>
        </p:grpSpPr>
        <p:sp>
          <p:nvSpPr>
            <p:cNvPr id="34" name="Ellipse 34"/>
            <p:cNvSpPr/>
            <p:nvPr/>
          </p:nvSpPr>
          <p:spPr>
            <a:xfrm>
              <a:off x="8401050" y="3714750"/>
              <a:ext cx="190500" cy="1905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895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2020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848600" y="4038600"/>
              <a:ext cx="12954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73032" y="4165600"/>
              <a:ext cx="1646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HomeKit Secure Video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29600" y="441960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端到端加密视频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29937" y="4629150"/>
              <a:ext cx="7327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Thread 支持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505950" y="3416300"/>
            <a:ext cx="1562100" cy="1765300"/>
            <a:chOff x="9505950" y="3416300"/>
            <a:chExt cx="1562100" cy="1765300"/>
          </a:xfrm>
        </p:grpSpPr>
        <p:sp>
          <p:nvSpPr>
            <p:cNvPr id="41" name="Ellipse 41"/>
            <p:cNvSpPr/>
            <p:nvPr/>
          </p:nvSpPr>
          <p:spPr>
            <a:xfrm>
              <a:off x="10163175" y="36861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glow rad="66675">
                <a:srgbClr val="000000">
                  <a:alpha val="30000"/>
                </a:srgbClr>
              </a:glow>
            </a:effectLst>
          </p:spPr>
        </p:sp>
        <p:sp>
          <p:nvSpPr>
            <p:cNvPr id="42" name="TextBox 42"/>
            <p:cNvSpPr txBox="1"/>
            <p:nvPr/>
          </p:nvSpPr>
          <p:spPr>
            <a:xfrm>
              <a:off x="100802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A5F3FC"/>
                  </a:solidFill>
                  <a:latin typeface="Consolas"/>
                  <a:ea typeface="Consolas"/>
                  <a:cs typeface="Consolas"/>
                </a:rPr>
                <a:t>2026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505950" y="4038600"/>
              <a:ext cx="1562100" cy="1143000"/>
            </a:xfrm>
            <a:prstGeom prst="roundRect">
              <a:avLst>
                <a:gd name="adj" fmla="val 8333"/>
              </a:avLst>
            </a:prstGeom>
            <a:solidFill>
              <a:srgbClr val="0E2440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916026" y="4165600"/>
              <a:ext cx="741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HomeView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754337" y="44196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家庭操作系统枢纽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86264" y="462915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全屋连接枢纽</a:t>
              </a:r>
            </a:p>
          </p:txBody>
        </p:sp>
      </p:grpSp>
      <p:sp>
        <p:nvSpPr>
          <p:cNvPr id="48" name="Rectangle 48"/>
          <p:cNvSpPr/>
          <p:nvPr/>
        </p:nvSpPr>
        <p:spPr>
          <a:xfrm>
            <a:off x="914400" y="5715000"/>
            <a:ext cx="10363200" cy="685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1174242" y="5835650"/>
            <a:ext cx="907619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核心洞察：Apple 从「零散硬件」进化为「系统级平台」——HomeView 作为中央枢纽，统一全屋设备控制与数据流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74242" y="6083300"/>
            <a:ext cx="54025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并通过 A18 芯片 + Secure Exclaves 隐私隔离实现本地高性能处理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97286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225" dirty="0">
                <a:solidFill>
                  <a:srgbClr val="A5F3FC"/>
                </a:solidFill>
                <a:latin typeface="Consolas"/>
                <a:ea typeface="Microsoft YaHei"/>
                <a:cs typeface="Consolas"/>
              </a:rPr>
              <a:t>// EVENT SYNOPSIS · Welcome Home 发布会核心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4682" y="1079500"/>
            <a:ext cx="902983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Welcome Home · 2026-10-13 · 以 HomeView 为中心的家庭智能中枢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40005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066" y="1682750"/>
            <a:ext cx="59350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官方发布 · apple.com/apple-homeview · 本页均为发布会真实宣布内容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14400" y="2095500"/>
            <a:ext cx="5035520" cy="4000500"/>
            <a:chOff x="914400" y="2095500"/>
            <a:chExt cx="5035520" cy="4000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4953000" cy="1257300"/>
            </a:xfrm>
            <a:prstGeom prst="roundRect">
              <a:avLst>
                <a:gd name="adj" fmla="val 10606"/>
              </a:avLst>
            </a:prstGeom>
            <a:solidFill>
              <a:schemeClr val="accent5"/>
            </a:solidFill>
            <a:ln w="14288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7285" y="2279650"/>
              <a:ext cx="29045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01 · 硬件：7" Liquid Retina 家庭中枢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7285" y="2584450"/>
              <a:ext cx="4603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铝合金机身 + 不锈钢铰链平滑倾角 · 四色（银/星光/玫瑰粉/深空灰）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7285" y="2813050"/>
              <a:ext cx="42821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桌面版 + 壁挂版（Schneider 三款挂装）· $299 起 · 11.13 开售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7666" y="3054350"/>
              <a:ext cx="39559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64748B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亮度 500 nits → 0.3 nits 自适应 · True Tone · 距离自适应界面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14400" y="3467100"/>
              <a:ext cx="4953000" cy="1257300"/>
            </a:xfrm>
            <a:prstGeom prst="roundRect">
              <a:avLst>
                <a:gd name="adj" fmla="val 10606"/>
              </a:avLst>
            </a:prstGeom>
            <a:solidFill>
              <a:schemeClr val="accent5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37285" y="3651250"/>
              <a:ext cx="32794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4B5F9"/>
                  </a:solidFill>
                  <a:latin typeface="Consolas"/>
                  <a:ea typeface="Microsoft YaHei"/>
                  <a:cs typeface="Consolas"/>
                </a:rPr>
                <a:t>02 · 软件：Siri AI（Apple Intelligence）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7285" y="3956050"/>
              <a:ext cx="3614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全新 Siri AI：广博世界知识 + 屏幕感知 + 跨应用行动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7285" y="4184650"/>
              <a:ext cx="4004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面部识别最多 6 位用户 · 每人专属主屏 · 个人内容隐私隔离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7666" y="4425950"/>
              <a:ext cx="48122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64748B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对话可接力至 iPhone / iPad / Mac / Watch / Vision Pro（iCloud 隐私同步）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14400" y="4838700"/>
              <a:ext cx="4953000" cy="1257300"/>
            </a:xfrm>
            <a:prstGeom prst="roundRect">
              <a:avLst>
                <a:gd name="adj" fmla="val 10606"/>
              </a:avLst>
            </a:prstGeom>
            <a:solidFill>
              <a:schemeClr val="accent5"/>
            </a:solidFill>
            <a:ln w="14288">
              <a:solidFill>
                <a:srgbClr val="A3E63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37285" y="5022850"/>
              <a:ext cx="2635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03 · 生态：Apple Home Collection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5327650"/>
              <a:ext cx="47696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 LG Electronics + Schneider Electric 合作新品线：摄像头/温控/门锁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7285" y="5556250"/>
              <a:ext cx="43391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HomeKit Secure Video 最多 9 路同屏直播 · 端到端加密 AI 识别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7666" y="5797550"/>
              <a:ext cx="4403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64748B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烟雾 / 一氧化碳警报声音侦测 · Works with Apple Home / Matter 配件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191250" y="2095500"/>
            <a:ext cx="5994078" cy="4610100"/>
            <a:chOff x="6191250" y="2095500"/>
            <a:chExt cx="5994078" cy="4610100"/>
          </a:xfrm>
        </p:grpSpPr>
        <p:sp>
          <p:nvSpPr>
            <p:cNvPr id="22" name="Rectangle 22"/>
            <p:cNvSpPr/>
            <p:nvPr/>
          </p:nvSpPr>
          <p:spPr>
            <a:xfrm>
              <a:off x="6191250" y="2095500"/>
              <a:ext cx="5086350" cy="2914650"/>
            </a:xfrm>
            <a:prstGeom prst="roundRect">
              <a:avLst>
                <a:gd name="adj" fmla="val 522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2"/>
            <a:srcRect l="0" t="236" r="0" b="236"/>
            <a:stretch>
              <a:fillRect/>
            </a:stretch>
          </p:blipFill>
          <p:spPr>
            <a:xfrm>
              <a:off x="6267450" y="2171700"/>
              <a:ext cx="4933950" cy="2762250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6376035" y="5175250"/>
              <a:ext cx="1823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HomeView 全系（官方图）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76416" y="5416550"/>
              <a:ext cx="29577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Apple Newsroom 官方产品图 · 桌面版与壁挂版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191250" y="5829300"/>
              <a:ext cx="5086350" cy="876300"/>
            </a:xfrm>
            <a:prstGeom prst="roundRect">
              <a:avLst>
                <a:gd name="adj" fmla="val 1521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74130" y="5956300"/>
              <a:ext cx="33167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$299 起 · 今日预购 · 11月13日开售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76416" y="6292850"/>
              <a:ext cx="58089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桌面版与壁挂版同价 · 配同色 USB-C 线缆 · 壁挂版含 Schneider 挂装选配（自装/专业安装）</a:t>
              </a:r>
            </a:p>
          </p:txBody>
        </p:sp>
      </p:grpSp>
      <p:sp>
        <p:nvSpPr>
          <p:cNvPr id="30" name="Rectangle 30"/>
          <p:cNvSpPr/>
          <p:nvPr/>
        </p:nvSpPr>
        <p:spPr>
          <a:xfrm>
            <a:off x="914400" y="6248400"/>
            <a:ext cx="10363200" cy="3810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175766" y="6350000"/>
            <a:ext cx="822516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核心信息：HomeView = 苹果家庭中枢新品类 —— 娱乐 · 连接 · 智能家居控制，由 Apple Intelligence（Siri AI）统一驱动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03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7492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HARDWARE DEEP-DIVE · 硬件参数逐层拆解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4682" y="1079500"/>
            <a:ext cx="545133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核心芯片、显示屏与感知阵列 - 参数级对比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628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620872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数据来源：Apple 官方新闻稿 · 华为官网 consumer.huawei.com · 小米官网 mi.com/xiaomi-smartdisplay-11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9447" y="1857375"/>
            <a:ext cx="434882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标注为「官方未公布」者均未在品牌官方渠道披露 · 不使用第三方猜测数据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571500" y="2095500"/>
            <a:ext cx="10591800" cy="4343400"/>
            <a:chOff x="571500" y="2095500"/>
            <a:chExt cx="10591800" cy="4343400"/>
          </a:xfrm>
        </p:grpSpPr>
        <p:sp>
          <p:nvSpPr>
            <p:cNvPr id="7" name="Rectangle 7"/>
            <p:cNvSpPr/>
            <p:nvPr/>
          </p:nvSpPr>
          <p:spPr>
            <a:xfrm>
              <a:off x="571500" y="2095500"/>
              <a:ext cx="142875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6325" y="22701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000250" y="2095500"/>
              <a:ext cx="304800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rcRect l="0" t="39144" r="0" b="39145"/>
            <a:stretch>
              <a:fillRect/>
            </a:stretch>
          </p:blipFill>
          <p:spPr>
            <a:xfrm>
              <a:off x="2076450" y="2152650"/>
              <a:ext cx="2895600" cy="4191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2635966" y="2257425"/>
              <a:ext cx="1776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· HomeView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048250" y="2095500"/>
              <a:ext cx="304800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rcRect l="0" t="38710" r="0" b="38710"/>
            <a:stretch>
              <a:fillRect/>
            </a:stretch>
          </p:blipFill>
          <p:spPr>
            <a:xfrm>
              <a:off x="5124450" y="2152650"/>
              <a:ext cx="2895600" cy="4191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5634057" y="2270125"/>
              <a:ext cx="1876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 · 中控屏 S2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96250" y="2095500"/>
              <a:ext cx="304800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15281" y="2270125"/>
              <a:ext cx="22099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· 智能家庭屏 11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144250" y="2095500"/>
              <a:ext cx="19050" cy="409575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71500" y="2705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6285" y="29845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核心芯片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000250" y="2705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64842" y="2844800"/>
              <a:ext cx="8789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A18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66747" y="3124200"/>
              <a:ext cx="15711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3nm · 官方未公布核心规格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048250" y="2705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12842" y="2844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14747" y="312420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华为官网未披露芯片型号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96250" y="2705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60842" y="2844800"/>
              <a:ext cx="845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8核处理器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62747" y="31242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官方产品页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71500" y="3467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6285" y="37465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显示屏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000250" y="3467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164842" y="3606800"/>
              <a:ext cx="1468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7" Liquid Retina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66747" y="3854450"/>
              <a:ext cx="19328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1088×1088 · 220ppi · True Tone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048250" y="3467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12842" y="3606800"/>
              <a:ext cx="10629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FHD+ 超高清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14747" y="3867150"/>
              <a:ext cx="21738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1670万色 · 自然色彩调节 · AF防指纹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096250" y="3467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60842" y="3606800"/>
              <a:ext cx="1112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11" 高清大屏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62747" y="3867150"/>
              <a:ext cx="18131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10.95" · 1920×1200 · 超薄边框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71500" y="4229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6285" y="45085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摄像头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000250" y="4229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164842" y="4368800"/>
              <a:ext cx="17707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12MP Center Stage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166747" y="4629150"/>
              <a:ext cx="9115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f/2.4 · 居中构图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048250" y="4229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12842" y="4368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214747" y="46291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未在官方产品页披露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096250" y="4229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260842" y="4368800"/>
              <a:ext cx="873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800万像素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62747" y="462915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物理隐私遮蔽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71500" y="4991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6285" y="5270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000250" y="4991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164842" y="5130800"/>
              <a:ext cx="23263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2×全频 + 低音 + 2×被动辐射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166747" y="5391150"/>
              <a:ext cx="172876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空间音频 · 4×波束成形麦克风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048250" y="4991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12842" y="5130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214747" y="53911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华为官网未披露音频规格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096250" y="4991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260842" y="5130800"/>
              <a:ext cx="1209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4单元独立音腔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62747" y="5391150"/>
              <a:ext cx="13144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超薄设计 · 立体声音效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71500" y="5753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56285" y="6032500"/>
              <a:ext cx="656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内存/存储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2000250" y="5753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2164842" y="5892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166747" y="6153150"/>
              <a:ext cx="20241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Apple 未在产品页披露 RAM/ROM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048250" y="5753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212842" y="5892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214747" y="61531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华为官网未披露内存规格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096250" y="5753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60842" y="5892800"/>
              <a:ext cx="770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6GB 内存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62747" y="6153150"/>
              <a:ext cx="14464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官方产品页 · 存储未公布</a:t>
              </a:r>
            </a:p>
          </p:txBody>
        </p:sp>
      </p:grpSp>
      <p:sp>
        <p:nvSpPr>
          <p:cNvPr id="74" name="Rectangle 74"/>
          <p:cNvSpPr/>
          <p:nvPr/>
        </p:nvSpPr>
        <p:spPr>
          <a:xfrm>
            <a:off x="914400" y="5905500"/>
            <a:ext cx="10363200" cy="495300"/>
          </a:xfrm>
          <a:prstGeom prst="roundRect">
            <a:avLst>
              <a:gd name="adj" fmla="val 2307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1174242" y="6007100"/>
            <a:ext cx="761066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45732" indent="-145732">
              <a:buClr>
                <a:schemeClr val="accent1"/>
              </a:buClr>
              <a:buSzTx/>
              <a:buFontTx/>
              <a:buChar char="■"/>
            </a:pP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数据取自各品牌官方产品页与新闻稿；未披露项标注「官方未公布」，不使用第三方猜测数据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04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716716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COMPARISON MATRIX · Apple × Huawei × Xiaomi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4682" y="1031875"/>
            <a:ext cx="28483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三方核心产品对比矩阵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4478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581150"/>
            <a:ext cx="9768397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数据来源：Apple Newsroom 官方新闻稿 · 华为官网 consumer.huawei.com · 小米官网 mi.com/xiaomi-smartdisplay-11 · 标注「官方未公布」者均未在品牌官方渠道披露</a:t>
            </a:r>
          </a:p>
        </p:txBody>
      </p:sp>
      <p:grpSp>
        <p:nvGrpSpPr>
          <p:cNvPr id="86" name="Group 86"/>
          <p:cNvGrpSpPr/>
          <p:nvPr/>
        </p:nvGrpSpPr>
        <p:grpSpPr>
          <a:xfrm>
            <a:off x="571500" y="1857375"/>
            <a:ext cx="10610850" cy="4476750"/>
            <a:chOff x="571500" y="1857375"/>
            <a:chExt cx="10610850" cy="4476750"/>
          </a:xfrm>
        </p:grpSpPr>
        <p:sp>
          <p:nvSpPr>
            <p:cNvPr id="6" name="Rectangle 6"/>
            <p:cNvSpPr/>
            <p:nvPr/>
          </p:nvSpPr>
          <p:spPr>
            <a:xfrm>
              <a:off x="571500" y="1857375"/>
              <a:ext cx="20955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07770" y="2327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对比维度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2762250" y="1857375"/>
              <a:ext cx="2667000" cy="1028700"/>
            </a:xfrm>
            <a:prstGeom prst="roundRect">
              <a:avLst>
                <a:gd name="adj" fmla="val 9259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0" t="31818" r="0" b="31818"/>
            <a:stretch>
              <a:fillRect/>
            </a:stretch>
          </p:blipFill>
          <p:spPr>
            <a:xfrm>
              <a:off x="2838450" y="1914525"/>
              <a:ext cx="2514600" cy="609600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3296294" y="2568575"/>
              <a:ext cx="15989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· HomeView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429250" y="1857375"/>
              <a:ext cx="28575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rcRect l="0" t="32422" r="0" b="32422"/>
            <a:stretch>
              <a:fillRect/>
            </a:stretch>
          </p:blipFill>
          <p:spPr>
            <a:xfrm>
              <a:off x="5505450" y="1914525"/>
              <a:ext cx="2705100" cy="609600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6013626" y="2568575"/>
              <a:ext cx="16887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 · 中控屏 S2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286750" y="1857375"/>
              <a:ext cx="28575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8477250" y="2009775"/>
              <a:ext cx="2476500" cy="495300"/>
            </a:xfrm>
            <a:prstGeom prst="roundRect">
              <a:avLst>
                <a:gd name="adj" fmla="val 15385"/>
              </a:avLst>
            </a:prstGeom>
            <a:solidFill>
              <a:srgbClr val="0A1628"/>
            </a:solidFill>
            <a:ln w="9525">
              <a:solidFill>
                <a:srgbClr val="10B98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65515" y="2111375"/>
              <a:ext cx="18999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6EE7B7"/>
                  </a:solidFill>
                  <a:latin typeface="Consolas"/>
                  <a:ea typeface="Consolas"/>
                  <a:cs typeface="Consolas"/>
                </a:rPr>
                <a:t>XIAOMI SMART DISPLAY 11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31601" y="2314575"/>
              <a:ext cx="25677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官网产品图见 mi.com · 本页以官方参数对比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21028" y="2568575"/>
              <a:ext cx="1988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· 智能家庭屏 11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163300" y="1857375"/>
              <a:ext cx="19050" cy="447675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71500" y="2962275"/>
              <a:ext cx="2095500" cy="552450"/>
            </a:xfrm>
            <a:prstGeom prst="roundRect">
              <a:avLst>
                <a:gd name="adj" fmla="val 1724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3242" y="31210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核心芯片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762250" y="2962275"/>
              <a:ext cx="2667000" cy="552450"/>
            </a:xfrm>
            <a:prstGeom prst="roundRect">
              <a:avLst>
                <a:gd name="adj" fmla="val 1724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004185" y="3051175"/>
              <a:ext cx="15826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A18 芯片（3nm 制程）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04947" y="3276600"/>
              <a:ext cx="20820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官方新闻稿 · 核心/NPU 参数未公布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429250" y="2962275"/>
              <a:ext cx="2857500" cy="552450"/>
            </a:xfrm>
            <a:prstGeom prst="roundRect">
              <a:avLst>
                <a:gd name="adj" fmla="val 1724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14035" y="3051175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14797" y="327660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华为官网未披露芯片型号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286750" y="2962275"/>
              <a:ext cx="2857500" cy="552450"/>
            </a:xfrm>
            <a:prstGeom prst="roundRect">
              <a:avLst>
                <a:gd name="adj" fmla="val 1724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52485" y="3051175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53247" y="327660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小米官网未披露芯片型号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71500" y="3514725"/>
              <a:ext cx="2095500" cy="552450"/>
            </a:xfrm>
            <a:prstGeom prst="roundRect">
              <a:avLst>
                <a:gd name="adj" fmla="val 1724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93242" y="367347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显示屏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762250" y="3514725"/>
              <a:ext cx="2667000" cy="552450"/>
            </a:xfrm>
            <a:prstGeom prst="roundRect">
              <a:avLst>
                <a:gd name="adj" fmla="val 1724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004185" y="3603625"/>
              <a:ext cx="2192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7" Liquid Retina · 1088×1088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04947" y="3829050"/>
              <a:ext cx="227115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500 nits峰值 / 0.3 nits最低 · True Tone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429250" y="3514725"/>
              <a:ext cx="2857500" cy="552450"/>
            </a:xfrm>
            <a:prstGeom prst="roundRect">
              <a:avLst>
                <a:gd name="adj" fmla="val 1724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14035" y="3603625"/>
              <a:ext cx="8819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FHD+ 超高清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14797" y="3829050"/>
              <a:ext cx="21738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1670万色 · 色温自动调节 · AF防指纹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286750" y="3514725"/>
              <a:ext cx="2857500" cy="552450"/>
            </a:xfrm>
            <a:prstGeom prst="roundRect">
              <a:avLst>
                <a:gd name="adj" fmla="val 1724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52485" y="3603625"/>
              <a:ext cx="174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11" 高清大屏（10.95"）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53247" y="3829050"/>
              <a:ext cx="210388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1920×1200 · 400nit · 1500:1 对比度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71500" y="4067175"/>
              <a:ext cx="2095500" cy="552450"/>
            </a:xfrm>
            <a:prstGeom prst="roundRect">
              <a:avLst>
                <a:gd name="adj" fmla="val 1724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93242" y="42259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语音助手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762250" y="4067175"/>
              <a:ext cx="2667000" cy="552450"/>
            </a:xfrm>
            <a:prstGeom prst="roundRect">
              <a:avLst>
                <a:gd name="adj" fmla="val 1724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004185" y="4156075"/>
              <a:ext cx="21156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Siri AI（Apple Intelligence）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004947" y="4381500"/>
              <a:ext cx="216473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世界知识 · 屏幕感知 · 6用户面部识别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429250" y="4067175"/>
              <a:ext cx="2857500" cy="552450"/>
            </a:xfrm>
            <a:prstGeom prst="roundRect">
              <a:avLst>
                <a:gd name="adj" fmla="val 1724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614035" y="4156075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小艺（智慧语音）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14797" y="4381500"/>
              <a:ext cx="14464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鸿蒙智联 · 全屋场景语音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286750" y="4067175"/>
              <a:ext cx="2857500" cy="552450"/>
            </a:xfrm>
            <a:prstGeom prst="roundRect">
              <a:avLst>
                <a:gd name="adj" fmla="val 1724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452485" y="415607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小爱同学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53247" y="4381500"/>
              <a:ext cx="222349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大模型接入 · 家居场景 · 唤醒提速65%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71500" y="4619625"/>
              <a:ext cx="2095500" cy="552450"/>
            </a:xfrm>
            <a:prstGeom prst="roundRect">
              <a:avLst>
                <a:gd name="adj" fmla="val 1724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93242" y="47783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生态体系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762250" y="4619625"/>
              <a:ext cx="2667000" cy="552450"/>
            </a:xfrm>
            <a:prstGeom prst="roundRect">
              <a:avLst>
                <a:gd name="adj" fmla="val 1724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004185" y="4708525"/>
              <a:ext cx="1648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Home Collection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004947" y="4933950"/>
              <a:ext cx="23744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LG + Schneider 合作 · HomeKit · Matter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429250" y="4619625"/>
              <a:ext cx="2857500" cy="552450"/>
            </a:xfrm>
            <a:prstGeom prst="roundRect">
              <a:avLst>
                <a:gd name="adj" fmla="val 1724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614035" y="4708525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鸿蒙智联生态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614797" y="4933950"/>
              <a:ext cx="15345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全屋智能 4.0 · 国产产业链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286750" y="4619625"/>
              <a:ext cx="2857500" cy="552450"/>
            </a:xfrm>
            <a:prstGeom prst="roundRect">
              <a:avLst>
                <a:gd name="adj" fmla="val 1724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452485" y="4708525"/>
              <a:ext cx="1520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米家生态（Mi Home）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453247" y="4933950"/>
              <a:ext cx="21373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米家APP · 海量智能设备 · Mesh 2.0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71500" y="5172075"/>
              <a:ext cx="2095500" cy="552450"/>
            </a:xfrm>
            <a:prstGeom prst="roundRect">
              <a:avLst>
                <a:gd name="adj" fmla="val 1724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93242" y="5330825"/>
              <a:ext cx="7911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隐私/安全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2762250" y="5172075"/>
              <a:ext cx="2667000" cy="552450"/>
            </a:xfrm>
            <a:prstGeom prst="roundRect">
              <a:avLst>
                <a:gd name="adj" fmla="val 1724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004185" y="5260975"/>
              <a:ext cx="17094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Secure Exclaves + PCC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004947" y="5486400"/>
              <a:ext cx="15783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官方确认架构 · 未公布占比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429250" y="5172075"/>
              <a:ext cx="2857500" cy="552450"/>
            </a:xfrm>
            <a:prstGeom prst="roundRect">
              <a:avLst>
                <a:gd name="adj" fmla="val 1724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614035" y="5260975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614797" y="548640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华为官网未披露占比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286750" y="5172075"/>
              <a:ext cx="2857500" cy="552450"/>
            </a:xfrm>
            <a:prstGeom prst="roundRect">
              <a:avLst>
                <a:gd name="adj" fmla="val 1724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452485" y="5260975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米家安全芯片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453247" y="5486400"/>
              <a:ext cx="161499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官方产品页 · 唯一私钥/证书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71500" y="5724525"/>
              <a:ext cx="2095500" cy="552450"/>
            </a:xfrm>
            <a:prstGeom prst="roundRect">
              <a:avLst>
                <a:gd name="adj" fmla="val 1724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93242" y="588327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起售价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2762250" y="5724525"/>
              <a:ext cx="2667000" cy="552450"/>
            </a:xfrm>
            <a:prstGeom prst="roundRect">
              <a:avLst>
                <a:gd name="adj" fmla="val 1724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3004185" y="5813425"/>
              <a:ext cx="11970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$299（US 官方）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3004947" y="6038850"/>
              <a:ext cx="18498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桌面版/壁挂版同价 · 11.13 开售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429250" y="5724525"/>
              <a:ext cx="2857500" cy="552450"/>
            </a:xfrm>
            <a:prstGeom prst="roundRect">
              <a:avLst>
                <a:gd name="adj" fmla="val 1724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614035" y="5813425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614797" y="6038850"/>
              <a:ext cx="123390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以华为官网/渠道为准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8286750" y="5724525"/>
              <a:ext cx="2857500" cy="552450"/>
            </a:xfrm>
            <a:prstGeom prst="roundRect">
              <a:avLst>
                <a:gd name="adj" fmla="val 1724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452485" y="5813425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453247" y="6038850"/>
              <a:ext cx="123390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以小米官网/商城为准</a:t>
              </a:r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909066" y="6464300"/>
            <a:ext cx="68432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Microsoft YaHei"/>
                <a:cs typeface="Consolas"/>
              </a:rPr>
              <a:t>注：Apple 与华为产品图均来自品牌官网；小米官网未提供可直接引用的产品大图，本页以其官方参数为准。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05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9916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HOMEVIEW DEEP-DIVE · 硬件与隐私全栈拆解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4682" y="1127125"/>
            <a:ext cx="718382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HomeView：规格全拆解（以官方 specs 页为准）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71625"/>
            <a:ext cx="6096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14500"/>
            <a:ext cx="533585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来源：apple.com/apple-homeview/specs/ + 官方新闻稿 · 未披露项一律标注「官方未公布」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" y="2095500"/>
            <a:ext cx="4095750" cy="4095750"/>
            <a:chOff x="914400" y="2095500"/>
            <a:chExt cx="4095750" cy="409575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4095750" cy="4095750"/>
            </a:xfrm>
            <a:prstGeom prst="roundRect">
              <a:avLst>
                <a:gd name="adj" fmla="val 465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31910" r="0" b="31909"/>
            <a:stretch>
              <a:fillRect/>
            </a:stretch>
          </p:blipFill>
          <p:spPr>
            <a:xfrm>
              <a:off x="1066800" y="2247900"/>
              <a:ext cx="3790950" cy="91440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176147" y="3295650"/>
              <a:ext cx="21904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HOME VIEW · $299 · 11.13 开售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75004" y="3467100"/>
              <a:ext cx="2017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四色可选 · 桌面版 + 壁挂版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04900" y="37909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52347" y="3867150"/>
              <a:ext cx="16965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7" LIQUID RETINA · IPS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52347" y="4076700"/>
              <a:ext cx="28830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1088×1088 @220ppi · 500 nits峰值 / 0.3 nits最低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04900" y="44005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52347" y="4476750"/>
              <a:ext cx="10832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A18 CHIP · 3NM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52347" y="4686300"/>
              <a:ext cx="33565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Secure Exclaves 隔离音视频数据 · OS/Apple 均不可访问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04900" y="50101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52347" y="5086350"/>
              <a:ext cx="10065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PRIVACY STACK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52347" y="5295900"/>
              <a:ext cx="33847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端侧处理 + Private Cloud Compute（不存储、不可访问）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04900" y="56197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52347" y="5695950"/>
              <a:ext cx="113850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MULTIUSER · 6人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52347" y="5905500"/>
              <a:ext cx="23699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人脸识别切换个人主屏 · 内容仅本人可见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295900" y="2095500"/>
            <a:ext cx="5981700" cy="4038600"/>
            <a:chOff x="5295900" y="2095500"/>
            <a:chExt cx="5981700" cy="4038600"/>
          </a:xfrm>
        </p:grpSpPr>
        <p:sp>
          <p:nvSpPr>
            <p:cNvPr id="23" name="Rectangle 23"/>
            <p:cNvSpPr/>
            <p:nvPr/>
          </p:nvSpPr>
          <p:spPr>
            <a:xfrm>
              <a:off x="5295900" y="20955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80685" y="22129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屏幕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18935" y="2212975"/>
              <a:ext cx="3947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7" Liquid Retina · IPS LED 背光 · 1088×1088 · 220ppi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295900" y="25527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80685" y="26701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芯片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18935" y="2670175"/>
              <a:ext cx="305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A18（3nm制程，官方未公布核心/NPU参数）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295900" y="30099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80685" y="312737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摄像头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18935" y="3127375"/>
              <a:ext cx="29773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12MP Center Stage · f/2.4 · FaceTime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295900" y="34671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80685" y="35845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19316" y="3597275"/>
              <a:ext cx="33631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2×全频 + 下射低音 + 2×被动辐射 · 空间音频 · 4麦阵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295900" y="39243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480685" y="40417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无线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18935" y="4041775"/>
              <a:ext cx="4059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6E (802.11ax) MIMO · 蓝牙 6.0 · Thread · 双频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295900" y="43815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80685" y="449897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传感器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18935" y="4498975"/>
              <a:ext cx="2938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环境光 · 温湿度 · 加速度计（硬规格确认）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295900" y="48387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480685" y="49561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接口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18935" y="4956175"/>
              <a:ext cx="2829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USB-C ×1 · 随附 1.5m 线 + 30W 适配器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295900" y="52959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480685" y="54133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壁挂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19316" y="5426075"/>
              <a:ext cx="30095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Schneider 壁挂配件：USB-C / AC / PoE 三款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295900" y="57531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480685" y="58705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19316" y="5883275"/>
              <a:ext cx="44202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HomeView 软件 27.2（Siri AI beta）· 需 iOS/iPadOS 27.2+ 配对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914400" y="6096000"/>
            <a:ext cx="10363200" cy="495300"/>
          </a:xfrm>
          <a:prstGeom prst="roundRect">
            <a:avLst>
              <a:gd name="adj" fmla="val 2307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175385" y="6146800"/>
            <a:ext cx="77013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0904" indent="-120904">
              <a:buClr>
                <a:schemeClr val="accent1"/>
              </a:buClr>
              <a:buSzTx/>
              <a:buFontTx/>
              <a:buChar char="■"/>
            </a:pP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核心卖点：</a:t>
            </a:r>
            <a:r>
              <a:rPr lang="en-US" sz="11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A18 + Secure Exclaves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（音视频隔离）+ </a:t>
            </a:r>
            <a:r>
              <a:rPr lang="en-US" sz="11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Private Cloud Compute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 —— 连 Apple 都无法访问的隐私架构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76147" y="6381750"/>
            <a:ext cx="503079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官方未公布：RAM / 存储 / CPU核心数 / NPU TOPS / 电池 —— 本页不填任何猜测值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06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687857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HOMEVIEW EXPERIENCE · 功能矩阵（全部官方确认）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4682" y="1127125"/>
            <a:ext cx="674598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HomeView 功能全景：娱乐 · 连接 · 智能家居 · 隐私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71625"/>
            <a:ext cx="5143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14500"/>
            <a:ext cx="4724167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官方产品页 + 新闻稿（2026-10-13）· 所有功能点均有官方文字依据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14400" y="2095500"/>
            <a:ext cx="10363200" cy="2210943"/>
            <a:chOff x="914400" y="2095500"/>
            <a:chExt cx="10363200" cy="2210943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3333750" cy="1028700"/>
            </a:xfrm>
            <a:prstGeom prst="roundRect">
              <a:avLst>
                <a:gd name="adj" fmla="val 1296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947" y="2286000"/>
              <a:ext cx="15004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ENTERTAINMENT · 娱乐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376" y="2508250"/>
              <a:ext cx="2611196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Music 歌词/专辑动画 · Podcasts 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376" y="2717800"/>
              <a:ext cx="2623288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News 有声故事 · 兼容第三方音视频 App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947" y="2952750"/>
              <a:ext cx="20152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Handoff 无缝续播 · 多房间 AirPlay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381500" y="2095500"/>
              <a:ext cx="3333750" cy="1028700"/>
            </a:xfrm>
            <a:prstGeom prst="roundRect">
              <a:avLst>
                <a:gd name="adj" fmla="val 1296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99947" y="2286000"/>
              <a:ext cx="10404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CONNECT · 连接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376" y="2508250"/>
              <a:ext cx="2343515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FaceTime + Center Stage 智能构图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376" y="2717800"/>
              <a:ext cx="2224719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Intercom 家庭广播 · 语音收发消息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947" y="2952750"/>
              <a:ext cx="19776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Find My · 实时活动 Live Activities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848600" y="2095500"/>
              <a:ext cx="3429000" cy="1028700"/>
            </a:xfrm>
            <a:prstGeom prst="roundRect">
              <a:avLst>
                <a:gd name="adj" fmla="val 1296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9947" y="2286000"/>
              <a:ext cx="17304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HOME CAMERA FACE · 安防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376" y="2508250"/>
              <a:ext cx="1494812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最多 9 路视频同屏直播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376" y="2717800"/>
              <a:ext cx="2289144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HomeKit Secure Video 端到端加密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947" y="2952750"/>
              <a:ext cx="21583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人物/宠物/包裹/车辆识别（iCloud+）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14400" y="3257550"/>
              <a:ext cx="3333750" cy="1028700"/>
            </a:xfrm>
            <a:prstGeom prst="roundRect">
              <a:avLst>
                <a:gd name="adj" fmla="val 1296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9947" y="3448050"/>
              <a:ext cx="180710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SOUND RECOGNITION · 感知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376" y="3670300"/>
              <a:ext cx="1665906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识别烟雾/一氧化碳报警音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376" y="3879850"/>
              <a:ext cx="2048098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报警推送至 iPhone/iPad/Watch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947" y="4114800"/>
              <a:ext cx="19741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温湿度传感器内置 · 环境光自适应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381500" y="3257550"/>
              <a:ext cx="3333750" cy="1028700"/>
            </a:xfrm>
            <a:prstGeom prst="roundRect">
              <a:avLst>
                <a:gd name="adj" fmla="val 1296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99947" y="3448050"/>
              <a:ext cx="115095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FACES · 表盘生态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9376" y="3670300"/>
              <a:ext cx="2468489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Photos 人像景深 · Flow 动态互动艺术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9376" y="3879850"/>
              <a:ext cx="2286704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Snoopy 动画 · Home Modular 面板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9947" y="4114800"/>
              <a:ext cx="18349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距离感应：远观概要 / 近看细节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848600" y="3257550"/>
              <a:ext cx="3429000" cy="1028700"/>
            </a:xfrm>
            <a:prstGeom prst="roundRect">
              <a:avLst>
                <a:gd name="adj" fmla="val 1296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9947" y="3448050"/>
              <a:ext cx="10404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COOKING · 场景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9376" y="3683000"/>
              <a:ext cx="1625143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网页食谱一键转分步引导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99376" y="3879850"/>
              <a:ext cx="1315325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免提计时 · 食材追踪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99947" y="4114800"/>
              <a:ext cx="118255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多计时器 · 语音控制</a:t>
              </a:r>
            </a:p>
          </p:txBody>
        </p:sp>
      </p:grpSp>
      <p:sp>
        <p:nvSpPr>
          <p:cNvPr id="37" name="Rectangle 37"/>
          <p:cNvSpPr/>
          <p:nvPr/>
        </p:nvSpPr>
        <p:spPr>
          <a:xfrm>
            <a:off x="914400" y="5715000"/>
            <a:ext cx="10363200" cy="876300"/>
          </a:xfrm>
          <a:prstGeom prst="roundRect">
            <a:avLst>
              <a:gd name="adj" fmla="val 15217"/>
            </a:avLst>
          </a:prstGeom>
          <a:solidFill>
            <a:schemeClr val="accent5"/>
          </a:solidFill>
          <a:ln w="9525">
            <a:solidFill>
              <a:srgbClr val="0EA5E9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176147" y="5905500"/>
            <a:ext cx="277341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3"/>
                </a:solidFill>
                <a:latin typeface="Consolas"/>
                <a:ea typeface="Microsoft YaHei"/>
                <a:cs typeface="Consolas"/>
              </a:rPr>
              <a:t>APPLE HOME COLLECTION · 生态破圈第一役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75385" y="6127750"/>
            <a:ext cx="71095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与 </a:t>
            </a:r>
            <a:r>
              <a:rPr lang="en-US" sz="112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LG Electronics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 + </a:t>
            </a:r>
            <a:r>
              <a:rPr lang="en-US" sz="112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Schneider Electric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 联合设计智能摄像头/温控器/门锁（12月起发售，部分 2027 初）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75766" y="6369050"/>
            <a:ext cx="53342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端到端加密 · NFC 配对 · 兼容 Works with Apple Home 与 Matter · 专业安装服务选项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07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7492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AI VOICE ASSISTANT · 语音助手三强对决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4682" y="1127125"/>
            <a:ext cx="70718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AI 语音助手深度拆解：Siri AI vs 小艺管家 vs 超级小爱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71625"/>
            <a:ext cx="4953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14500"/>
            <a:ext cx="665362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官方产品页/新闻稿 · 华为 S2 官方产品页 · 小米智能家庭屏 11 产品页 · 未披露项标注「官方未公布」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71500" y="2095500"/>
            <a:ext cx="3619500" cy="3619500"/>
            <a:chOff x="571500" y="2095500"/>
            <a:chExt cx="3619500" cy="3619500"/>
          </a:xfrm>
        </p:grpSpPr>
        <p:sp>
          <p:nvSpPr>
            <p:cNvPr id="6" name="Rectangle 6"/>
            <p:cNvSpPr/>
            <p:nvPr/>
          </p:nvSpPr>
          <p:spPr>
            <a:xfrm>
              <a:off x="571500" y="2095500"/>
              <a:ext cx="3619500" cy="3619500"/>
            </a:xfrm>
            <a:prstGeom prst="roundRect">
              <a:avLst>
                <a:gd name="adj" fmla="val 4211"/>
              </a:avLst>
            </a:prstGeom>
            <a:solidFill>
              <a:schemeClr val="accent5"/>
            </a:solidFill>
            <a:ln w="9525">
              <a:solidFill>
                <a:srgbClr val="0EA5E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2095500"/>
              <a:ext cx="3619500" cy="571500"/>
            </a:xfrm>
            <a:prstGeom prst="roundRect">
              <a:avLst>
                <a:gd name="adj" fmla="val 26667"/>
              </a:avLst>
            </a:prstGeom>
            <a:solidFill>
              <a:srgbClr val="0EA5E9">
                <a:alpha val="12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95724" y="2247900"/>
              <a:ext cx="17710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Siri AI (Apple)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5147" y="2857500"/>
              <a:ext cx="14237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CAPABILITIES · 能力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4385" y="3060700"/>
              <a:ext cx="27476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广博世界知识：食谱/维修/百科即时回答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4385" y="3289300"/>
              <a:ext cx="25131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屏幕感知：理解当前屏幕内容上下文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4385" y="3517900"/>
              <a:ext cx="31605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个人语境：配对 iPhone/iPad 后读取日历/消息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5147" y="3924300"/>
              <a:ext cx="13256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MULTIUSER · 多用户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4385" y="4127500"/>
              <a:ext cx="20149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最多识别 6 人（人脸+声音）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385" y="4356100"/>
              <a:ext cx="25550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内容隔离：个人消息/日历仅本人可见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5147" y="4762500"/>
              <a:ext cx="10404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PRIVACY · 隐私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4385" y="4965700"/>
              <a:ext cx="23304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Secure Exclaves 硬件隔离音视频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4385" y="5194300"/>
              <a:ext cx="24499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端侧处理 + Private Cloud Compute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5147" y="5448300"/>
              <a:ext cx="22949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64748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仅英语起步 · EU 不售（Siri AI 政策）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381500" y="2095500"/>
            <a:ext cx="3619500" cy="3619500"/>
            <a:chOff x="4381500" y="2095500"/>
            <a:chExt cx="3619500" cy="3619500"/>
          </a:xfrm>
        </p:grpSpPr>
        <p:sp>
          <p:nvSpPr>
            <p:cNvPr id="21" name="Rectangle 21"/>
            <p:cNvSpPr/>
            <p:nvPr/>
          </p:nvSpPr>
          <p:spPr>
            <a:xfrm>
              <a:off x="4381500" y="2095500"/>
              <a:ext cx="3619500" cy="3619500"/>
            </a:xfrm>
            <a:prstGeom prst="roundRect">
              <a:avLst>
                <a:gd name="adj" fmla="val 4211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81500" y="2095500"/>
              <a:ext cx="3619500" cy="571500"/>
            </a:xfrm>
            <a:prstGeom prst="roundRect">
              <a:avLst>
                <a:gd name="adj" fmla="val 26667"/>
              </a:avLst>
            </a:prstGeom>
            <a:solidFill>
              <a:srgbClr val="F59E0B">
                <a:alpha val="12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915371" y="2260600"/>
              <a:ext cx="25517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小艺管家 (Huawei S2)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05147" y="2857500"/>
              <a:ext cx="14237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CAPABILITIES · 能力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04385" y="3060700"/>
              <a:ext cx="2362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可视可说：屏幕可见即可语音控制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04385" y="3289300"/>
              <a:ext cx="281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全双工对话：连续对话、可打断、可插话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04385" y="3517900"/>
              <a:ext cx="26639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空间感知：挂墙自动切换当前空间界面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05147" y="3924300"/>
              <a:ext cx="134710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INTERACTION · 交互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04385" y="4127500"/>
              <a:ext cx="24101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分级 UX：全屋/系统/单品三层管控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04385" y="4356100"/>
              <a:ext cx="2345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超级快控：拖拽建场景 · 长按精调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05147" y="4762500"/>
              <a:ext cx="11937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ECOSYSTEM · 生态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04385" y="4965700"/>
              <a:ext cx="19417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鸿蒙智家 · HarmonyOS 2.1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04385" y="5194300"/>
              <a:ext cx="23618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与智能主机 SE 组合实现全屋中枢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05147" y="5448300"/>
              <a:ext cx="236747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64748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官方未公布：本地处理比例/离线指令率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191500" y="2095500"/>
            <a:ext cx="3619500" cy="3619500"/>
            <a:chOff x="8191500" y="2095500"/>
            <a:chExt cx="3619500" cy="3619500"/>
          </a:xfrm>
        </p:grpSpPr>
        <p:sp>
          <p:nvSpPr>
            <p:cNvPr id="36" name="Rectangle 36"/>
            <p:cNvSpPr/>
            <p:nvPr/>
          </p:nvSpPr>
          <p:spPr>
            <a:xfrm>
              <a:off x="8191500" y="2095500"/>
              <a:ext cx="3619500" cy="3619500"/>
            </a:xfrm>
            <a:prstGeom prst="roundRect">
              <a:avLst>
                <a:gd name="adj" fmla="val 4211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191500" y="2095500"/>
              <a:ext cx="3619500" cy="571500"/>
            </a:xfrm>
            <a:prstGeom prst="roundRect">
              <a:avLst>
                <a:gd name="adj" fmla="val 26667"/>
              </a:avLst>
            </a:prstGeom>
            <a:solidFill>
              <a:srgbClr val="10B981">
                <a:alpha val="12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2661" y="2260600"/>
              <a:ext cx="2477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超级小爱 (Xiaomi 11)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15147" y="2857500"/>
              <a:ext cx="14237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CAPABILITIES · 能力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14385" y="3060700"/>
              <a:ext cx="24733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大模型 · 百科问答/文案创作/闲聊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14385" y="3289300"/>
              <a:ext cx="2362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语音创建自动化场景（米家联动）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14385" y="3517900"/>
              <a:ext cx="2387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一句话多指令：控车+控家+查信息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15147" y="3924300"/>
              <a:ext cx="8871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VOICE · 音色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14385" y="4127500"/>
              <a:ext cx="19519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拟人音色「柚子」/「蜜糖」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14385" y="4356100"/>
              <a:ext cx="2328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连续对话 · 随时打断 · 上下文继承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15147" y="4762500"/>
              <a:ext cx="11937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ECOSYSTEM · 生态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14385" y="4965700"/>
              <a:ext cx="2313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澎湃OS 3 · 中枢网关 + Mesh 2.0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14385" y="5194300"/>
              <a:ext cx="193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海量智能设备 + 红外家电库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15147" y="5448300"/>
              <a:ext cx="236747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64748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官方未公布：本地处理比例/离线指令率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914400" y="600075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175385" y="6108700"/>
            <a:ext cx="108190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Siri AI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：广博世界知识 + 6人隔离 + 最强隐私架构（英语起步） · </a:t>
            </a:r>
            <a:r>
              <a:rPr lang="zh-CN" sz="1120" dirty="0">
                <a:solidFill>
                  <a:srgbClr val="FCD34D"/>
                </a:solidFill>
                <a:latin typeface="+mn-lt"/>
                <a:ea typeface="+mn-ea"/>
                <a:cs typeface="+mn-cs"/>
              </a:rPr>
              <a:t>小艺管家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：可视可说 + 空间穿越 + 鸿蒙生态 · </a:t>
            </a:r>
            <a:r>
              <a:rPr lang="zh-CN" sz="1120" dirty="0">
                <a:solidFill>
                  <a:srgbClr val="6EE7B7"/>
                </a:solidFill>
                <a:latin typeface="+mn-lt"/>
                <a:ea typeface="+mn-ea"/>
                <a:cs typeface="+mn-cs"/>
              </a:rPr>
              <a:t>超级小爱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：大模型对话 + 万级设备兼容 + 中文场景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76147" y="6343650"/>
            <a:ext cx="351332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本地处理百分比与离线指令率：三方官方均未公布 → 不列出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08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67917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CONNECTIVITY &amp; PROTOCOL · 连接技术与生态协议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8586" y="1022350"/>
            <a:ext cx="492023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连接技术与生态协议大战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52600"/>
            <a:ext cx="690519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HomeView 技术规格页 · 华为 S2 官方产品页 · 小米智能家庭屏 11 产品页 · 未披露项标注「官方未公布」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" y="2095500"/>
            <a:ext cx="5334000" cy="4000500"/>
            <a:chOff x="914400" y="2095500"/>
            <a:chExt cx="5334000" cy="4000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334000" cy="4000500"/>
            </a:xfrm>
            <a:prstGeom prst="roundRect">
              <a:avLst>
                <a:gd name="adj" fmla="val 381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6142" y="2311400"/>
              <a:ext cx="1809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PROTOCOL STACK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2686050"/>
              <a:ext cx="7643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Matter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7285" y="2965450"/>
              <a:ext cx="3596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跨品牌互操作标准 · 苹果积极参加 · 统一智能家居语言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43000" y="32004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5380" y="3333750"/>
              <a:ext cx="721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Thread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3613150"/>
              <a:ext cx="3586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低功耗 Mesh 网络 · 自愈 · 端到端加密 · 抑制网络拥堵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43000" y="38481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35380" y="3981450"/>
              <a:ext cx="1085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Zigbee 3.0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7285" y="4260850"/>
              <a:ext cx="3107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成熟生态 · 低功耗传感器主流 · 与 Thread 互补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43000" y="44958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35380" y="4629150"/>
              <a:ext cx="16046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6E / 6 / 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908550"/>
              <a:ext cx="31493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高速主干 · 视频/大带宽设备 · Apple 用 6E 领先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43000" y="51435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5380" y="5289550"/>
              <a:ext cx="9691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PoE+ 供电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7285" y="5556250"/>
              <a:ext cx="2390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网线供电 · 简化布线 · 备用电源冗余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477000" y="2095500"/>
            <a:ext cx="5760034" cy="3848100"/>
            <a:chOff x="6477000" y="2095500"/>
            <a:chExt cx="5760034" cy="3848100"/>
          </a:xfrm>
        </p:grpSpPr>
        <p:sp>
          <p:nvSpPr>
            <p:cNvPr id="23" name="Rectangle 23"/>
            <p:cNvSpPr/>
            <p:nvPr/>
          </p:nvSpPr>
          <p:spPr>
            <a:xfrm>
              <a:off x="64770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97065" y="22542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8105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0EA5E9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84293" y="2254250"/>
              <a:ext cx="38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440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61961" y="2254250"/>
              <a:ext cx="497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04775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914188" y="2254250"/>
              <a:ext cx="460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23685" y="2841625"/>
              <a:ext cx="3729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Wi-Fi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8105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76235" y="2755900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6E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76997" y="2971800"/>
              <a:ext cx="10874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 specs 页确认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1440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09735" y="27559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10497" y="2971800"/>
              <a:ext cx="15343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S2 官网未披露 Wi-Fi 版本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4775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643235" y="2755900"/>
              <a:ext cx="7606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双频 Wi-Fi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43997" y="29718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智能中控屏标准版支持双频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770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23685" y="3527425"/>
              <a:ext cx="493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Thread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8105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976235" y="34417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1.3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76997" y="36576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边路由器内置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1440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309735" y="34417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4775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643235" y="3441700"/>
              <a:ext cx="709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Mesh 2.0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643997" y="3657600"/>
              <a:ext cx="126043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小米自研，非 Thread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770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23685" y="4213225"/>
              <a:ext cx="476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Zigbee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8105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976235" y="41275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3.0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76997" y="43434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支持（部分设备）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1440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309735" y="41275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04775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64323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643997" y="434340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智能中控屏兼容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770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23685" y="4899025"/>
              <a:ext cx="4427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Matter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8105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976235" y="48133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1.2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976997" y="5016500"/>
              <a:ext cx="14308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Works with Apple Home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1440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309735" y="48133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04775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643235" y="48133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4770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623685" y="5584825"/>
              <a:ext cx="3985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PoE+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8105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976235" y="5499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976997" y="5715000"/>
              <a:ext cx="11723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Schneider 支架选配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1440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309735" y="54991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310497" y="5715000"/>
              <a:ext cx="9497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S2 无 PoE 规格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04775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643235" y="54991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643997" y="5715000"/>
              <a:ext cx="13183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智能家庭屏 11 无 PoE</a:t>
              </a:r>
            </a:p>
          </p:txBody>
        </p:sp>
      </p:grpSp>
      <p:sp>
        <p:nvSpPr>
          <p:cNvPr id="83" name="Rectangle 83"/>
          <p:cNvSpPr/>
          <p:nvPr/>
        </p:nvSpPr>
        <p:spPr>
          <a:xfrm>
            <a:off x="914400" y="6191250"/>
            <a:ext cx="10363200" cy="4572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84" name="TextBox 84"/>
          <p:cNvSpPr txBox="1"/>
          <p:nvPr/>
        </p:nvSpPr>
        <p:spPr>
          <a:xfrm>
            <a:off x="1174242" y="6159500"/>
            <a:ext cx="91613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协议大战：Apple 全面领先（Wi-Fi 6E · Thread · Matter · PoE 供电），华为/小米以 Zigbee + 自研 Mesh 补足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09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7542" y="596900"/>
            <a:ext cx="43410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SOLUTION SWOT · 解决方案优劣势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8586" y="1022350"/>
            <a:ext cx="492023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整体解决方案优劣势全景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571500" y="2095500"/>
            <a:ext cx="5334000" cy="2000250"/>
            <a:chOff x="571500" y="2095500"/>
            <a:chExt cx="5334000" cy="2000250"/>
          </a:xfrm>
        </p:grpSpPr>
        <p:sp>
          <p:nvSpPr>
            <p:cNvPr id="5" name="Rectangle 5"/>
            <p:cNvSpPr/>
            <p:nvPr/>
          </p:nvSpPr>
          <p:spPr>
            <a:xfrm>
              <a:off x="571500" y="20955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1342" y="2216150"/>
              <a:ext cx="2020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· HomeView 方案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52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6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6285" y="3098800"/>
              <a:ext cx="2628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 + Secure Exclaves 隐私硬件隔离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285" y="3327400"/>
              <a:ext cx="2509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 人识别 + 内容隔离，家庭共享最佳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6285" y="3556000"/>
              <a:ext cx="2768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协议层最全：Wi-Fi 6E / Thread / Matter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6285" y="3784600"/>
              <a:ext cx="1608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系统统一体验生态完整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619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6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6285" y="3098800"/>
              <a:ext cx="2136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$299 定价高于竞品，普及受限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285" y="3327400"/>
              <a:ext cx="20462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仅限 Apple 生态，无 Android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285" y="3556000"/>
              <a:ext cx="2016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EU 不售 · Siri AI 仅英语起步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285" y="3784600"/>
              <a:ext cx="24681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摄像头/麦克风数据要求配对 iPhone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4191000"/>
            <a:ext cx="5334000" cy="2000250"/>
            <a:chOff x="571500" y="4191000"/>
            <a:chExt cx="53340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571500" y="41910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F59E0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342" y="4311650"/>
              <a:ext cx="1951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 · 全屋智能方案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52500" y="47625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6666" y="49403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6285" y="5194300"/>
              <a:ext cx="18011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可墙可桌可手持 空间穿越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6285" y="5422900"/>
              <a:ext cx="19100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挂墙自动识别空间切换界面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6285" y="5651500"/>
              <a:ext cx="193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小艺全双工语音 + 可视可说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6285" y="5880100"/>
              <a:ext cx="23991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鸿蒙智家 全屋主机+PLC 方案成熟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619500" y="47625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6666" y="49403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6285" y="5194300"/>
              <a:ext cx="19002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芯片/RAM/协议官方未公布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6285" y="5422900"/>
              <a:ext cx="20693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面向工程渠道，C 端可得性低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6285" y="5651500"/>
              <a:ext cx="1306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海外生态支持有限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6285" y="5880100"/>
              <a:ext cx="1306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开发者生态待完善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286500" y="2095500"/>
            <a:ext cx="5334000" cy="2000250"/>
            <a:chOff x="6286500" y="2095500"/>
            <a:chExt cx="5334000" cy="2000250"/>
          </a:xfrm>
        </p:grpSpPr>
        <p:sp>
          <p:nvSpPr>
            <p:cNvPr id="35" name="Rectangle 35"/>
            <p:cNvSpPr/>
            <p:nvPr/>
          </p:nvSpPr>
          <p:spPr>
            <a:xfrm>
              <a:off x="6286500" y="20955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46342" y="2216150"/>
              <a:ext cx="190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· 米家智能方案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67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71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71285" y="3098800"/>
              <a:ext cx="193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海量智能设备 + 红外家电库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71285" y="3327400"/>
              <a:ext cx="22439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8核 + 6GB · Mesh 2.0 本地中枢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71285" y="3556000"/>
              <a:ext cx="17592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价格最亲民（入门价位）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71285" y="3784600"/>
              <a:ext cx="2081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超级小爱 + 中文场景理解最深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334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71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71285" y="3098800"/>
              <a:ext cx="1457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芯片型号官方未公布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71285" y="3327400"/>
              <a:ext cx="1625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无线无 6GHz · 无 PoE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71285" y="3556000"/>
              <a:ext cx="17424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电池未公布 · 需持续供电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71285" y="3784600"/>
              <a:ext cx="1156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高端产品线缺乏</a:t>
              </a:r>
            </a:p>
          </p:txBody>
        </p:sp>
      </p:grpSp>
      <p:sp>
        <p:nvSpPr>
          <p:cNvPr id="50" name="Rectangle 50"/>
          <p:cNvSpPr/>
          <p:nvPr/>
        </p:nvSpPr>
        <p:spPr>
          <a:xfrm>
            <a:off x="914400" y="6191250"/>
            <a:ext cx="10363200" cy="4572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1174242" y="6159500"/>
            <a:ext cx="106446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结论：Apple 优在系统统一+隐私架构；Huawei 优在空间形态+全屋工程；Xiaomi 优在生态广度+性价比——三方各有优劣，无绝对胜者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30198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ROADMAP &amp; 战略思考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8586" y="1022350"/>
            <a:ext cx="492023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产业思考与后续演进路线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914400" y="2190750"/>
            <a:ext cx="10363200" cy="1428750"/>
            <a:chOff x="914400" y="2190750"/>
            <a:chExt cx="10363200" cy="1428750"/>
          </a:xfrm>
        </p:grpSpPr>
        <p:sp>
          <p:nvSpPr>
            <p:cNvPr id="5" name="Rectangle 5"/>
            <p:cNvSpPr/>
            <p:nvPr/>
          </p:nvSpPr>
          <p:spPr>
            <a:xfrm>
              <a:off x="914400" y="2190750"/>
              <a:ext cx="2476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4232" y="2279650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effectLst>
                    <a:glow rad="4762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8042" y="27686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系统级竞争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309245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卖「家庭操作系统」体验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330200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与隐私承诺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543300" y="2190750"/>
              <a:ext cx="2476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94232" y="2279650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effectLst>
                    <a:glow rad="4762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8042" y="2768600"/>
              <a:ext cx="13908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硬件-软件一体化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566" y="3092450"/>
              <a:ext cx="14571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专芯 + HomeView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566" y="330200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不可分割的护城河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172200" y="2190750"/>
              <a:ext cx="2476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94232" y="2279650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effectLst>
                    <a:glow rad="4762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8042" y="276860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生态同盟而非封闭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566" y="3092450"/>
              <a:ext cx="9681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LG / Schneider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566" y="330200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关键硬件开放合作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801100" y="2190750"/>
              <a:ext cx="2476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4232" y="2279650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effectLst>
                    <a:glow rad="4762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8042" y="276860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隐私成为核心差异化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566" y="3092450"/>
              <a:ext cx="22130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端侧处理 + Private Cloud Compute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566" y="3302000"/>
              <a:ext cx="16814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「可信任的家庭 OS」心智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07542" y="4044950"/>
            <a:ext cx="10370058" cy="1651000"/>
            <a:chOff x="907542" y="4044950"/>
            <a:chExt cx="10370058" cy="1651000"/>
          </a:xfrm>
        </p:grpSpPr>
        <p:sp>
          <p:nvSpPr>
            <p:cNvPr id="26" name="TextBox 26"/>
            <p:cNvSpPr txBox="1"/>
            <p:nvPr/>
          </p:nvSpPr>
          <p:spPr>
            <a:xfrm>
              <a:off x="907542" y="4044950"/>
              <a:ext cx="2449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ROADMAP · 演进预测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4400" y="4457700"/>
              <a:ext cx="10363200" cy="1238250"/>
            </a:xfrm>
            <a:prstGeom prst="roundRect">
              <a:avLst>
                <a:gd name="adj" fmla="val 1076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104900" y="4667250"/>
              <a:ext cx="9791700" cy="838200"/>
              <a:chOff x="1104900" y="4667250"/>
              <a:chExt cx="9791700" cy="8382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1104900" y="4667250"/>
                <a:ext cx="22860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0E2440"/>
              </a:solidFill>
              <a:ln w="9525">
                <a:solidFill>
                  <a:srgbClr val="1E3A5F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251585" y="4794250"/>
                <a:ext cx="6247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2027 Q1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251585" y="5060950"/>
                <a:ext cx="93121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HomeOS 2.1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252347" y="5295900"/>
                <a:ext cx="66954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跨协议调和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3581400" y="4667250"/>
                <a:ext cx="22860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0E2440"/>
              </a:solidFill>
              <a:ln w="9525">
                <a:solidFill>
                  <a:srgbClr val="1E3A5F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3728085" y="4794250"/>
                <a:ext cx="6247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2027 Q2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728085" y="5060950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传感器微型化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728847" y="5295900"/>
                <a:ext cx="83812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嵌入家电/灯具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6057900" y="4667250"/>
                <a:ext cx="22860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0E2440"/>
              </a:solidFill>
              <a:ln w="9525">
                <a:solidFill>
                  <a:srgbClr val="1E3A5F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204585" y="4794250"/>
                <a:ext cx="6247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2027 Q3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204585" y="5060950"/>
                <a:ext cx="127329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Vision Pro 家庭版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205347" y="5295900"/>
                <a:ext cx="933399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空间计算进客厅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8534400" y="4667250"/>
                <a:ext cx="23622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0E2440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8681085" y="4794250"/>
                <a:ext cx="6247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A5F3FC"/>
                    </a:solidFill>
                    <a:latin typeface="Consolas"/>
                    <a:ea typeface="Consolas"/>
                    <a:cs typeface="Consolas"/>
                  </a:rPr>
                  <a:t>2028 Q1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681085" y="5060950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A5F3FC"/>
                    </a:solidFill>
                    <a:latin typeface="+mn-lt"/>
                    <a:ea typeface="+mn-ea"/>
                    <a:cs typeface="+mn-cs"/>
                  </a:rPr>
                  <a:t>跨平台开放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681847" y="5295900"/>
                <a:ext cx="111349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安卓/Windows API</a:t>
                </a:r>
              </a:p>
            </p:txBody>
          </p:sp>
        </p:grpSp>
      </p:grpSp>
      <p:sp>
        <p:nvSpPr>
          <p:cNvPr id="46" name="TextBox 46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50000">
              <a:srgbClr val="0A1120"/>
            </a:gs>
            <a:gs pos="100000">
              <a:srgbClr val="070C1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FACC15"/>
              </a:gs>
              <a:gs pos="100000">
                <a:srgbClr val="F59E0B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78586" y="1879600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智能家居战争，已从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2546350"/>
            <a:ext cx="66972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「卖硬件」转向</a:t>
            </a:r>
            <a:r>
              <a:rPr lang="zh-CN" sz="3300" b="1" dirty="0">
                <a:solidFill>
                  <a:srgbClr val="FACC15"/>
                </a:solidFill>
                <a:latin typeface="+mn-lt"/>
                <a:ea typeface="+mn-ea"/>
                <a:cs typeface="+mn-cs"/>
              </a:rPr>
              <a:t>「卖系统与体验」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3390900"/>
            <a:ext cx="495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ACC15"/>
              </a:gs>
              <a:gs pos="100000">
                <a:srgbClr val="F59E0B"/>
              </a:gs>
            </a:gsLst>
            <a:lin ang="0" scaled="1"/>
          </a:gra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914400" y="4000500"/>
            <a:ext cx="10382250" cy="1333500"/>
            <a:chOff x="914400" y="4000500"/>
            <a:chExt cx="10382250" cy="1333500"/>
          </a:xfrm>
        </p:grpSpPr>
        <p:sp>
          <p:nvSpPr>
            <p:cNvPr id="6" name="Rectangle 6"/>
            <p:cNvSpPr/>
            <p:nvPr/>
          </p:nvSpPr>
          <p:spPr>
            <a:xfrm>
              <a:off x="91440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0EA5E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7285" y="4241800"/>
              <a:ext cx="7123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APPLE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6142" y="4540250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系统统一 + 隐私为矛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7285" y="4851400"/>
              <a:ext cx="22548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专芯 · HomeView · 三方联盟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43865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F59E0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661535" y="4241800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CD34D"/>
                  </a:solidFill>
                  <a:latin typeface="Consolas"/>
                  <a:ea typeface="Consolas"/>
                  <a:cs typeface="Consolas"/>
                </a:rPr>
                <a:t>// HUAWEI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60392" y="4540250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空间形态 + 工程渠道为矛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61535" y="4851400"/>
              <a:ext cx="20821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S2 空间穿越 · 全屋主机 + PLC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96290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10B98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85785" y="4241800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EE7B7"/>
                  </a:solidFill>
                  <a:latin typeface="Consolas"/>
                  <a:ea typeface="Consolas"/>
                  <a:cs typeface="Consolas"/>
                </a:rPr>
                <a:t>// XIAOMI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84642" y="4540250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生态广度 + 普及度领跑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85785" y="4851400"/>
              <a:ext cx="2585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入门价位 · 自研 Mesh 组网 + 小爱同学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5715000"/>
            <a:ext cx="10363200" cy="1028700"/>
            <a:chOff x="914400" y="5715000"/>
            <a:chExt cx="10363200" cy="1028700"/>
          </a:xfrm>
        </p:grpSpPr>
        <p:sp>
          <p:nvSpPr>
            <p:cNvPr id="19" name="Rectangle 19"/>
            <p:cNvSpPr/>
            <p:nvPr/>
          </p:nvSpPr>
          <p:spPr>
            <a:xfrm>
              <a:off x="914400" y="5715000"/>
              <a:ext cx="10363200" cy="762000"/>
            </a:xfrm>
            <a:prstGeom prst="roundRect">
              <a:avLst>
                <a:gd name="adj" fmla="val 175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7666" y="5873750"/>
              <a:ext cx="1407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RECOMMENDATION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4300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90066" y="6292850"/>
              <a:ext cx="17709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高端商务/隐私敏感 → Apple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90447" y="6515100"/>
              <a:ext cx="16225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+ 端侧隐私 + 系统统一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43865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F59E0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85716" y="6292850"/>
              <a:ext cx="18823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全屋装修/鸿蒙生态 → Huawei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86097" y="6515100"/>
              <a:ext cx="18937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空间穿越 + 多设备协同 + 国产链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73430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81366" y="6292850"/>
              <a:ext cx="1844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预算有限/米家用户 → Xiaomi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81747" y="6515100"/>
              <a:ext cx="18937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入门价位 + 小爱同学 + 自研生态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09638" y="6470650"/>
            <a:ext cx="672943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数据来源：Apple 官方新闻稿与规格页 · 华为 consumer.huawei.com · 小米 mi.com/xiaomi-smartdisplay-11 · 未披露项标注「官方未公布」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pple-welcome-home">
  <a:themeElements>
    <a:clrScheme name="apple-welcome-home">
      <a:dk1>
        <a:srgbClr val="E2E8F0"/>
      </a:dk1>
      <a:lt1>
        <a:srgbClr val="0B1120"/>
      </a:lt1>
      <a:dk2>
        <a:srgbClr val="1F497D"/>
      </a:dk2>
      <a:lt2>
        <a:srgbClr val="0B1120"/>
      </a:lt2>
      <a:accent1>
        <a:srgbClr val="22D3EE"/>
      </a:accent1>
      <a:accent2>
        <a:srgbClr val="A78BFA"/>
      </a:accent2>
      <a:accent3>
        <a:srgbClr val="7DD3FC"/>
      </a:accent3>
      <a:accent4>
        <a:srgbClr val="22D3EE"/>
      </a:accent4>
      <a:accent5>
        <a:srgbClr val="0E1830"/>
      </a:accent5>
      <a:accent6>
        <a:srgbClr val="94A3B8"/>
      </a:accent6>
      <a:hlink>
        <a:srgbClr val="A78BFA"/>
      </a:hlink>
      <a:folHlink>
        <a:srgbClr val="7DD3FC"/>
      </a:folHlink>
    </a:clrScheme>
    <a:fontScheme name="apple-welcome-hom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pple-welcome-ho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2026-10-16T01:56:19Z</dcterms:created>
  <dcterms:modified xsi:type="dcterms:W3CDTF">2026-10-16T01:56:19Z</dcterms:modified>
  <cp:category/>
  <cp:contentStatus/>
</cp:coreProperties>
</file>