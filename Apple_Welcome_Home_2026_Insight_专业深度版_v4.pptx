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pple-welcome-hom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pple-welcome-hom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bb657e24aac6b08.jp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9af82d7a066b934.jp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55df9cdfed428ec.jpg"/>
  <Relationship Id="rId3" Type="http://schemas.openxmlformats.org/officeDocument/2006/relationships/image" Target="../media/image_dc013aa281183860.jp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bb657e24aac6b08.jpg"/>
  <Relationship Id="rId3" Type="http://schemas.openxmlformats.org/officeDocument/2006/relationships/image" Target="../media/image_716304f54ed73cbf.jp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16304f54ed73cbf.jpg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50000">
              <a:srgbClr val="0A1120"/>
            </a:gs>
            <a:gs pos="100000">
              <a:srgbClr val="070C1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6780" y="869950"/>
            <a:ext cx="584415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45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智能家居竞品深度洞察报告 · 2026-10-13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1822450"/>
            <a:ext cx="8459178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'Welcome Home' 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8586" y="2736850"/>
            <a:ext cx="812213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智能家居生态战略 · 深度拆解与三方对决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5830" y="3556000"/>
            <a:ext cx="560339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产品 · 参数 · 功能 · 架构 · 生态 · AI 语音助手 · 解决方案优劣势</a:t>
            </a:r>
          </a:p>
        </p:txBody>
      </p:sp>
      <p:sp>
        <p:nvSpPr>
          <p:cNvPr id="7" name="Rectangle 7"/>
          <p:cNvSpPr/>
          <p:nvPr/>
        </p:nvSpPr>
        <p:spPr>
          <a:xfrm>
            <a:off x="914400" y="4000500"/>
            <a:ext cx="4572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26592" y="4311650"/>
            <a:ext cx="592904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对标竞品：Huawei 全屋智能（HarmonyOS Connect） · Xiaomi 米家生态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14400" y="4953000"/>
            <a:ext cx="2477750" cy="819150"/>
            <a:chOff x="914400" y="4953000"/>
            <a:chExt cx="2477750" cy="819150"/>
          </a:xfrm>
        </p:grpSpPr>
        <p:sp>
          <p:nvSpPr>
            <p:cNvPr id="9" name="Rectangle 9"/>
            <p:cNvSpPr/>
            <p:nvPr/>
          </p:nvSpPr>
          <p:spPr>
            <a:xfrm>
              <a:off x="9144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7666" y="5168900"/>
              <a:ext cx="506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EVENT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6142" y="5397500"/>
              <a:ext cx="22560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2026-10-13 · Apple Event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619500" y="4953000"/>
            <a:ext cx="2476500" cy="819150"/>
            <a:chOff x="3619500" y="4953000"/>
            <a:chExt cx="2476500" cy="819150"/>
          </a:xfrm>
        </p:grpSpPr>
        <p:sp>
          <p:nvSpPr>
            <p:cNvPr id="13" name="Rectangle 13"/>
            <p:cNvSpPr/>
            <p:nvPr/>
          </p:nvSpPr>
          <p:spPr>
            <a:xfrm>
              <a:off x="36195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42766" y="5168900"/>
              <a:ext cx="81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AUDIENCE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41242" y="5397500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 · 技术 · 战略 · 市场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24600" y="4953000"/>
            <a:ext cx="2476500" cy="819150"/>
            <a:chOff x="6324600" y="4953000"/>
            <a:chExt cx="2476500" cy="819150"/>
          </a:xfrm>
        </p:grpSpPr>
        <p:sp>
          <p:nvSpPr>
            <p:cNvPr id="17" name="Rectangle 17"/>
            <p:cNvSpPr/>
            <p:nvPr/>
          </p:nvSpPr>
          <p:spPr>
            <a:xfrm>
              <a:off x="63246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7866" y="5168900"/>
              <a:ext cx="506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SCOPE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6342" y="5397500"/>
              <a:ext cx="20419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× Huawei × Xiaomi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01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34930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AGENDA · 5 SECTIONS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12344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报告目录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04950"/>
            <a:ext cx="1905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57350"/>
            <a:ext cx="611601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本报告所有参数均来自 Apple / Huawei / Xiaomi 官方渠道，未经官方披露的指标一律标注「官方未公布」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14400" y="2190750"/>
            <a:ext cx="10134600" cy="2762250"/>
            <a:chOff x="914400" y="2190750"/>
            <a:chExt cx="10134600" cy="2762250"/>
          </a:xfrm>
        </p:grpSpPr>
        <p:sp>
          <p:nvSpPr>
            <p:cNvPr id="6" name="Rectangle 6"/>
            <p:cNvSpPr/>
            <p:nvPr/>
          </p:nvSpPr>
          <p:spPr>
            <a:xfrm>
              <a:off x="914400" y="219075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71956" y="231775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59280" y="23368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战略演进回顾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61566" y="2654300"/>
              <a:ext cx="41323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苹果智能家居 15 年三阶段跃迁：平台奠基 → 标准开放 → AI 反攻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0" y="219075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71956" y="231775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59280" y="23368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发布会全景解析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61566" y="2654300"/>
              <a:ext cx="61633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Welcome Home 四款新品全拆解：HomeView / Apple TV 4K / HomePod mini 2 / Home Collection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14400" y="316230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71956" y="328930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59280" y="3308350"/>
              <a:ext cx="22147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核心产品对比（4 维度）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61566" y="3625850"/>
              <a:ext cx="3556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家庭中枢硬件 / 操作系统与 AI 助手 / 连接协议 / 生态规模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0" y="316230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71956" y="328930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59280" y="33083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解决方案全景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61566" y="3625850"/>
              <a:ext cx="22487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战略定位与价格带 / 隐私与安全架构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14400" y="413385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71956" y="426085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59280" y="42799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产业思考与未来演进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61566" y="4597400"/>
              <a:ext cx="3180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三强 SWOT 全景 / 四大趋势预判 / 结论与战略建议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02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6200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EXECUTIVE SUMMARY · 核心洞察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335470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执行摘要：四条核心判断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04950"/>
            <a:ext cx="2857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914400" y="2000250"/>
            <a:ext cx="10172700" cy="3810000"/>
            <a:chOff x="914400" y="2000250"/>
            <a:chExt cx="10172700" cy="3810000"/>
          </a:xfrm>
        </p:grpSpPr>
        <p:sp>
          <p:nvSpPr>
            <p:cNvPr id="5" name="Rectangle 5"/>
            <p:cNvSpPr/>
            <p:nvPr/>
          </p:nvSpPr>
          <p:spPr>
            <a:xfrm>
              <a:off x="914400" y="20002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9566" y="2178050"/>
              <a:ext cx="24471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01 · 苹果战略：软硬一体 + AI 优先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566" y="2425700"/>
              <a:ext cx="5177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中枢 + Apple TV 4K + HomePod mini 2 + Home Collection 四线齐发，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635250"/>
              <a:ext cx="40213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芯片 + Siri AI 落地家庭场景，从「平台」转向「智能终端」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96000" y="20002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99566" y="2178050"/>
              <a:ext cx="16715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02 · 市场格局：三足鼎立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2425700"/>
              <a:ext cx="43619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苹果 = 生态闭环 + 高端定价（$299）；华为 = 全屋工程 + 前装渠道；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566" y="2635250"/>
              <a:ext cx="37252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小米 = 设备广度 + 性价比。三者定价带与目标用户差异显著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31813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9566" y="3359150"/>
              <a:ext cx="25479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03 · 技术路线：端侧隐私 vs 生态开放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566" y="3606800"/>
              <a:ext cx="40602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苹果押注 Secure Exclaves + Private Cloud Compute 端侧隐私；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3816350"/>
              <a:ext cx="4066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华为鸿蒙分布式 + 小米全生态兼容 —— 隐私与开放两条路线并存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0" y="31813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99566" y="3359150"/>
              <a:ext cx="19179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04 · 未来趋势：AI 重塑体验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566" y="3606800"/>
              <a:ext cx="4068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 / 小艺 / 小爱同学 全面大模型化，主动智能替代被动响应；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566" y="3816350"/>
              <a:ext cx="34230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Matter 协议打破品牌壁垒，跨生态互联互通成共同方向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14400" y="4381500"/>
              <a:ext cx="10172700" cy="1428750"/>
            </a:xfrm>
            <a:prstGeom prst="roundRect">
              <a:avLst>
                <a:gd name="adj" fmla="val 9333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37285" y="4546600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一句话结论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4618" y="4806950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智能家居竞争已从「卖硬件」升级为「卖系统与体验」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7285" y="5213350"/>
              <a:ext cx="85067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苹果以 HomeView + A18 + 隐私架构切入家庭中枢新品类；华为靠前装工程渠道稳守高端；小米以设备规模与价格带覆盖大众。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8047" y="5505450"/>
              <a:ext cx="65510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本页全部判断基于三家官方发布材料（Apple Newsroom / consumer.huawei.com / mi.com），无第三方猜测数据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03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9331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STRATEGY · 15-YEAR EVOLUTION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535644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战略演进三阶段：从平台奠基到 AI 反攻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04950"/>
            <a:ext cx="2857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57350"/>
            <a:ext cx="3626064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/ 官方产品页 · 仅列官方公开宣布节点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14400" y="2095500"/>
            <a:ext cx="9391650" cy="3375978"/>
            <a:chOff x="914400" y="2095500"/>
            <a:chExt cx="9391650" cy="3375978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3333750" cy="2000250"/>
            </a:xfrm>
            <a:prstGeom prst="roundRect">
              <a:avLst>
                <a:gd name="adj" fmla="val 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566" y="2292350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01 · 2014-2017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7280" y="25273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平台先行，标准至上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2863850"/>
              <a:ext cx="2886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iOS 8 集成 HomeKit 框架，确立底层通信标准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111500"/>
              <a:ext cx="2416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MFi 认证保障安全，但限制设备丰富度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947" y="3429000"/>
              <a:ext cx="18969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关键节点：2016 首款 HomePod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947" y="365760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瓶颈：生态扩张缓慢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19600" y="2095500"/>
              <a:ext cx="3333750" cy="2000250"/>
            </a:xfrm>
            <a:prstGeom prst="roundRect">
              <a:avLst>
                <a:gd name="adj" fmla="val 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9566" y="2292350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02 · 2018-2021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7280" y="25273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硬件试水，生态深耕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2863850"/>
              <a:ext cx="32822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2018 HomePod mini 低价切入 + 加入 Thread Group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566" y="3111500"/>
              <a:ext cx="25633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2020 HomeKit Secure Video 端到端加密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947" y="3429000"/>
              <a:ext cx="16562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关键节点：Thread 贯穿全系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947" y="36576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瓶颈：用户转化效率待提升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972300" y="2095500"/>
              <a:ext cx="3333750" cy="2000250"/>
            </a:xfrm>
            <a:prstGeom prst="roundRect">
              <a:avLst>
                <a:gd name="adj" fmla="val 666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9566" y="2292350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03 · 2022-2026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7280" y="2527300"/>
              <a:ext cx="1686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拥抱开放，AI 反攻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566" y="2863850"/>
              <a:ext cx="20805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2022 加入 Matter，打破品牌壁垒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3111500"/>
              <a:ext cx="24017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2026-10-13 Welcome Home 四线齐发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947" y="3429000"/>
              <a:ext cx="23846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跃迁：从「卖硬件」到「卖系统与体验」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9947" y="3657600"/>
              <a:ext cx="25263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Siri AI + Secure Exclaves + PCC 隐私三角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4400" y="4286250"/>
              <a:ext cx="9391650" cy="1143000"/>
            </a:xfrm>
            <a:prstGeom prst="roundRect">
              <a:avLst>
                <a:gd name="adj" fmla="val 11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37285" y="447040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核心洞察：三个转折点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37285" y="4756150"/>
              <a:ext cx="4379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从封闭到开放：Matter 加入回应「封闭生态限制丰富度」的批评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7285" y="5003800"/>
              <a:ext cx="3933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从硬件到系统：HomeView 定义「家庭智能中枢」新品类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7285" y="5251450"/>
              <a:ext cx="4789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从云端到端侧：隐私三角是苹果与华为/小米在 AI 路线上最根本的分歧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04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9001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WELCOME HOME · 2026.10.13 · 四线发布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51258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Welcome Home 发布会：四款新品重构家庭智能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4953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066" y="1682750"/>
            <a:ext cx="4489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官方新闻稿（2026-10-13）· 定价均为官方披露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914400" y="2095500"/>
            <a:ext cx="10344150" cy="3619500"/>
            <a:chOff x="914400" y="2095500"/>
            <a:chExt cx="10344150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rgbClr val="0E2440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1847" y="2247900"/>
              <a:ext cx="7552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新品 · 中枢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9180" y="2438400"/>
              <a:ext cx="9936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HomeView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1466" y="2768600"/>
              <a:ext cx="17936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7" 方形触控屏 · A18 · Siri AI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61466" y="2997200"/>
              <a:ext cx="1966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12MP Center Stage · 空间音频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1466" y="3225800"/>
              <a:ext cx="16769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Secure Exclaves 隐私隔离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9942" y="3511550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$299 起 · 11.13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5433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1847" y="2247900"/>
              <a:ext cx="10191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更新 · 娱乐中枢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9180" y="2438400"/>
              <a:ext cx="11707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TV 4K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1466" y="2768600"/>
              <a:ext cx="18202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A19 · CPU +50% · GPU 2×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1466" y="2997200"/>
              <a:ext cx="14122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7 · 三麦远场 Siri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1466" y="3225800"/>
              <a:ext cx="1294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 HomePod 环绕声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9942" y="3511550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$299 · 11.13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722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61847" y="2247900"/>
              <a:ext cx="7552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更新 · 音频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59180" y="2438400"/>
              <a:ext cx="15361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HomePod mini 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61466" y="2768600"/>
              <a:ext cx="9745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S10 · 计算音频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1466" y="2997200"/>
              <a:ext cx="1319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Sound Glow · 5 新色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1466" y="3225800"/>
              <a:ext cx="14084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家庭中枢 · 多房间音频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9942" y="3511550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$149 · 10.30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8011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chemeClr val="accent5"/>
            </a:solidFill>
            <a:ln w="9525">
              <a:solidFill>
                <a:srgbClr val="A3E63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61847" y="2247900"/>
              <a:ext cx="10191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合作 · 配件生态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9180" y="2438400"/>
              <a:ext cx="1607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 Collection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1466" y="2768600"/>
              <a:ext cx="13346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LG + Schneider 首批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61466" y="2997200"/>
              <a:ext cx="14006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摄像头/温控/门锁/门铃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61466" y="3225800"/>
              <a:ext cx="13222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端到端加密 · 12 月起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61847" y="3562350"/>
              <a:ext cx="176691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A3E635"/>
                  </a:solidFill>
                  <a:latin typeface="Consolas"/>
                  <a:ea typeface="Consolas"/>
                  <a:cs typeface="Consolas"/>
                </a:rPr>
                <a:t>Works with Home + Matter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14400" y="4038600"/>
              <a:ext cx="10344150" cy="1676400"/>
            </a:xfrm>
            <a:prstGeom prst="roundRect">
              <a:avLst>
                <a:gd name="adj" fmla="val 795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37285" y="4222750"/>
              <a:ext cx="23710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一套中枢 + 三条产品线：矩阵成形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7285" y="4508500"/>
              <a:ext cx="53657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= 家庭信息流中枢（看 / 想 / 听：屏幕 + 摄像头 + 扬声器 + Siri AI）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37285" y="4756150"/>
              <a:ext cx="5655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TV 4K = 客厅娱乐 + 家庭中枢备份；HomePod mini 2 = 全屋音频 + 语音入口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7285" y="5003800"/>
              <a:ext cx="5443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 Collection 联合 LG / Schneider 补齐安防 + 温控 + 门锁，全部支持 Matter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38047" y="5334000"/>
              <a:ext cx="66998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注意（官方口径）：HomeView 暂不覆盖中国大陆及 EU；Siri AI 仅英语起步（beta，HomeView software 27.2）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05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9916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HOMEVIEW DEEP-DIVE · 硬件与隐私全栈拆解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4682" y="1127125"/>
            <a:ext cx="718382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HomeView：规格全拆解（以官方 specs 页为准）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71625"/>
            <a:ext cx="6096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14500"/>
            <a:ext cx="533585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来源：apple.com/apple-homeview/specs/ + 官方新闻稿 · 未披露项一律标注「官方未公布」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2095500"/>
            <a:ext cx="4095750" cy="4095750"/>
            <a:chOff x="914400" y="2095500"/>
            <a:chExt cx="4095750" cy="409575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4095750" cy="4095750"/>
            </a:xfrm>
            <a:prstGeom prst="roundRect">
              <a:avLst>
                <a:gd name="adj" fmla="val 465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31910" r="0" b="31909"/>
            <a:stretch>
              <a:fillRect/>
            </a:stretch>
          </p:blipFill>
          <p:spPr>
            <a:xfrm>
              <a:off x="1066800" y="2247900"/>
              <a:ext cx="3790950" cy="9144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176147" y="3295650"/>
              <a:ext cx="21904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HOME VIEW · $299 · 11.13 开售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75004" y="3467100"/>
              <a:ext cx="2017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四色可选 · 桌面版 + 壁挂版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04900" y="37909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52347" y="3867150"/>
              <a:ext cx="16965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7" LIQUID RETINA · IPS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52347" y="4076700"/>
              <a:ext cx="28830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1088×1088 @220ppi · 500 nits峰值 / 0.3 nits最低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04900" y="44005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52347" y="4476750"/>
              <a:ext cx="10832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A18 CHIP · 3NM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52347" y="4686300"/>
              <a:ext cx="33565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Secure Exclaves 隔离音视频数据 · OS/Apple 均不可访问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04900" y="50101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52347" y="5086350"/>
              <a:ext cx="10065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PRIVACY STACK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52347" y="5295900"/>
              <a:ext cx="33847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端侧处理 + Private Cloud Compute（不存储、不可访问）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04900" y="56197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52347" y="5695950"/>
              <a:ext cx="113850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MULTIUSER · 6人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52347" y="5905500"/>
              <a:ext cx="23699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人脸识别切换个人主屏 · 内容仅本人可见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295900" y="2095500"/>
            <a:ext cx="5981700" cy="4038600"/>
            <a:chOff x="5295900" y="2095500"/>
            <a:chExt cx="5981700" cy="4038600"/>
          </a:xfrm>
        </p:grpSpPr>
        <p:sp>
          <p:nvSpPr>
            <p:cNvPr id="23" name="Rectangle 23"/>
            <p:cNvSpPr/>
            <p:nvPr/>
          </p:nvSpPr>
          <p:spPr>
            <a:xfrm>
              <a:off x="5295900" y="20955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80685" y="22129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屏幕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18935" y="2212975"/>
              <a:ext cx="3947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7" Liquid Retina · IPS LED 背光 · 1088×1088 · 220ppi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295900" y="25527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80685" y="26701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芯片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18935" y="2670175"/>
              <a:ext cx="305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A18（3nm制程，官方未公布核心/NPU参数）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295900" y="30099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80685" y="312737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摄像头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18935" y="3127375"/>
              <a:ext cx="2977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12MP Center Stage · f/2.4 · FaceTime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295900" y="34671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80685" y="35845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19316" y="3597275"/>
              <a:ext cx="33631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2×全频 + 下射低音 + 2×被动辐射 · 空间音频 · 4麦阵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295900" y="39243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480685" y="40417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无线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18935" y="4041775"/>
              <a:ext cx="4059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6E (802.11ax) MIMO · 蓝牙 6.0 · Thread · 双频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295900" y="43815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80685" y="449897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传感器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18935" y="4498975"/>
              <a:ext cx="2938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环境光 · 温湿度 · 加速度计（硬规格确认）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295900" y="48387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80685" y="49561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18935" y="4956175"/>
              <a:ext cx="2829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USB-C ×1 · 随附 1.5m 线 + 30W 适配器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295900" y="52959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480685" y="54133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壁挂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19316" y="5426075"/>
              <a:ext cx="30095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Schneider 壁挂配件：USB-C / AC / PoE 三款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295900" y="57531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480685" y="58705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19316" y="5883275"/>
              <a:ext cx="4420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软件 27.2（Siri AI beta）· 需 iOS/iPadOS 27.2+ 配对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914400" y="6096000"/>
            <a:ext cx="10363200" cy="495300"/>
          </a:xfrm>
          <a:prstGeom prst="roundRect">
            <a:avLst>
              <a:gd name="adj" fmla="val 2307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75385" y="6146800"/>
            <a:ext cx="77013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0904" indent="-120904">
              <a:buClr>
                <a:schemeClr val="accent1"/>
              </a:buClr>
              <a:buSzTx/>
              <a:buFontTx/>
              <a:buChar char="■"/>
            </a:pP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核心卖点：</a:t>
            </a:r>
            <a:r>
              <a:rPr lang="en-US" sz="11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A18 + Secure Exclaves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（音视频隔离）+ </a:t>
            </a:r>
            <a:r>
              <a:rPr lang="en-US" sz="11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Private Cloud Compute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—— 连 Apple 都无法访问的隐私架构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76147" y="6381750"/>
            <a:ext cx="503079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官方未公布：RAM / 存储 / CPU核心数 / NPU TOPS / 电池 —— 本页不填任何猜测值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06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57326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HOMEVIEW · AI FEATURES &amp; PRIVACY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491902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HomeView 软件能力与隐私架构拆解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509996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/ apple.com/apple-homeview · 未经官方披露的指标一律不出现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14400" y="2095500"/>
            <a:ext cx="10363200" cy="3238500"/>
            <a:chOff x="914400" y="2095500"/>
            <a:chExt cx="10363200" cy="3238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98170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260600"/>
              <a:ext cx="21956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AI 能力（官方已发布口径）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185" y="2584450"/>
              <a:ext cx="31945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AI：广博世界知识 · 屏幕感知 · 跨应用行动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2851150"/>
              <a:ext cx="43461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个人语境：配对 AI 版 iPhone/iPad 后，可调用日历/信息/备忘录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3117850"/>
              <a:ext cx="3283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多用户：面部识别最多 6 人，自动切换专属主屏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185" y="3384550"/>
              <a:ext cx="3099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烹饪模式：网页食谱转分步指导 · 免提计时器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3651250"/>
              <a:ext cx="46756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 摄像头页：最多 9 路实时视频同屏（HomeKit Secure Video）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3917950"/>
              <a:ext cx="44303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声音侦测：烟雾/一氧化碳报警识别 → 推送到 iPhone/iPad/Watch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185" y="4184650"/>
              <a:ext cx="35720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Intercom / FaceTime + Center Stage / Handoff 接力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185" y="4451350"/>
              <a:ext cx="4201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多款表盘：Photos / Flow / Snoopy · Home Modular 家居模组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947" y="4819650"/>
              <a:ext cx="41756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软件版本：HomeView software 27.2（Siri AI beta · 英语起步）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086600" y="2095500"/>
              <a:ext cx="419100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rcRect l="0" t="17901" r="0" b="17901"/>
            <a:stretch>
              <a:fillRect/>
            </a:stretch>
          </p:blipFill>
          <p:spPr>
            <a:xfrm>
              <a:off x="1028700" y="2209800"/>
              <a:ext cx="3962400" cy="142875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1099185" y="3822700"/>
              <a:ext cx="1767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隐私三层架构（官方）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185" y="4127500"/>
              <a:ext cx="73485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· Secure Exclaves：A18 芯片内隔离区，摄像头/麦克风数据在隔离区处理，OS/应用/用户/Apple 均不可访问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185" y="4451350"/>
              <a:ext cx="2985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 · 端侧优先：人脸/声纹识别在设备本地完成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185" y="4718050"/>
              <a:ext cx="4389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 · Private Cloud Compute：云端请求不存储、不可被 Apple 访问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947" y="5010150"/>
              <a:ext cx="37182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个人内容仅当本人被识别 + 配对设备同 Wi-Fi 且最近解锁时显示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914400" y="5619750"/>
            <a:ext cx="10363200" cy="800100"/>
          </a:xfrm>
          <a:prstGeom prst="roundRect">
            <a:avLst>
              <a:gd name="adj" fmla="val 16667"/>
            </a:avLst>
          </a:prstGeom>
          <a:solidFill>
            <a:srgbClr val="0E2440"/>
          </a:solidFill>
          <a:ln w="9525">
            <a:solidFill>
              <a:schemeClr val="accent1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37285" y="5765800"/>
            <a:ext cx="8633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// 对比视角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7285" y="6051550"/>
            <a:ext cx="921208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苹果把「家庭共享场景下的个人隐私」做成了硬件级隔离 —— 这是 HomeView 与绝大多数智能屏（包括竞品）在设计哲学上的最大差异。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07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7332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SUPPORTING HARDWARE · TWO UPDATES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52547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TV 4K（第4代）与 HomePod mini 2 深拆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419036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官方新闻稿（2026-10-13）· 全部参数官方披露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2095500"/>
            <a:ext cx="10363200" cy="3619500"/>
            <a:chOff x="914400" y="2095500"/>
            <a:chExt cx="10363200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9817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24944" r="0" b="24945"/>
            <a:stretch>
              <a:fillRect/>
            </a:stretch>
          </p:blipFill>
          <p:spPr>
            <a:xfrm>
              <a:off x="1028700" y="2209800"/>
              <a:ext cx="5753100" cy="161925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099185" y="3956050"/>
              <a:ext cx="3085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APPLE TV 4K（第4代）· $299 · 11.13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4260850"/>
              <a:ext cx="4161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A19 芯片：CPU 性能 +50%，GPU 2×，新增 AV1 硬件解码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4527550"/>
              <a:ext cx="3699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三麦克风远场阵列：免提「Siri / Hey Siri」，回声消除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185" y="4794250"/>
              <a:ext cx="52758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7 · Thread 内置 · 家庭中枢能力（含 HomeKit Secure Video 本地处理）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5060950"/>
              <a:ext cx="4485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 HomePod 环绕声：智能识别扬声器位置自动校准（前后成对）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5327650"/>
              <a:ext cx="4547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Remote 新升级：Find My 支持 + Precision Finding + 发声定位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086600" y="2095500"/>
              <a:ext cx="41910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rcRect l="0" t="13622" r="0" b="13621"/>
            <a:stretch>
              <a:fillRect/>
            </a:stretch>
          </p:blipFill>
          <p:spPr>
            <a:xfrm>
              <a:off x="1028700" y="2209800"/>
              <a:ext cx="3962400" cy="161925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1099185" y="3956050"/>
              <a:ext cx="2815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HOMEPOD MINI 2 · $149 · 10.30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185" y="4260850"/>
              <a:ext cx="36785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S10 芯片：实时计算音频（动态范围/响度/声学优化）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185" y="4527550"/>
              <a:ext cx="34956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Sound Glow：顶部随音乐律动发光，专辑封面取色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185" y="4794250"/>
              <a:ext cx="1935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 色：粉 / 绿 / 蓝 / 白 / 午夜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185" y="5060950"/>
              <a:ext cx="4331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家庭中枢：语音控制配件与自动化 · 声音识别（烟雾/CO 警报）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185" y="5327650"/>
              <a:ext cx="3996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 将在后续软件更新推送（HomePod software 27.2）</a:t>
              </a:r>
            </a:p>
          </p:txBody>
        </p:sp>
      </p:grpSp>
      <p:sp>
        <p:nvSpPr>
          <p:cNvPr id="23" name="Rectangle 23"/>
          <p:cNvSpPr/>
          <p:nvPr/>
        </p:nvSpPr>
        <p:spPr>
          <a:xfrm>
            <a:off x="914400" y="590550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137285" y="6032500"/>
            <a:ext cx="905865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定位：Apple TV 4K = 客厅娱乐 + 中枢备份；HomePod mini 2 = 全屋语音/音频入口 —— 与 HomeView 组成「一屏三入口」的家庭矩阵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08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7492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HARDWARE DEEP-DIVE · 硬件参数逐层拆解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4682" y="1079500"/>
            <a:ext cx="545133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核心芯片、显示屏与感知阵列 - 参数级对比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628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620872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数据来源：Apple 官方新闻稿 · 华为官网 consumer.huawei.com · 小米官网 mi.com/xiaomi-smartdisplay-11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9447" y="1857375"/>
            <a:ext cx="434882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标注为「官方未公布」者均未在品牌官方渠道披露 · 不使用第三方猜测数据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571500" y="2095500"/>
            <a:ext cx="10591800" cy="4343400"/>
            <a:chOff x="571500" y="2095500"/>
            <a:chExt cx="10591800" cy="4343400"/>
          </a:xfrm>
        </p:grpSpPr>
        <p:sp>
          <p:nvSpPr>
            <p:cNvPr id="7" name="Rectangle 7"/>
            <p:cNvSpPr/>
            <p:nvPr/>
          </p:nvSpPr>
          <p:spPr>
            <a:xfrm>
              <a:off x="571500" y="2095500"/>
              <a:ext cx="142875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6325" y="22701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000250" y="2095500"/>
              <a:ext cx="304800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0" t="39144" r="0" b="39145"/>
            <a:stretch>
              <a:fillRect/>
            </a:stretch>
          </p:blipFill>
          <p:spPr>
            <a:xfrm>
              <a:off x="2076450" y="2152650"/>
              <a:ext cx="2895600" cy="4191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2635966" y="2257425"/>
              <a:ext cx="1776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· HomeView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048250" y="2095500"/>
              <a:ext cx="304800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rcRect l="0" t="38710" r="0" b="38710"/>
            <a:stretch>
              <a:fillRect/>
            </a:stretch>
          </p:blipFill>
          <p:spPr>
            <a:xfrm>
              <a:off x="5124450" y="2152650"/>
              <a:ext cx="2895600" cy="4191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5634057" y="2270125"/>
              <a:ext cx="1876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 · 中控屏 S2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96250" y="2095500"/>
              <a:ext cx="304800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15281" y="2270125"/>
              <a:ext cx="22099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· 智能家庭屏 11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144250" y="2095500"/>
              <a:ext cx="19050" cy="409575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71500" y="2705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6285" y="29845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核心芯片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000250" y="2705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64842" y="2844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66747" y="3124200"/>
              <a:ext cx="15711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3nm · 官方未公布核心规格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048250" y="2705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12842" y="2844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14747" y="312420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华为官网未披露芯片型号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96250" y="2705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60842" y="2844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62747" y="31242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官方产品页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1500" y="3467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6285" y="37465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显示屏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000250" y="3467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164842" y="3606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66747" y="3854450"/>
              <a:ext cx="19328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1088×1088 · 220ppi · True Tone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048250" y="3467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12842" y="3606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14747" y="3867150"/>
              <a:ext cx="21738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1670万色 · 自然色彩调节 · AF防指纹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096250" y="3467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60842" y="3606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62747" y="3867150"/>
              <a:ext cx="18131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10.95" · 1920×1200 · 超薄边框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71500" y="4229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6285" y="45085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摄像头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000250" y="4229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164842" y="4368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166747" y="4629150"/>
              <a:ext cx="9115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f/2.4 · 居中构图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048250" y="4229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12842" y="4368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14747" y="46291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未在官方产品页披露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096250" y="4229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260842" y="4368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62747" y="462915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物理隐私遮蔽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71500" y="4991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6285" y="5270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000250" y="4991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164842" y="5130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166747" y="5391150"/>
              <a:ext cx="172876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空间音频 · 4×波束成形麦克风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048250" y="4991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12842" y="5130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214747" y="53911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华为官网未披露音频规格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096250" y="4991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260842" y="5130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62747" y="5391150"/>
              <a:ext cx="13144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超薄设计 · 立体声音效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71500" y="5753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56285" y="6032500"/>
              <a:ext cx="656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内存/存储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2000250" y="5753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2164842" y="5892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166747" y="6153150"/>
              <a:ext cx="20241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Apple 未在产品页披露 RAM/ROM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048250" y="5753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212842" y="5892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214747" y="61531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华为官网未披露内存规格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096250" y="5753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60842" y="5892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62747" y="6153150"/>
              <a:ext cx="14464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官方产品页 · 存储未公布</a:t>
              </a:r>
            </a:p>
          </p:txBody>
        </p:sp>
      </p:grpSp>
      <p:sp>
        <p:nvSpPr>
          <p:cNvPr id="74" name="Rectangle 74"/>
          <p:cNvSpPr/>
          <p:nvPr/>
        </p:nvSpPr>
        <p:spPr>
          <a:xfrm>
            <a:off x="914400" y="5905500"/>
            <a:ext cx="10363200" cy="495300"/>
          </a:xfrm>
          <a:prstGeom prst="roundRect">
            <a:avLst>
              <a:gd name="adj" fmla="val 2307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1174242" y="6007100"/>
            <a:ext cx="761066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45732" indent="-145732">
              <a:buClr>
                <a:schemeClr val="accent1"/>
              </a:buClr>
              <a:buSzTx/>
              <a:buFontTx/>
              <a:buChar char="■"/>
            </a:pP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数据取自各品牌官方产品页与新闻稿；未披露项标注「官方未公布」，不使用第三方猜测数据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09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7492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AI VOICE ASSISTANT · 语音助手三强对决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4682" y="1127125"/>
            <a:ext cx="70718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AI 语音助手深度拆解：Siri AI vs 小艺管家 vs 超级小爱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71625"/>
            <a:ext cx="4953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14500"/>
            <a:ext cx="665362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官方产品页/新闻稿 · 华为 S2 官方产品页 · 小米智能家庭屏 11 产品页 · 未披露项标注「官方未公布」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71500" y="2095500"/>
            <a:ext cx="3619500" cy="3619500"/>
            <a:chOff x="571500" y="2095500"/>
            <a:chExt cx="3619500" cy="3619500"/>
          </a:xfrm>
        </p:grpSpPr>
        <p:sp>
          <p:nvSpPr>
            <p:cNvPr id="6" name="Rectangle 6"/>
            <p:cNvSpPr/>
            <p:nvPr/>
          </p:nvSpPr>
          <p:spPr>
            <a:xfrm>
              <a:off x="571500" y="2095500"/>
              <a:ext cx="3619500" cy="3619500"/>
            </a:xfrm>
            <a:prstGeom prst="roundRect">
              <a:avLst>
                <a:gd name="adj" fmla="val 4211"/>
              </a:avLst>
            </a:prstGeom>
            <a:solidFill>
              <a:schemeClr val="accent5"/>
            </a:solidFill>
            <a:ln w="9525">
              <a:solidFill>
                <a:srgbClr val="0EA5E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2095500"/>
              <a:ext cx="3619500" cy="571500"/>
            </a:xfrm>
            <a:prstGeom prst="roundRect">
              <a:avLst>
                <a:gd name="adj" fmla="val 26667"/>
              </a:avLst>
            </a:prstGeom>
            <a:solidFill>
              <a:srgbClr val="0EA5E9">
                <a:alpha val="12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95724" y="2247900"/>
              <a:ext cx="17710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Siri AI (Apple)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5147" y="2857500"/>
              <a:ext cx="14237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CAPABILITIES · 能力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4385" y="3060700"/>
              <a:ext cx="27476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广博世界知识：食谱/维修/百科即时回答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4385" y="3289300"/>
              <a:ext cx="25131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屏幕感知：理解当前屏幕内容上下文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4385" y="3517900"/>
              <a:ext cx="3160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个人语境：配对 iPhone/iPad 后读取日历/消息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5147" y="3924300"/>
              <a:ext cx="13256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MULTIUSER · 多用户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4385" y="4127500"/>
              <a:ext cx="20149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最多识别 6 人（人脸+声音）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385" y="4356100"/>
              <a:ext cx="25550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内容隔离：个人消息/日历仅本人可见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5147" y="4762500"/>
              <a:ext cx="10404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PRIVACY · 隐私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4385" y="4965700"/>
              <a:ext cx="23304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Secure Exclaves 硬件隔离音视频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4385" y="5194300"/>
              <a:ext cx="24499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端侧处理 + Private Cloud Compute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5147" y="5448300"/>
              <a:ext cx="22949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64748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仅英语起步 · EU 不售（Siri AI 政策）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81500" y="2095500"/>
            <a:ext cx="3619500" cy="3619500"/>
            <a:chOff x="4381500" y="2095500"/>
            <a:chExt cx="3619500" cy="3619500"/>
          </a:xfrm>
        </p:grpSpPr>
        <p:sp>
          <p:nvSpPr>
            <p:cNvPr id="21" name="Rectangle 21"/>
            <p:cNvSpPr/>
            <p:nvPr/>
          </p:nvSpPr>
          <p:spPr>
            <a:xfrm>
              <a:off x="4381500" y="2095500"/>
              <a:ext cx="3619500" cy="3619500"/>
            </a:xfrm>
            <a:prstGeom prst="roundRect">
              <a:avLst>
                <a:gd name="adj" fmla="val 4211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81500" y="2095500"/>
              <a:ext cx="3619500" cy="571500"/>
            </a:xfrm>
            <a:prstGeom prst="roundRect">
              <a:avLst>
                <a:gd name="adj" fmla="val 26667"/>
              </a:avLst>
            </a:prstGeom>
            <a:solidFill>
              <a:srgbClr val="F59E0B">
                <a:alpha val="12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915371" y="2260600"/>
              <a:ext cx="25517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小艺管家 (Huawei S2)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05147" y="2857500"/>
              <a:ext cx="14237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CAPABILITIES · 能力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04385" y="3060700"/>
              <a:ext cx="2362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可视可说：屏幕可见即可语音控制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04385" y="3289300"/>
              <a:ext cx="281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全双工对话：连续对话、可打断、可插话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04385" y="3517900"/>
              <a:ext cx="26639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空间感知：挂墙自动切换当前空间界面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05147" y="3924300"/>
              <a:ext cx="134710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INTERACTION · 交互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04385" y="4127500"/>
              <a:ext cx="24101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分级 UX：全屋/系统/单品三层管控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4385" y="4356100"/>
              <a:ext cx="2345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超级快控：拖拽建场景 · 长按精调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05147" y="4762500"/>
              <a:ext cx="11937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ECOSYSTEM · 生态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04385" y="4965700"/>
              <a:ext cx="1941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鸿蒙智家 · HarmonyOS 2.1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04385" y="5194300"/>
              <a:ext cx="23618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与智能主机 SE 组合实现全屋中枢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5147" y="5448300"/>
              <a:ext cx="236747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64748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官方未公布：本地处理比例/离线指令率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191500" y="2095500"/>
            <a:ext cx="3619500" cy="3619500"/>
            <a:chOff x="8191500" y="2095500"/>
            <a:chExt cx="3619500" cy="3619500"/>
          </a:xfrm>
        </p:grpSpPr>
        <p:sp>
          <p:nvSpPr>
            <p:cNvPr id="36" name="Rectangle 36"/>
            <p:cNvSpPr/>
            <p:nvPr/>
          </p:nvSpPr>
          <p:spPr>
            <a:xfrm>
              <a:off x="8191500" y="2095500"/>
              <a:ext cx="3619500" cy="3619500"/>
            </a:xfrm>
            <a:prstGeom prst="roundRect">
              <a:avLst>
                <a:gd name="adj" fmla="val 4211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191500" y="2095500"/>
              <a:ext cx="3619500" cy="571500"/>
            </a:xfrm>
            <a:prstGeom prst="roundRect">
              <a:avLst>
                <a:gd name="adj" fmla="val 26667"/>
              </a:avLst>
            </a:prstGeom>
            <a:solidFill>
              <a:srgbClr val="10B981">
                <a:alpha val="12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2661" y="2260600"/>
              <a:ext cx="2477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超级小爱 (Xiaomi 11)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15147" y="2857500"/>
              <a:ext cx="14237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CAPABILITIES · 能力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14385" y="3060700"/>
              <a:ext cx="24733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大模型 · 百科问答/文案创作/闲聊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14385" y="3289300"/>
              <a:ext cx="2362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语音创建自动化场景（米家联动）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14385" y="3517900"/>
              <a:ext cx="2387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一句话多指令：控车+控家+查信息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15147" y="3924300"/>
              <a:ext cx="8871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VOICE · 音色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14385" y="4127500"/>
              <a:ext cx="19519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拟人音色「柚子」/「蜜糖」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14385" y="4356100"/>
              <a:ext cx="2328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连续对话 · 随时打断 · 上下文继承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15147" y="4762500"/>
              <a:ext cx="11937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ECOSYSTEM · 生态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14385" y="4965700"/>
              <a:ext cx="2313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澎湃OS 3 · 中枢网关 + Mesh 2.0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14385" y="5194300"/>
              <a:ext cx="193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海量智能设备 + 红外家电库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15147" y="5448300"/>
              <a:ext cx="236747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64748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官方未公布：本地处理比例/离线指令率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914400" y="600075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75385" y="6108700"/>
            <a:ext cx="108190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Siri AI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：广博世界知识 + 6人隔离 + 最强隐私架构（英语起步） · </a:t>
            </a:r>
            <a:r>
              <a:rPr lang="zh-CN" sz="1120" dirty="0">
                <a:solidFill>
                  <a:srgbClr val="FCD34D"/>
                </a:solidFill>
                <a:latin typeface="+mn-lt"/>
                <a:ea typeface="+mn-ea"/>
                <a:cs typeface="+mn-cs"/>
              </a:rPr>
              <a:t>小艺管家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：可视可说 + 空间穿越 + 鸿蒙生态 · </a:t>
            </a:r>
            <a:r>
              <a:rPr lang="zh-CN" sz="1120" dirty="0">
                <a:solidFill>
                  <a:srgbClr val="6EE7B7"/>
                </a:solidFill>
                <a:latin typeface="+mn-lt"/>
                <a:ea typeface="+mn-ea"/>
                <a:cs typeface="+mn-cs"/>
              </a:rPr>
              <a:t>超级小爱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：大模型对话 + 万级设备兼容 + 中文场景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76147" y="6343650"/>
            <a:ext cx="351332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本地处理百分比与离线指令率：三方官方均未公布 → 不列出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67917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CONNECTIVITY &amp; PROTOCOL · 连接技术与生态协议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连接技术与生态协议大战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52600"/>
            <a:ext cx="690519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HomeView 技术规格页 · 华为 S2 官方产品页 · 小米智能家庭屏 11 产品页 · 未披露项标注「官方未公布」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2095500"/>
            <a:ext cx="5334000" cy="4000500"/>
            <a:chOff x="914400" y="2095500"/>
            <a:chExt cx="5334000" cy="4000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334000" cy="4000500"/>
            </a:xfrm>
            <a:prstGeom prst="roundRect">
              <a:avLst>
                <a:gd name="adj" fmla="val 381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6142" y="2311400"/>
              <a:ext cx="1809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PROTOCOL STACK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2686050"/>
              <a:ext cx="764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Matter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7285" y="2965450"/>
              <a:ext cx="3596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跨品牌互操作标准 · 苹果积极参加 · 统一智能家居语言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43000" y="32004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5380" y="3333750"/>
              <a:ext cx="721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Thread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3613150"/>
              <a:ext cx="3586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低功耗 Mesh 网络 · 自愈 · 端到端加密 · 抑制网络拥堵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43000" y="38481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35380" y="3981450"/>
              <a:ext cx="1085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Zigbee 3.0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7285" y="4260850"/>
              <a:ext cx="3107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成熟生态 · 低功耗传感器主流 · 与 Thread 互补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43000" y="44958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35380" y="4629150"/>
              <a:ext cx="16046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6E / 6 / 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908550"/>
              <a:ext cx="31493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高速主干 · 视频/大带宽设备 · Apple 用 6E 领先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43000" y="51435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5380" y="5289550"/>
              <a:ext cx="9691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PoE+ 供电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7285" y="5556250"/>
              <a:ext cx="2390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网线供电 · 简化布线 · 备用电源冗余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477000" y="2095500"/>
            <a:ext cx="5760034" cy="3848100"/>
            <a:chOff x="6477000" y="2095500"/>
            <a:chExt cx="5760034" cy="3848100"/>
          </a:xfrm>
        </p:grpSpPr>
        <p:sp>
          <p:nvSpPr>
            <p:cNvPr id="23" name="Rectangle 23"/>
            <p:cNvSpPr/>
            <p:nvPr/>
          </p:nvSpPr>
          <p:spPr>
            <a:xfrm>
              <a:off x="64770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97065" y="22542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8105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0EA5E9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84293" y="2254250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440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61961" y="2254250"/>
              <a:ext cx="497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4775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914188" y="2254250"/>
              <a:ext cx="460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23685" y="2841625"/>
              <a:ext cx="3729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Wi-Fi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8105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76235" y="2755900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6E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76997" y="2971800"/>
              <a:ext cx="10874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 specs 页确认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1440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09735" y="27559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10497" y="2971800"/>
              <a:ext cx="15343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S2 官网未披露 Wi-Fi 版本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4775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643235" y="2755900"/>
              <a:ext cx="7606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双频 Wi-Fi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43997" y="29718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智能中控屏标准版支持双频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770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23685" y="3527425"/>
              <a:ext cx="493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Thread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8105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976235" y="34417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1.3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76997" y="36576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边路由器内置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1440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309735" y="34417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4775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643235" y="3441700"/>
              <a:ext cx="709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Mesh 2.0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643997" y="3657600"/>
              <a:ext cx="126043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小米自研，非 Thread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770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23685" y="4213225"/>
              <a:ext cx="476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Zigbee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8105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76235" y="41275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3.0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76997" y="43434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支持（部分设备）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1440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309735" y="41275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4775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64323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43997" y="434340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智能中控屏兼容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770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23685" y="4899025"/>
              <a:ext cx="4427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Matter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8105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976235" y="48133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1.2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76997" y="5016500"/>
              <a:ext cx="14308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Works with Apple Home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1440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309735" y="48133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04775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643235" y="48133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4770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623685" y="5584825"/>
              <a:ext cx="398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PoE+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8105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976235" y="5499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976997" y="5715000"/>
              <a:ext cx="11723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Schneider 支架选配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1440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309735" y="54991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310497" y="5715000"/>
              <a:ext cx="9497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S2 无 PoE 规格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04775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643235" y="54991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643997" y="5715000"/>
              <a:ext cx="13183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智能家庭屏 11 无 PoE</a:t>
              </a:r>
            </a:p>
          </p:txBody>
        </p:sp>
      </p:grpSp>
      <p:sp>
        <p:nvSpPr>
          <p:cNvPr id="83" name="Rectangle 83"/>
          <p:cNvSpPr/>
          <p:nvPr/>
        </p:nvSpPr>
        <p:spPr>
          <a:xfrm>
            <a:off x="914400" y="6191250"/>
            <a:ext cx="10363200" cy="4572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1174242" y="6159500"/>
            <a:ext cx="91613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协议大战：Apple 全面领先（Wi-Fi 6E · Thread · Matter · PoE 供电），华为/小米以 Zigbee + 自研 Mesh 补足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41324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// HUAWEI · SMART CONTROL PANEL S2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95492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华为智能中控屏 S2 深拆：全屋智能的「墙上面板」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4649958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来源：consumer.huawei.com 官方产品页 · 未披露参数一律标注「官方未公布」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14400" y="2095500"/>
            <a:ext cx="11277600" cy="3619500"/>
            <a:chOff x="914400" y="2095500"/>
            <a:chExt cx="11277600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3340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13998" r="0" b="13999"/>
            <a:stretch>
              <a:fillRect/>
            </a:stretch>
          </p:blipFill>
          <p:spPr>
            <a:xfrm>
              <a:off x="1104900" y="2286000"/>
              <a:ext cx="4953000" cy="22860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099185" y="4718050"/>
              <a:ext cx="1164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// 官方披露参数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5022850"/>
              <a:ext cx="34309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10.4" FHD+ 超高清屏 · 1670 万色 · 自然色彩调节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5289550"/>
              <a:ext cx="36439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芯片型号 / 摄像头 / 音频单元 / 内存存储：官方未公布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438900" y="2095500"/>
              <a:ext cx="57531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99185" y="2260600"/>
              <a:ext cx="2220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// 产品定位与能力（官方口径）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2584450"/>
              <a:ext cx="3719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墙面中控：替代传统开关面板，一屏管理全屋智能设备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185" y="2851150"/>
              <a:ext cx="27978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小艺智慧语音：免提语音操控 · 连续对话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185" y="3117850"/>
              <a:ext cx="34596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可视对讲：联动智能门铃/门锁，门口画面一屏直达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185" y="3384550"/>
              <a:ext cx="3082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场景引擎：离家 / 回家 / 睡眠 / 观影 一键场景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185" y="3651250"/>
              <a:ext cx="3702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分布式协同：HarmonyOS 设备间流转，跨端无缝接管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185" y="3917950"/>
              <a:ext cx="2362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后装可用：无需重装修，即贴即用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185" y="4241800"/>
              <a:ext cx="561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// 生态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185" y="4546600"/>
              <a:ext cx="3380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HarmonyOS Connect：HiLink 全屋智能认证生态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185" y="4813300"/>
              <a:ext cx="3000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与全屋智能 PLC / 无线方案联动（需网关）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947" y="5162550"/>
              <a:ext cx="4873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注：S2 属华为「全屋智能」体系的面板型入口，与华为手机/音箱共用小艺语音体系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914400" y="590550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137285" y="6032500"/>
            <a:ext cx="77018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定位：华为走「装修级全屋智能」路线 —— 面板 + 网关 + 生态认证绑定，强调线下场景与 HarmonyOS 全家桶协同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2532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// XIAOMI · SMART HOME DISPLAY 11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98717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小米智能家庭屏 11 深拆：客厅大屏 + 全屋控制中心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375514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来源：mi.com 官方产品页 · 未披露参数一律标注「官方未公布」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14400" y="2095500"/>
            <a:ext cx="11277600" cy="3619500"/>
            <a:chOff x="914400" y="2095500"/>
            <a:chExt cx="11277600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3340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8804" y="2279650"/>
              <a:ext cx="12480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// 官方披露参数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185" y="2622550"/>
              <a:ext cx="32094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10.95" 高清大屏 · 1920×1200 · 400nit · 1500:1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2908300"/>
              <a:ext cx="24043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核处理器 · 内存/存储 官方未公布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3194050"/>
              <a:ext cx="2035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800 万像素摄像头 · 物理遮蔽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185" y="3479800"/>
              <a:ext cx="17592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安全芯片能力官方未公布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3765550"/>
              <a:ext cx="17424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四单元独立音腔 · 立体声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4051300"/>
              <a:ext cx="1457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起售价：官方未公布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185" y="4451350"/>
              <a:ext cx="863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// 连接协议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185" y="4775200"/>
              <a:ext cx="24840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+ 蓝牙 + Zigbee（内置网关）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185" y="5041900"/>
              <a:ext cx="22849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米家 Mesh 2.0 · Matter 认证设备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947" y="5334000"/>
              <a:ext cx="51094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注：小米官方宣传图取自 mi.com 产品页；本页采用参数卡风格，未使用受限 CDN 图片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438900" y="2095500"/>
              <a:ext cx="57531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8804" y="2279650"/>
              <a:ext cx="2378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// 产品定位与能力（官方口径）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185" y="2622550"/>
              <a:ext cx="3308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中控大屏：桌面/壁挂双形态，全屋设备一屏控制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185" y="2908300"/>
              <a:ext cx="26681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小爱同学：语音 + 屏幕反馈 · 多轮对话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185" y="3194050"/>
              <a:ext cx="32799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视频通话：800 万像素 + 物理遮蔽（隐私开关）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185" y="3479800"/>
              <a:ext cx="28357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影音娱乐：视频平台大屏 + 智能音箱发声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185" y="3765550"/>
              <a:ext cx="328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米家全屋控制：灯光/窗帘/空调/扫地机/安防联动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185" y="4051300"/>
              <a:ext cx="2144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家庭留言/相册/闹钟等生活应用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9185" y="4451350"/>
              <a:ext cx="561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// 生态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9185" y="4775200"/>
              <a:ext cx="26639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米家生态链：千余款认证设备即买即用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9185" y="5041900"/>
              <a:ext cx="20820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Matter 支持：跨品牌互联互通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9947" y="5334000"/>
              <a:ext cx="45138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注：小米产品线强调「性价比 + 生态链广度」，家庭屏承担客厅唯一中控角色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914400" y="590550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137285" y="6032500"/>
            <a:ext cx="81493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定位：小米走「单品大屏 + 生态链」路线 —— 以高性价比硬件 + 庞大认证生态抢占客厅入口，隐私为物理开关 + 安全芯片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9400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ECOSYSTEM LANDSCAPE · 三足鼎立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06350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三大生态总览：入口、AI、协议与打法的分野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5400455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/ consumer.huawei.com / mi.com 官方口径整理（含未公布项标注）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14400" y="2286000"/>
            <a:ext cx="10382250" cy="3714750"/>
            <a:chOff x="914400" y="2286000"/>
            <a:chExt cx="10382250" cy="3714750"/>
          </a:xfrm>
        </p:grpSpPr>
        <p:sp>
          <p:nvSpPr>
            <p:cNvPr id="6" name="Rectangle 6"/>
            <p:cNvSpPr/>
            <p:nvPr/>
          </p:nvSpPr>
          <p:spPr>
            <a:xfrm>
              <a:off x="914400" y="2286000"/>
              <a:ext cx="3333750" cy="3714750"/>
            </a:xfrm>
            <a:prstGeom prst="roundRect">
              <a:avLst>
                <a:gd name="adj" fmla="val 4000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489200"/>
              <a:ext cx="1763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APPLE · WELCOME HOME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844800"/>
              <a:ext cx="34776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入口：HomeView 桌面屏 + Apple TV + HomePod 语音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130550"/>
              <a:ext cx="27227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AI：Siri AI（英语起步 · beta）· 私有云计算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416300"/>
              <a:ext cx="2977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协议：Matter / Thread / HomeKit Secure Video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3702050"/>
              <a:ext cx="37812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打法：高端硬件 + 隐私优先 + 配件认证（Home Collection）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947" y="4038600"/>
              <a:ext cx="21339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优势：生态协同 隐私隔离 品牌溢价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947" y="4286250"/>
              <a:ext cx="30395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7171"/>
                  </a:solidFill>
                  <a:latin typeface="Consolas"/>
                  <a:ea typeface="Microsoft YaHei"/>
                  <a:cs typeface="Consolas"/>
                </a:rPr>
                <a:t>劣势：价格高 中国大陆/EU 未覆盖 Siri AI 起步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438650" y="2286000"/>
              <a:ext cx="3333750" cy="371475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99185" y="2489200"/>
              <a:ext cx="1403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HUAWEI · 全屋智能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2844800"/>
              <a:ext cx="28601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入口：智能中控屏 S2 墙面面板 + 音箱 + 手机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566" y="3130550"/>
              <a:ext cx="3192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AI：小艺智慧语音（中文体系）· HarmonyOS 协同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566" y="3416300"/>
              <a:ext cx="3058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协议：HiLink / HarmonyOS Connect · PLC/无线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566" y="3702050"/>
              <a:ext cx="28771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打法：装修级全屋方案 + 面板入口 + 场景引擎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947" y="4038600"/>
              <a:ext cx="23977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优势：全屋成套 中文场景深 线下服务强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947" y="4286250"/>
              <a:ext cx="21933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7171"/>
                  </a:solidFill>
                  <a:latin typeface="Consolas"/>
                  <a:ea typeface="Microsoft YaHei"/>
                  <a:cs typeface="Consolas"/>
                </a:rPr>
                <a:t>劣势：依赖华为生态 型号参数不透明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962900" y="2286000"/>
              <a:ext cx="3333750" cy="371475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99185" y="2489200"/>
              <a:ext cx="1403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XIAOMI · 米家生态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2844800"/>
              <a:ext cx="28302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入口：智能家庭屏 11 大屏 + 小爱音箱 + 手机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566" y="3130550"/>
              <a:ext cx="23583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AI：小爱同学（中文体系）· 多轮对话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9566" y="3416300"/>
              <a:ext cx="320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协议：Zigbee / 米家 Mesh 2.0 / Matter / Wi-Fi 蓝牙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9566" y="3702050"/>
              <a:ext cx="2594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打法：性价比大屏 + 千款生态链 + 高迭代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9947" y="4038600"/>
              <a:ext cx="22658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优势：价格带广 生态链广度 出货量大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9947" y="4286250"/>
              <a:ext cx="29255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7171"/>
                  </a:solidFill>
                  <a:latin typeface="Consolas"/>
                  <a:ea typeface="Microsoft YaHei"/>
                  <a:cs typeface="Consolas"/>
                </a:rPr>
                <a:t>劣势：高端感知弱 隐私口碑待加强 软件深度有限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914400" y="6153150"/>
            <a:ext cx="10363200" cy="419100"/>
          </a:xfrm>
          <a:prstGeom prst="roundRect">
            <a:avLst>
              <a:gd name="adj" fmla="val 2272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137666" y="6273800"/>
            <a:ext cx="77425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// 核心分野：苹果「隐私+协同溢价」 · 华为「装修级成套」 · 小米「生态链性价比」 —— 三家不在同一价格带正面竞争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14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7542" y="596900"/>
            <a:ext cx="43410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SOLUTION SWOT · 解决方案优劣势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整体解决方案优劣势全景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571500" y="2095500"/>
            <a:ext cx="5334000" cy="2000250"/>
            <a:chOff x="571500" y="2095500"/>
            <a:chExt cx="5334000" cy="2000250"/>
          </a:xfrm>
        </p:grpSpPr>
        <p:sp>
          <p:nvSpPr>
            <p:cNvPr id="5" name="Rectangle 5"/>
            <p:cNvSpPr/>
            <p:nvPr/>
          </p:nvSpPr>
          <p:spPr>
            <a:xfrm>
              <a:off x="571500" y="20955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1342" y="2216150"/>
              <a:ext cx="2020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· HomeView 方案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6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6285" y="3098800"/>
              <a:ext cx="2628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 + Secure Exclaves 隐私硬件隔离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3327400"/>
              <a:ext cx="2509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 人识别 + 内容隔离，家庭共享最佳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285" y="3556000"/>
              <a:ext cx="2768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协议层最全：Wi-Fi 6E / Thread / Matter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6285" y="3784600"/>
              <a:ext cx="1608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系统统一体验生态完整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619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6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285" y="3098800"/>
              <a:ext cx="2136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$299 定价高于竞品，普及受限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285" y="3327400"/>
              <a:ext cx="20462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仅限 Apple 生态，无 Android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285" y="3556000"/>
              <a:ext cx="2016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EU 不售 · Siri AI 仅英语起步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285" y="3784600"/>
              <a:ext cx="24681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摄像头/麦克风数据要求配对 iPhone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4191000"/>
            <a:ext cx="5334000" cy="2000250"/>
            <a:chOff x="571500" y="4191000"/>
            <a:chExt cx="53340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571500" y="41910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F59E0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342" y="4311650"/>
              <a:ext cx="1951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 · 全屋智能方案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52500" y="47625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6666" y="49403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6285" y="5194300"/>
              <a:ext cx="18011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可墙可桌可手持 空间穿越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6285" y="5422900"/>
              <a:ext cx="19100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挂墙自动识别空间切换界面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6285" y="5651500"/>
              <a:ext cx="193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小艺全双工语音 + 可视可说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6285" y="5880100"/>
              <a:ext cx="23991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鸿蒙智家 全屋主机+PLC 方案成熟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619500" y="47625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6666" y="49403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6285" y="5194300"/>
              <a:ext cx="19002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芯片/RAM/协议官方未公布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6285" y="5422900"/>
              <a:ext cx="20693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面向工程渠道，C 端可得性低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6285" y="5651500"/>
              <a:ext cx="1306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海外生态支持有限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6285" y="5880100"/>
              <a:ext cx="1306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开发者生态待完善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286500" y="2095500"/>
            <a:ext cx="5334000" cy="2000250"/>
            <a:chOff x="6286500" y="2095500"/>
            <a:chExt cx="5334000" cy="2000250"/>
          </a:xfrm>
        </p:grpSpPr>
        <p:sp>
          <p:nvSpPr>
            <p:cNvPr id="35" name="Rectangle 35"/>
            <p:cNvSpPr/>
            <p:nvPr/>
          </p:nvSpPr>
          <p:spPr>
            <a:xfrm>
              <a:off x="6286500" y="20955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46342" y="2216150"/>
              <a:ext cx="190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· 米家智能方案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67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71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71285" y="3098800"/>
              <a:ext cx="193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海量智能设备 + 红外家电库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1285" y="3327400"/>
              <a:ext cx="24571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处理器/内存 官方未公布 · Mesh 2.0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71285" y="3556000"/>
              <a:ext cx="17592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价格最亲民（入门价位）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71285" y="3784600"/>
              <a:ext cx="2081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超级小爱 + 中文场景理解最深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334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71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71285" y="3098800"/>
              <a:ext cx="1457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芯片型号官方未公布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71285" y="3327400"/>
              <a:ext cx="1625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无线无 6GHz · 无 PoE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71285" y="3556000"/>
              <a:ext cx="17424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电池未公布 · 需持续供电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71285" y="3784600"/>
              <a:ext cx="1156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高端产品线缺乏</a:t>
              </a:r>
            </a:p>
          </p:txBody>
        </p:sp>
      </p:grpSp>
      <p:sp>
        <p:nvSpPr>
          <p:cNvPr id="50" name="Rectangle 50"/>
          <p:cNvSpPr/>
          <p:nvPr/>
        </p:nvSpPr>
        <p:spPr>
          <a:xfrm>
            <a:off x="914400" y="6191250"/>
            <a:ext cx="10363200" cy="4572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1174242" y="6159500"/>
            <a:ext cx="106446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结论：Apple 优在系统统一+隐私架构；Huawei 优在空间形态+全屋工程；Xiaomi 优在生态广度+性价比——三方各有优劣，无绝对胜者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15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9331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INDUSTRY OUTLOOK &amp; EVOLUTION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0110" y="106045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产业思考与未来演进方向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90700"/>
            <a:ext cx="382111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基于三份官方发布材料的产业推演 · 预测部分明确标注为分析判断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14400" y="2190750"/>
            <a:ext cx="10287000" cy="2990850"/>
            <a:chOff x="914400" y="2190750"/>
            <a:chExt cx="10287000" cy="2990850"/>
          </a:xfrm>
        </p:grpSpPr>
        <p:sp>
          <p:nvSpPr>
            <p:cNvPr id="6" name="Rectangle 6"/>
            <p:cNvSpPr/>
            <p:nvPr/>
          </p:nvSpPr>
          <p:spPr>
            <a:xfrm>
              <a:off x="914400" y="21907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393950"/>
              <a:ext cx="2069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01 · AI 是下一轮竞争主战场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185" y="2698750"/>
              <a:ext cx="2681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 / 小艺 / 小爱同学 全面接入大模型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2965450"/>
              <a:ext cx="39147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从「被动应答」转向「主动服务」（屏幕感知 · 个人语境）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947" y="3257550"/>
              <a:ext cx="38785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已发布口径：Apple Intelligence / Siri AI · 小米超级小爱 · 华为小艺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53150" y="21907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99185" y="2393950"/>
              <a:ext cx="34239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02 · 协议融合：Matter / Thread 成为共同底座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2698750"/>
              <a:ext cx="3882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三家的连接方式各有取舍：Wi-Fi 6E · PLC · Zigbee/Mesh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185" y="2965450"/>
              <a:ext cx="32614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但都在向统一标准靠拢 —— 生态开放是共同方向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947" y="3257550"/>
              <a:ext cx="31572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Matter 支持：Apple ✓ 小米 ✓ 华为（鸿蒙智联兼容）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14400" y="37528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9185" y="3956050"/>
              <a:ext cx="2386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03 · 从单品竞争到场景化解决方案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185" y="4260850"/>
              <a:ext cx="36121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Home Collection 联合 LG / Schneider 进场配件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185" y="4527550"/>
              <a:ext cx="39484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华为全屋智能 4.0 · 小米人车家全生态 —— 都是场景化打法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53150" y="37528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9185" y="3956050"/>
              <a:ext cx="2235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04 · 隐私与安全成为高端差异化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185" y="4260850"/>
              <a:ext cx="41114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 Secure Exclaves + Private Cloud Compute（官方披露）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185" y="4527550"/>
              <a:ext cx="38645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小米安全芯片防护 —— 隐私是共同叙事，但实现路径不同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914400" y="5524500"/>
            <a:ext cx="10363200" cy="876300"/>
          </a:xfrm>
          <a:prstGeom prst="roundRect">
            <a:avLst>
              <a:gd name="adj" fmla="val 15217"/>
            </a:avLst>
          </a:prstGeom>
          <a:solidFill>
            <a:srgbClr val="0E2440"/>
          </a:solidFill>
          <a:ln w="9525">
            <a:solidFill>
              <a:schemeClr val="accent1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37285" y="5689600"/>
            <a:ext cx="206950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// 分析判断（非官方披露）：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7285" y="5975350"/>
            <a:ext cx="79807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苹果将延续「硬件-系统-服务」三位一体，HomeView 只是入口 —— 后续可能围绕 HomeKit/Home 应用生态继续扩展，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7285" y="6184900"/>
            <a:ext cx="70988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并以 Matter 兼容性吸收非苹果硬件；华为继续深耕前装工程渠道；小米依托设备数量优势推动 AI 普惠化。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16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50000">
              <a:srgbClr val="0A1120"/>
            </a:gs>
            <a:gs pos="100000">
              <a:srgbClr val="070C1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FACC15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78586" y="1879600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智能家居战争，已从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2546350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「卖硬件」转向</a:t>
            </a:r>
            <a:r>
              <a:rPr lang="zh-CN" sz="3300" b="1" dirty="0">
                <a:solidFill>
                  <a:srgbClr val="FACC15"/>
                </a:solidFill>
                <a:latin typeface="+mn-lt"/>
                <a:ea typeface="+mn-ea"/>
                <a:cs typeface="+mn-cs"/>
              </a:rPr>
              <a:t>「卖系统与体验」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3390900"/>
            <a:ext cx="495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ACC15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914400" y="4000500"/>
            <a:ext cx="10382250" cy="1333500"/>
            <a:chOff x="914400" y="4000500"/>
            <a:chExt cx="10382250" cy="1333500"/>
          </a:xfrm>
        </p:grpSpPr>
        <p:sp>
          <p:nvSpPr>
            <p:cNvPr id="6" name="Rectangle 6"/>
            <p:cNvSpPr/>
            <p:nvPr/>
          </p:nvSpPr>
          <p:spPr>
            <a:xfrm>
              <a:off x="91440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0EA5E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7285" y="4241800"/>
              <a:ext cx="7123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APPLE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6142" y="4540250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系统统一 + 隐私为矛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7285" y="4851400"/>
              <a:ext cx="22548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专芯 · HomeView · 三方联盟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43865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F59E0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661535" y="424180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CD34D"/>
                  </a:solidFill>
                  <a:latin typeface="Consolas"/>
                  <a:ea typeface="Consolas"/>
                  <a:cs typeface="Consolas"/>
                </a:rPr>
                <a:t>// HUAWEI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60392" y="4540250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空间形态 + 工程渠道为矛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61535" y="4851400"/>
              <a:ext cx="20821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S2 空间穿越 · 全屋主机 + PLC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96290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10B98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85785" y="424180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EE7B7"/>
                  </a:solidFill>
                  <a:latin typeface="Consolas"/>
                  <a:ea typeface="Consolas"/>
                  <a:cs typeface="Consolas"/>
                </a:rPr>
                <a:t>// XIAOMI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84642" y="4540250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生态广度 + 普及度领跑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85785" y="4851400"/>
              <a:ext cx="2585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入门价位 · 自研 Mesh 组网 + 小爱同学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5715000"/>
            <a:ext cx="10363200" cy="1028700"/>
            <a:chOff x="914400" y="5715000"/>
            <a:chExt cx="10363200" cy="1028700"/>
          </a:xfrm>
        </p:grpSpPr>
        <p:sp>
          <p:nvSpPr>
            <p:cNvPr id="19" name="Rectangle 19"/>
            <p:cNvSpPr/>
            <p:nvPr/>
          </p:nvSpPr>
          <p:spPr>
            <a:xfrm>
              <a:off x="914400" y="5715000"/>
              <a:ext cx="10363200" cy="762000"/>
            </a:xfrm>
            <a:prstGeom prst="roundRect">
              <a:avLst>
                <a:gd name="adj" fmla="val 175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7666" y="5873750"/>
              <a:ext cx="1407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RECOMMENDATION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4300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90066" y="6292850"/>
              <a:ext cx="17709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高端商务/隐私敏感 → Apple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90447" y="6515100"/>
              <a:ext cx="16225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+ 端侧隐私 + 系统统一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43865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F59E0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85716" y="6292850"/>
              <a:ext cx="18823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全屋装修/鸿蒙生态 → Huawei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86097" y="6515100"/>
              <a:ext cx="18937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空间穿越 + 多设备协同 + 国产链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73430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81366" y="6292850"/>
              <a:ext cx="1844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预算有限/米家用户 → Xiaomi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81747" y="6515100"/>
              <a:ext cx="18937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入门价位 + 小爱同学 + 自研生态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09638" y="6470650"/>
            <a:ext cx="672943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数据来源：Apple 官方新闻稿与规格页 · 华为 consumer.huawei.com · 小米 mi.com/xiaomi-smartdisplay-11 · 未披露项标注「官方未公布」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17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pple-welcome-home">
  <a:themeElements>
    <a:clrScheme name="apple-welcome-home">
      <a:dk1>
        <a:srgbClr val="E2E8F0"/>
      </a:dk1>
      <a:lt1>
        <a:srgbClr val="0B1120"/>
      </a:lt1>
      <a:dk2>
        <a:srgbClr val="1F497D"/>
      </a:dk2>
      <a:lt2>
        <a:srgbClr val="0B1120"/>
      </a:lt2>
      <a:accent1>
        <a:srgbClr val="22D3EE"/>
      </a:accent1>
      <a:accent2>
        <a:srgbClr val="A78BFA"/>
      </a:accent2>
      <a:accent3>
        <a:srgbClr val="7DD3FC"/>
      </a:accent3>
      <a:accent4>
        <a:srgbClr val="22D3EE"/>
      </a:accent4>
      <a:accent5>
        <a:srgbClr val="0E1830"/>
      </a:accent5>
      <a:accent6>
        <a:srgbClr val="94A3B8"/>
      </a:accent6>
      <a:hlink>
        <a:srgbClr val="A78BFA"/>
      </a:hlink>
      <a:folHlink>
        <a:srgbClr val="7DD3FC"/>
      </a:folHlink>
    </a:clrScheme>
    <a:fontScheme name="apple-welcome-hom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pple-welcome-ho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2026-10-16T04:53:23Z</dcterms:created>
  <dcterms:modified xsi:type="dcterms:W3CDTF">2026-10-16T04:53:23Z</dcterms:modified>
  <cp:category/>
  <cp:contentStatus/>
</cp:coreProperties>
</file>