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pple-welcome-hom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pple-welcome-hom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50000">
              <a:srgbClr val="0A1120"/>
            </a:gs>
            <a:gs pos="100000">
              <a:srgbClr val="070C1A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20000">
                <a:schemeClr val="accent1"/>
              </a:gs>
              <a:gs pos="80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06018" y="1035050"/>
            <a:ext cx="570029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spc="45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智能家居竞品洞察报告 · 2026-10-13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6300" y="1901825"/>
            <a:ext cx="10031969" cy="1276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6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Apple 'Welcome Home'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76300" y="3168650"/>
            <a:ext cx="6096000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智能家居生态战略发布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4306" y="4117975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一场发布会，看懂苹果如何重塑「家庭」——与华为、小米的三方对决</a:t>
            </a:r>
          </a:p>
        </p:txBody>
      </p:sp>
      <p:sp>
        <p:nvSpPr>
          <p:cNvPr id="8" name="Rectangle 8"/>
          <p:cNvSpPr/>
          <p:nvPr/>
        </p:nvSpPr>
        <p:spPr>
          <a:xfrm>
            <a:off x="914400" y="4667250"/>
            <a:ext cx="4572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20000">
                <a:schemeClr val="accent1"/>
              </a:gs>
              <a:gs pos="80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914400" y="5334000"/>
            <a:ext cx="2727655" cy="819150"/>
            <a:chOff x="914400" y="5334000"/>
            <a:chExt cx="2727655" cy="819150"/>
          </a:xfrm>
        </p:grpSpPr>
        <p:sp>
          <p:nvSpPr>
            <p:cNvPr id="9" name="Rectangle 9"/>
            <p:cNvSpPr/>
            <p:nvPr/>
          </p:nvSpPr>
          <p:spPr>
            <a:xfrm>
              <a:off x="914400" y="5334000"/>
              <a:ext cx="24765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37285" y="5556250"/>
              <a:ext cx="4259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spc="1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DATE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5380" y="5772150"/>
              <a:ext cx="25066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2026-10-13 · Apple Event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619500" y="5334000"/>
            <a:ext cx="2476500" cy="819150"/>
            <a:chOff x="3619500" y="5334000"/>
            <a:chExt cx="2476500" cy="819150"/>
          </a:xfrm>
        </p:grpSpPr>
        <p:sp>
          <p:nvSpPr>
            <p:cNvPr id="13" name="Rectangle 13"/>
            <p:cNvSpPr/>
            <p:nvPr/>
          </p:nvSpPr>
          <p:spPr>
            <a:xfrm>
              <a:off x="3619500" y="5334000"/>
              <a:ext cx="24765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842385" y="5556250"/>
              <a:ext cx="8617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spc="1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AUDIENCE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40480" y="5784850"/>
              <a:ext cx="20951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 · 战略 · 市场分析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324600" y="5334000"/>
            <a:ext cx="2489835" cy="819150"/>
            <a:chOff x="6324600" y="5334000"/>
            <a:chExt cx="2489835" cy="819150"/>
          </a:xfrm>
        </p:grpSpPr>
        <p:sp>
          <p:nvSpPr>
            <p:cNvPr id="17" name="Rectangle 17"/>
            <p:cNvSpPr/>
            <p:nvPr/>
          </p:nvSpPr>
          <p:spPr>
            <a:xfrm>
              <a:off x="6324600" y="5334000"/>
              <a:ext cx="24765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47485" y="5556250"/>
              <a:ext cx="5348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spc="1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SCOPE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45580" y="5772150"/>
              <a:ext cx="2268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× Huawei × Xiaomi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519154" y="643255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01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06780" y="584200"/>
            <a:ext cx="397306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TIMELINE · 2011 — 2026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8586" y="1022350"/>
            <a:ext cx="403174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苹果智能家居演进史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638300"/>
            <a:ext cx="2095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6" name="Line 6"/>
          <p:cNvSpPr/>
          <p:nvPr/>
        </p:nvSpPr>
        <p:spPr>
          <a:xfrm>
            <a:off x="1143000" y="38100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28575">
            <a:solidFill>
              <a:srgbClr val="1E3A5F"/>
            </a:solidFill>
          </a:ln>
        </p:spPr>
      </p:sp>
      <p:grpSp>
        <p:nvGrpSpPr>
          <p:cNvPr id="13" name="Group 13"/>
          <p:cNvGrpSpPr/>
          <p:nvPr/>
        </p:nvGrpSpPr>
        <p:grpSpPr>
          <a:xfrm>
            <a:off x="685800" y="3416300"/>
            <a:ext cx="1295400" cy="1651000"/>
            <a:chOff x="685800" y="3416300"/>
            <a:chExt cx="1295400" cy="1651000"/>
          </a:xfrm>
        </p:grpSpPr>
        <p:sp>
          <p:nvSpPr>
            <p:cNvPr id="7" name="Ellipse 7"/>
            <p:cNvSpPr/>
            <p:nvPr/>
          </p:nvSpPr>
          <p:spPr>
            <a:xfrm>
              <a:off x="1238250" y="3714750"/>
              <a:ext cx="190500" cy="1905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26731" y="341630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2011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5800" y="4038600"/>
              <a:ext cx="1295400" cy="1028700"/>
            </a:xfrm>
            <a:prstGeom prst="roundRect">
              <a:avLst>
                <a:gd name="adj" fmla="val 925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3893" y="4152900"/>
              <a:ext cx="7792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iPhone 4S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9481" y="4419600"/>
              <a:ext cx="768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Siri 语音首秀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0837" y="462915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语音交互概念引入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476500" y="3416300"/>
            <a:ext cx="1295400" cy="1651000"/>
            <a:chOff x="2476500" y="3416300"/>
            <a:chExt cx="1295400" cy="1651000"/>
          </a:xfrm>
        </p:grpSpPr>
        <p:sp>
          <p:nvSpPr>
            <p:cNvPr id="14" name="Ellipse 14"/>
            <p:cNvSpPr/>
            <p:nvPr/>
          </p:nvSpPr>
          <p:spPr>
            <a:xfrm>
              <a:off x="3028950" y="3714750"/>
              <a:ext cx="190500" cy="1905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917431" y="341630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2014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476500" y="4038600"/>
              <a:ext cx="1295400" cy="1028700"/>
            </a:xfrm>
            <a:prstGeom prst="roundRect">
              <a:avLst>
                <a:gd name="adj" fmla="val 925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790612" y="4152900"/>
              <a:ext cx="6671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HomeKit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723464" y="44196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统一智能家居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723464" y="462915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通信协议框架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267200" y="3416300"/>
            <a:ext cx="1295400" cy="1651000"/>
            <a:chOff x="4267200" y="3416300"/>
            <a:chExt cx="1295400" cy="1651000"/>
          </a:xfrm>
        </p:grpSpPr>
        <p:sp>
          <p:nvSpPr>
            <p:cNvPr id="21" name="Ellipse 21"/>
            <p:cNvSpPr/>
            <p:nvPr/>
          </p:nvSpPr>
          <p:spPr>
            <a:xfrm>
              <a:off x="4819650" y="3714750"/>
              <a:ext cx="190500" cy="1905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708131" y="341630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2016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267200" y="4038600"/>
              <a:ext cx="1295400" cy="1028700"/>
            </a:xfrm>
            <a:prstGeom prst="roundRect">
              <a:avLst>
                <a:gd name="adj" fmla="val 925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559766" y="4152900"/>
              <a:ext cx="710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HomePod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10397" y="4419600"/>
              <a:ext cx="8090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音频中枢+Siri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14164" y="462915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音乐交互入口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57900" y="3416300"/>
            <a:ext cx="1295400" cy="1651000"/>
            <a:chOff x="6057900" y="3416300"/>
            <a:chExt cx="1295400" cy="1651000"/>
          </a:xfrm>
        </p:grpSpPr>
        <p:sp>
          <p:nvSpPr>
            <p:cNvPr id="28" name="Ellipse 28"/>
            <p:cNvSpPr/>
            <p:nvPr/>
          </p:nvSpPr>
          <p:spPr>
            <a:xfrm>
              <a:off x="6610350" y="3714750"/>
              <a:ext cx="190500" cy="1905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98831" y="341630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2018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057900" y="4038600"/>
              <a:ext cx="1295400" cy="1028700"/>
            </a:xfrm>
            <a:prstGeom prst="roundRect">
              <a:avLst>
                <a:gd name="adj" fmla="val 925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63983" y="4152900"/>
              <a:ext cx="1083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HomePod mini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70828" y="441960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低价位入口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38900" y="462915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扩大生态普及度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848600" y="3416300"/>
            <a:ext cx="1295400" cy="1651000"/>
            <a:chOff x="7848600" y="3416300"/>
            <a:chExt cx="1295400" cy="1651000"/>
          </a:xfrm>
        </p:grpSpPr>
        <p:sp>
          <p:nvSpPr>
            <p:cNvPr id="35" name="Ellipse 35"/>
            <p:cNvSpPr/>
            <p:nvPr/>
          </p:nvSpPr>
          <p:spPr>
            <a:xfrm>
              <a:off x="8401050" y="3714750"/>
              <a:ext cx="190500" cy="1905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289531" y="341630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2023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848600" y="4038600"/>
              <a:ext cx="1295400" cy="1028700"/>
            </a:xfrm>
            <a:prstGeom prst="roundRect">
              <a:avLst>
                <a:gd name="adj" fmla="val 925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082286" y="4152900"/>
              <a:ext cx="8280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Vision Pro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95564" y="44196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空间计算入口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75758" y="4629150"/>
              <a:ext cx="104108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家居 AR/VR 可能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505950" y="3416300"/>
            <a:ext cx="1562100" cy="1765300"/>
            <a:chOff x="9505950" y="3416300"/>
            <a:chExt cx="1562100" cy="1765300"/>
          </a:xfrm>
        </p:grpSpPr>
        <p:sp>
          <p:nvSpPr>
            <p:cNvPr id="42" name="Ellipse 42"/>
            <p:cNvSpPr/>
            <p:nvPr/>
          </p:nvSpPr>
          <p:spPr>
            <a:xfrm>
              <a:off x="10163175" y="368617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glow rad="66675">
                <a:srgbClr val="000000">
                  <a:alpha val="30000"/>
                </a:srgbClr>
              </a:glow>
            </a:effectLst>
          </p:spPr>
        </p:sp>
        <p:sp>
          <p:nvSpPr>
            <p:cNvPr id="43" name="TextBox 43"/>
            <p:cNvSpPr txBox="1"/>
            <p:nvPr/>
          </p:nvSpPr>
          <p:spPr>
            <a:xfrm>
              <a:off x="10080231" y="341630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A5F3FC"/>
                  </a:solidFill>
                  <a:latin typeface="Consolas"/>
                  <a:ea typeface="Consolas"/>
                  <a:cs typeface="Consolas"/>
                </a:rPr>
                <a:t>2026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505950" y="4038600"/>
              <a:ext cx="1562100" cy="1143000"/>
            </a:xfrm>
            <a:prstGeom prst="roundRect">
              <a:avLst>
                <a:gd name="adj" fmla="val 8333"/>
              </a:avLst>
            </a:prstGeom>
            <a:solidFill>
              <a:srgbClr val="0E2440"/>
            </a:solidFill>
            <a:ln w="19050">
              <a:solidFill>
                <a:schemeClr val="accent1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612573" y="4152900"/>
              <a:ext cx="13488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A5F3FC"/>
                  </a:solidFill>
                  <a:latin typeface="+mn-lt"/>
                  <a:ea typeface="+mn-ea"/>
                  <a:cs typeface="+mn-cs"/>
                </a:rPr>
                <a:t>'Welcome Home'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08074" y="4419600"/>
              <a:ext cx="9578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HomeView 中枢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754337" y="462915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家庭操作系统战略</a:t>
              </a:r>
            </a:p>
          </p:txBody>
        </p:sp>
      </p:grpSp>
      <p:sp>
        <p:nvSpPr>
          <p:cNvPr id="49" name="Rectangle 49"/>
          <p:cNvSpPr/>
          <p:nvPr/>
        </p:nvSpPr>
        <p:spPr>
          <a:xfrm>
            <a:off x="914400" y="5715000"/>
            <a:ext cx="10363200" cy="6858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1173480" y="5975350"/>
            <a:ext cx="105225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核心洞察：</a:t>
            </a:r>
            <a:r>
              <a:rPr lang="zh-CN" sz="15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从「零散硬件」到「系统级平台」</a:t>
            </a:r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——HomeView 作为中央枢纽，统一所有智能家庭设备的控制、场景与数据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519154" y="643255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02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ltUpDiag">
            <a:fgClr>
              <a:srgbClr val="1E3A5F">
                <a:alpha val="40000"/>
              </a:srgbClr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07542" y="596900"/>
            <a:ext cx="35172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spc="225" dirty="0">
                <a:solidFill>
                  <a:srgbClr val="A5F3FC"/>
                </a:solidFill>
                <a:latin typeface="Consolas"/>
                <a:ea typeface="Microsoft YaHei"/>
                <a:cs typeface="Consolas"/>
              </a:rPr>
              <a:t>// PRESENTATION · 发布会主题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8586" y="927100"/>
            <a:ext cx="447598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发布会主题及核心亮点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524000"/>
            <a:ext cx="3048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20000">
                <a:schemeClr val="accent1"/>
              </a:gs>
              <a:gs pos="80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914400" y="2095500"/>
            <a:ext cx="3429000" cy="3810000"/>
            <a:chOff x="914400" y="2095500"/>
            <a:chExt cx="3429000" cy="38100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3429000" cy="3810000"/>
            </a:xfrm>
            <a:prstGeom prst="roundRect">
              <a:avLst>
                <a:gd name="adj" fmla="val 4444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914400" y="2095500"/>
              <a:ext cx="3429000" cy="609600"/>
            </a:xfrm>
            <a:prstGeom prst="roundRect">
              <a:avLst>
                <a:gd name="adj" fmla="val 25000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5380" y="23368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发布会主题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2332" y="2794000"/>
              <a:ext cx="236049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'Welcome Home'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6142" y="335915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在家，焕新启幕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6904" y="3752850"/>
              <a:ext cx="1560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标记着Apple正式进入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6904" y="403860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「家庭操作系统」时代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43000" y="4667250"/>
              <a:ext cx="2971800" cy="1143000"/>
            </a:xfrm>
            <a:prstGeom prst="roundRect">
              <a:avLst>
                <a:gd name="adj" fmla="val 10000"/>
              </a:avLst>
            </a:prstGeom>
            <a:solidFill>
              <a:srgbClr val="0E2440"/>
            </a:solidFill>
            <a:ln w="9525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51585" y="4813300"/>
              <a:ext cx="9383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-- Tim Cook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50442" y="5054600"/>
              <a:ext cx="1221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「This is a day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50442" y="5302250"/>
              <a:ext cx="12563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 are bringing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50442" y="5568950"/>
              <a:ext cx="13472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 into focus.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610100" y="2095500"/>
            <a:ext cx="3429000" cy="3810000"/>
            <a:chOff x="4610100" y="2095500"/>
            <a:chExt cx="3429000" cy="3810000"/>
          </a:xfrm>
        </p:grpSpPr>
        <p:sp>
          <p:nvSpPr>
            <p:cNvPr id="19" name="Rectangle 19"/>
            <p:cNvSpPr/>
            <p:nvPr/>
          </p:nvSpPr>
          <p:spPr>
            <a:xfrm>
              <a:off x="4610100" y="2095500"/>
              <a:ext cx="3429000" cy="3810000"/>
            </a:xfrm>
            <a:prstGeom prst="roundRect">
              <a:avLst>
                <a:gd name="adj" fmla="val 4444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610100" y="2095500"/>
              <a:ext cx="3429000" cy="609600"/>
            </a:xfrm>
            <a:prstGeom prst="roundRect">
              <a:avLst>
                <a:gd name="adj" fmla="val 25000"/>
              </a:avLst>
            </a:prstGeom>
            <a:solidFill>
              <a:schemeClr val="accent2">
                <a:alpha val="10000"/>
              </a:scheme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831080" y="23368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4B5F9"/>
                  </a:solidFill>
                  <a:latin typeface="Consolas"/>
                  <a:ea typeface="Microsoft YaHei"/>
                  <a:cs typeface="Consolas"/>
                </a:rPr>
                <a:t>发布会主要环节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4838700" y="30480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28575">
              <a:solidFill>
                <a:srgbClr val="1E3A5F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4743450" y="2952750"/>
              <a:ext cx="190500" cy="1905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0E183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029200" y="2933700"/>
              <a:ext cx="2286000" cy="228600"/>
            </a:xfrm>
            <a:prstGeom prst="roundRect">
              <a:avLst>
                <a:gd name="adj" fmla="val 33333"/>
              </a:avLst>
            </a:prstGeom>
            <a:solidFill>
              <a:srgbClr val="0E2440"/>
            </a:solidFill>
            <a:ln w="9525">
              <a:solidFill>
                <a:srgbClr val="1E3A5F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099685" y="2965450"/>
              <a:ext cx="10023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开场致辞 5min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4743450" y="3524250"/>
              <a:ext cx="190500" cy="190500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rgbClr val="0E183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029200" y="3505200"/>
              <a:ext cx="2286000" cy="228600"/>
            </a:xfrm>
            <a:prstGeom prst="roundRect">
              <a:avLst>
                <a:gd name="adj" fmla="val 33333"/>
              </a:avLst>
            </a:prstGeom>
            <a:solidFill>
              <a:srgbClr val="0E2440"/>
            </a:solidFill>
            <a:ln w="9525">
              <a:solidFill>
                <a:srgbClr val="1E3A5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099685" y="3536950"/>
              <a:ext cx="15666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HomeView 介绍 12min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4743450" y="4095750"/>
              <a:ext cx="190500" cy="190500"/>
            </a:xfrm>
            <a:prstGeom prst="ellipse">
              <a:avLst/>
            </a:prstGeom>
            <a:solidFill>
              <a:srgbClr val="0E99FF"/>
            </a:solidFill>
            <a:ln w="28575">
              <a:solidFill>
                <a:srgbClr val="0E183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029200" y="4076700"/>
              <a:ext cx="2286000" cy="228600"/>
            </a:xfrm>
            <a:prstGeom prst="roundRect">
              <a:avLst>
                <a:gd name="adj" fmla="val 33333"/>
              </a:avLst>
            </a:prstGeom>
            <a:solidFill>
              <a:srgbClr val="0E2440"/>
            </a:solidFill>
            <a:ln w="9525">
              <a:solidFill>
                <a:srgbClr val="1E3A5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099685" y="4108450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硬件发布 20min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4743450" y="4667250"/>
              <a:ext cx="190500" cy="190500"/>
            </a:xfrm>
            <a:prstGeom prst="ellipse">
              <a:avLst/>
            </a:prstGeom>
            <a:solidFill>
              <a:srgbClr val="E96A68"/>
            </a:solidFill>
            <a:ln w="28575">
              <a:solidFill>
                <a:srgbClr val="0E1830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029200" y="4648200"/>
              <a:ext cx="2286000" cy="228600"/>
            </a:xfrm>
            <a:prstGeom prst="roundRect">
              <a:avLst>
                <a:gd name="adj" fmla="val 33333"/>
              </a:avLst>
            </a:prstGeom>
            <a:solidFill>
              <a:srgbClr val="0E2440"/>
            </a:solidFill>
            <a:ln w="9525">
              <a:solidFill>
                <a:srgbClr val="1E3A5F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099685" y="4679950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软件生态 15min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4743450" y="5238750"/>
              <a:ext cx="190500" cy="190500"/>
            </a:xfrm>
            <a:prstGeom prst="ellipse">
              <a:avLst/>
            </a:prstGeom>
            <a:solidFill>
              <a:srgbClr val="F9C80E"/>
            </a:solidFill>
            <a:ln w="28575">
              <a:solidFill>
                <a:srgbClr val="0E183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029200" y="5219700"/>
              <a:ext cx="2286000" cy="228600"/>
            </a:xfrm>
            <a:prstGeom prst="roundRect">
              <a:avLst>
                <a:gd name="adj" fmla="val 33333"/>
              </a:avLst>
            </a:prstGeom>
            <a:solidFill>
              <a:srgbClr val="0E2440"/>
            </a:solidFill>
            <a:ln w="9525">
              <a:solidFill>
                <a:srgbClr val="1E3A5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099685" y="5251450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场景演示 18min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191500" y="2095500"/>
            <a:ext cx="3429000" cy="4572000"/>
            <a:chOff x="8191500" y="2095500"/>
            <a:chExt cx="3429000" cy="4572000"/>
          </a:xfrm>
        </p:grpSpPr>
        <p:sp>
          <p:nvSpPr>
            <p:cNvPr id="39" name="Rectangle 39"/>
            <p:cNvSpPr/>
            <p:nvPr/>
          </p:nvSpPr>
          <p:spPr>
            <a:xfrm>
              <a:off x="8191500" y="2095500"/>
              <a:ext cx="3429000" cy="3810000"/>
            </a:xfrm>
            <a:prstGeom prst="roundRect">
              <a:avLst>
                <a:gd name="adj" fmla="val 4444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191500" y="2095500"/>
              <a:ext cx="3429000" cy="609600"/>
            </a:xfrm>
            <a:prstGeom prst="roundRect">
              <a:avLst>
                <a:gd name="adj" fmla="val 25000"/>
              </a:avLst>
            </a:prstGeom>
            <a:solidFill>
              <a:srgbClr val="0E99FF">
                <a:alpha val="10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12480" y="23368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发布会亮点深度解读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420100" y="3048000"/>
              <a:ext cx="2971800" cy="762000"/>
            </a:xfrm>
            <a:prstGeom prst="roundRect">
              <a:avLst>
                <a:gd name="adj" fmla="val 15000"/>
              </a:avLst>
            </a:prstGeom>
            <a:solidFill>
              <a:srgbClr val="0E2440"/>
            </a:solidFill>
            <a:ln w="9525">
              <a:solidFill>
                <a:srgbClr val="1E3A5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527542" y="318770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生态合作伙伴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28685" y="3498850"/>
              <a:ext cx="1573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LG + Schneider + ADT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420100" y="4000500"/>
              <a:ext cx="2971800" cy="762000"/>
            </a:xfrm>
            <a:prstGeom prst="roundRect">
              <a:avLst>
                <a:gd name="adj" fmla="val 15000"/>
              </a:avLst>
            </a:prstGeom>
            <a:solidFill>
              <a:srgbClr val="0E2440"/>
            </a:solidFill>
            <a:ln w="9525">
              <a:solidFill>
                <a:srgbClr val="1E3A5F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527542" y="4140200"/>
              <a:ext cx="11223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HomeOS 2.0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528685" y="4451350"/>
              <a:ext cx="1881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本地处理 85% + Cloud 15%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420100" y="4953000"/>
              <a:ext cx="2971800" cy="762000"/>
            </a:xfrm>
            <a:prstGeom prst="roundRect">
              <a:avLst>
                <a:gd name="adj" fmla="val 15000"/>
              </a:avLst>
            </a:prstGeom>
            <a:solidFill>
              <a:srgbClr val="0E2440"/>
            </a:solidFill>
            <a:ln w="9525">
              <a:solidFill>
                <a:srgbClr val="1E3A5F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527542" y="5092700"/>
              <a:ext cx="13855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HomePod 2 升级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528685" y="5403850"/>
              <a:ext cx="16330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2× drivers + 2× tweeters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420100" y="5905500"/>
              <a:ext cx="2971800" cy="762000"/>
            </a:xfrm>
            <a:prstGeom prst="roundRect">
              <a:avLst>
                <a:gd name="adj" fmla="val 15000"/>
              </a:avLst>
            </a:prstGeom>
            <a:solidFill>
              <a:srgbClr val="0E2440"/>
            </a:solidFill>
            <a:ln w="9525">
              <a:solidFill>
                <a:srgbClr val="1E3A5F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527542" y="60452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传感器阵列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28685" y="6356350"/>
              <a:ext cx="1862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温/湿度、运动、光照、杂质</a:t>
              </a:r>
            </a:p>
          </p:txBody>
        </p:sp>
      </p:grpSp>
      <p:sp>
        <p:nvSpPr>
          <p:cNvPr id="55" name="Rectangle 55"/>
          <p:cNvSpPr/>
          <p:nvPr/>
        </p:nvSpPr>
        <p:spPr>
          <a:xfrm>
            <a:off x="914400" y="6210300"/>
            <a:ext cx="10363200" cy="381000"/>
          </a:xfrm>
          <a:prstGeom prst="roundRect">
            <a:avLst>
              <a:gd name="adj" fmla="val 20000"/>
            </a:avLst>
          </a:prstGeom>
          <a:solidFill>
            <a:schemeClr val="accent5">
              <a:alpha val="80000"/>
            </a:schemeClr>
          </a:solidFill>
          <a:ln w="9525">
            <a:solidFill>
              <a:srgbClr val="1E3A5F">
                <a:alpha val="80000"/>
              </a:srgbClr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1175766" y="6330950"/>
            <a:ext cx="36868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Apple HomeView 生态战略全面落地 · 三方硬件合作验证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519154" y="643255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03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06780" y="584200"/>
            <a:ext cx="31798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HOMEVIEW · 硬件拆解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8586" y="1022350"/>
            <a:ext cx="4993341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HomeView 硬件深度拆解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638300"/>
            <a:ext cx="2095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1333500" y="2286000"/>
            <a:ext cx="4381500" cy="3048000"/>
            <a:chOff x="1333500" y="2286000"/>
            <a:chExt cx="4381500" cy="3048000"/>
          </a:xfrm>
        </p:grpSpPr>
        <p:sp>
          <p:nvSpPr>
            <p:cNvPr id="6" name="Rectangle 6"/>
            <p:cNvSpPr/>
            <p:nvPr/>
          </p:nvSpPr>
          <p:spPr>
            <a:xfrm>
              <a:off x="1333500" y="2286000"/>
              <a:ext cx="4381500" cy="3048000"/>
            </a:xfrm>
            <a:prstGeom prst="roundRect">
              <a:avLst>
                <a:gd name="adj" fmla="val 6250"/>
              </a:avLst>
            </a:prstGeom>
            <a:solidFill>
              <a:schemeClr val="accent5"/>
            </a:solidFill>
            <a:ln w="14288">
              <a:solidFill>
                <a:srgbClr val="1E3A5F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562100" y="2514600"/>
              <a:ext cx="3924300" cy="1143000"/>
            </a:xfrm>
            <a:prstGeom prst="roundRect">
              <a:avLst>
                <a:gd name="adj" fmla="val 11667"/>
              </a:avLst>
            </a:prstGeom>
            <a:solidFill>
              <a:srgbClr val="0A1628"/>
            </a:solidFill>
            <a:ln w="19050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47266" y="2778125"/>
              <a:ext cx="9206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HOME VIEW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41170" y="30543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控制中心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600200" y="3848100"/>
              <a:ext cx="1714500" cy="514350"/>
            </a:xfrm>
            <a:prstGeom prst="roundRect">
              <a:avLst>
                <a:gd name="adj" fmla="val 18519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709547" y="4000500"/>
              <a:ext cx="62336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7" 显示屏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390900" y="3848100"/>
              <a:ext cx="2095500" cy="514350"/>
            </a:xfrm>
            <a:prstGeom prst="roundRect">
              <a:avLst>
                <a:gd name="adj" fmla="val 18519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00247" y="4000500"/>
              <a:ext cx="15583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A18 + NeuralEngine 6T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1695450" y="4953000"/>
              <a:ext cx="114300" cy="114300"/>
            </a:xfrm>
            <a:prstGeom prst="ellipse">
              <a:avLst/>
            </a:prstGeom>
            <a:solidFill>
              <a:srgbClr val="A3E635"/>
            </a:solidFill>
            <a:ln>
              <a:noFill/>
            </a:ln>
            <a:effectLst>
              <a:glow rad="57150">
                <a:srgbClr val="000000">
                  <a:alpha val="30000"/>
                </a:srgbClr>
              </a:glow>
            </a:effectLst>
          </p:spPr>
        </p:sp>
        <p:sp>
          <p:nvSpPr>
            <p:cNvPr id="15" name="TextBox 15"/>
            <p:cNvSpPr txBox="1"/>
            <p:nvPr/>
          </p:nvSpPr>
          <p:spPr>
            <a:xfrm>
              <a:off x="1918335" y="4927600"/>
              <a:ext cx="2861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Wi-Fi 6E · Thread 1.3 · Zigbee 3.0 · PoE+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96000" y="2286000"/>
            <a:ext cx="5524500" cy="2895600"/>
            <a:chOff x="6096000" y="2286000"/>
            <a:chExt cx="5524500" cy="2895600"/>
          </a:xfrm>
        </p:grpSpPr>
        <p:sp>
          <p:nvSpPr>
            <p:cNvPr id="17" name="Rectangle 17"/>
            <p:cNvSpPr/>
            <p:nvPr/>
          </p:nvSpPr>
          <p:spPr>
            <a:xfrm>
              <a:off x="6096000" y="2286000"/>
              <a:ext cx="5524500" cy="419100"/>
            </a:xfrm>
            <a:prstGeom prst="roundRect">
              <a:avLst>
                <a:gd name="adj" fmla="val 18182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18504" y="24193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屏幕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04404" y="2419350"/>
              <a:ext cx="27967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7" LG 有机 EL · 400 nits · 常亮模式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96000" y="2781300"/>
              <a:ext cx="5524500" cy="419100"/>
            </a:xfrm>
            <a:prstGeom prst="roundRect">
              <a:avLst>
                <a:gd name="adj" fmla="val 18182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18504" y="29146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芯片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04404" y="2914650"/>
              <a:ext cx="31145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A18 dual-core + NeuralEngine 6T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96000" y="3276600"/>
              <a:ext cx="5524500" cy="419100"/>
            </a:xfrm>
            <a:prstGeom prst="roundRect">
              <a:avLst>
                <a:gd name="adj" fmla="val 18182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18504" y="34099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内存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04404" y="3409950"/>
              <a:ext cx="23432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2GB LPDDR5 · 8GB eMMC 存储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096000" y="3771900"/>
              <a:ext cx="5524500" cy="419100"/>
            </a:xfrm>
            <a:prstGeom prst="roundRect">
              <a:avLst>
                <a:gd name="adj" fmla="val 18182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18504" y="39052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接口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04404" y="3905250"/>
              <a:ext cx="37859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6E · Thread 1.3 · Zigbee 3.0 · Ethernet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096000" y="4267200"/>
              <a:ext cx="5524500" cy="419100"/>
            </a:xfrm>
            <a:prstGeom prst="roundRect">
              <a:avLst>
                <a:gd name="adj" fmla="val 18182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18504" y="44005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电源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04404" y="4400550"/>
              <a:ext cx="22433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PoE+ / 110-240V 电源适配器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096000" y="4762500"/>
              <a:ext cx="5524500" cy="419100"/>
            </a:xfrm>
            <a:prstGeom prst="roundRect">
              <a:avLst>
                <a:gd name="adj" fmla="val 18182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18504" y="48958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尺寸重量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04404" y="4895850"/>
              <a:ext cx="20730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185 × 120 × 18 mm · 420 g</a:t>
              </a:r>
            </a:p>
          </p:txBody>
        </p:sp>
      </p:grpSp>
      <p:sp>
        <p:nvSpPr>
          <p:cNvPr id="36" name="Rectangle 36"/>
          <p:cNvSpPr/>
          <p:nvPr/>
        </p:nvSpPr>
        <p:spPr>
          <a:xfrm>
            <a:off x="914400" y="5715000"/>
            <a:ext cx="10363200" cy="6858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173861" y="5861050"/>
            <a:ext cx="518288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HomeOS 2.0 · </a:t>
            </a:r>
            <a:r>
              <a:rPr lang="zh-CN" sz="142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本地处理 85%</a:t>
            </a:r>
            <a:r>
              <a: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 · Siri 支持 11 种角色声纹识别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75385" y="6127750"/>
            <a:ext cx="507340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隐私优先架构：本地处理 85% · Cloud 仅 15% · 用户随时导出/删除个人数据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519154" y="643255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04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06780" y="584200"/>
            <a:ext cx="716716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COMPARISON MATRIX · Apple × Huawei × Xiaomi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0110" y="1060450"/>
            <a:ext cx="40690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三方核心产品对比矩阵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6383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80" name="Group 80"/>
          <p:cNvGrpSpPr/>
          <p:nvPr/>
        </p:nvGrpSpPr>
        <p:grpSpPr>
          <a:xfrm>
            <a:off x="571500" y="2095500"/>
            <a:ext cx="11334750" cy="4648200"/>
            <a:chOff x="571500" y="2095500"/>
            <a:chExt cx="11334750" cy="4648200"/>
          </a:xfrm>
        </p:grpSpPr>
        <p:sp>
          <p:nvSpPr>
            <p:cNvPr id="6" name="Rectangle 6"/>
            <p:cNvSpPr/>
            <p:nvPr/>
          </p:nvSpPr>
          <p:spPr>
            <a:xfrm>
              <a:off x="571500" y="2095500"/>
              <a:ext cx="2476500" cy="533400"/>
            </a:xfrm>
            <a:prstGeom prst="roundRect">
              <a:avLst>
                <a:gd name="adj" fmla="val 1785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57122" y="224472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对比维度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3143250" y="2095500"/>
              <a:ext cx="285750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268781" y="2244725"/>
              <a:ext cx="6064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0" y="2095500"/>
              <a:ext cx="285750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rgbClr val="F59E0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133795" y="2244725"/>
              <a:ext cx="781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048750" y="2095500"/>
              <a:ext cx="285750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rgbClr val="10B98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115974" y="2244725"/>
              <a:ext cx="7230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705100"/>
              <a:ext cx="2476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3242" y="29305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核心芯片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143250" y="27051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308223" y="2857500"/>
              <a:ext cx="190666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A18 + NeuralEngine 6T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09366" y="3092450"/>
              <a:ext cx="9329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业界最强 NPU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0" y="27051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60973" y="2857500"/>
              <a:ext cx="197951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Kirin 910 + AI Core 3.0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62116" y="30924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平衡能效与性能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048750" y="27051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13723" y="2857500"/>
              <a:ext cx="145492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 AI Chip X2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214866" y="3092450"/>
              <a:ext cx="8980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入门/中端定位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71500" y="3390900"/>
              <a:ext cx="2476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93242" y="361632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显示屏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143250" y="33909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308604" y="3543300"/>
              <a:ext cx="19518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7" LG 有机 EL · 400 nits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09366" y="37592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常亮模式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096000" y="33909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60973" y="3543300"/>
              <a:ext cx="211753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5.5" AMOLED · 350 nits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62116" y="37592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色彩鲜艳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048750" y="33909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213723" y="3543300"/>
              <a:ext cx="171788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6.8" LCD · 300 nits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214866" y="37592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成本优先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71500" y="4076700"/>
              <a:ext cx="2476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93242" y="43021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语音助手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143250" y="40767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308223" y="4229100"/>
              <a:ext cx="124150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Siri 上下文感知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309366" y="4464050"/>
              <a:ext cx="14050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11 种角色声纹 · 98%+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96000" y="40767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60973" y="4229100"/>
              <a:ext cx="12175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Celia 85% 本地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62116" y="44640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跨设备协同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048750" y="40767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213723" y="4229100"/>
              <a:ext cx="149011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小爱同学 92% 本地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14866" y="446405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中文生态丰富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71500" y="4762500"/>
              <a:ext cx="2476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93242" y="49879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生态合作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143250" y="47625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308223" y="4914900"/>
              <a:ext cx="18198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LG + Schneider + ADT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309366" y="514985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三方硬件联盟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096000" y="47625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260973" y="4914900"/>
              <a:ext cx="164372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Hisense + Hikvision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262116" y="51498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国产供应链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9048750" y="47625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213723" y="4914900"/>
              <a:ext cx="172172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Mi Home + 200+ 生态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214866" y="51498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最开放生态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71500" y="5448300"/>
              <a:ext cx="2476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93242" y="56737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隐私模型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143250" y="54483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308223" y="5600700"/>
              <a:ext cx="181225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本地 85% + Cloud 15%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309366" y="58356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业界最高隐私承诺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096000" y="54483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260973" y="5600700"/>
              <a:ext cx="181225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本地 60% + Cloud 40%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262116" y="58356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中等级别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048750" y="54483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213723" y="5600700"/>
              <a:ext cx="181225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本地 50% + Cloud 50%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214866" y="58356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偏云端处理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71500" y="6134100"/>
              <a:ext cx="2476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93242" y="635952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价格段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3143250" y="61341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3308223" y="6286500"/>
              <a:ext cx="111662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¥799 - ¥1299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3309366" y="65214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旗舰定位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096000" y="61341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260973" y="6286500"/>
              <a:ext cx="101711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¥599 - ¥999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262116" y="65214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主流价位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9048750" y="61341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213723" y="6286500"/>
              <a:ext cx="101711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¥399 - ¥699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214866" y="65214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入门实惠</a:t>
              </a:r>
            </a:p>
          </p:txBody>
        </p:sp>
      </p:grpSp>
      <p:sp>
        <p:nvSpPr>
          <p:cNvPr id="81" name="Rectangle 81"/>
          <p:cNvSpPr/>
          <p:nvPr/>
        </p:nvSpPr>
        <p:spPr>
          <a:xfrm>
            <a:off x="914400" y="6000750"/>
            <a:ext cx="10363200" cy="533400"/>
          </a:xfrm>
          <a:prstGeom prst="roundRect">
            <a:avLst>
              <a:gd name="adj" fmla="val 21429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82" name="TextBox 82"/>
          <p:cNvSpPr txBox="1"/>
          <p:nvPr/>
        </p:nvSpPr>
        <p:spPr>
          <a:xfrm>
            <a:off x="1174242" y="6159500"/>
            <a:ext cx="801084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45732" indent="-145732">
              <a:buClr>
                <a:schemeClr val="accent1"/>
              </a:buClr>
              <a:buSzTx/>
              <a:buFontTx/>
              <a:buChar char="■"/>
            </a:pP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Apple 旗舰高价 + 隐私优先 · </a:t>
            </a:r>
            <a:r>
              <a:rPr lang="zh-CN" sz="1350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■</a:t>
            </a: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 Huawei 主流均衡 + 国产供应链 · </a:t>
            </a:r>
            <a:r>
              <a:rPr lang="zh-CN" sz="1350" dirty="0">
                <a:solidFill>
                  <a:srgbClr val="10B981"/>
                </a:solidFill>
                <a:latin typeface="+mn-lt"/>
                <a:ea typeface="+mn-ea"/>
                <a:cs typeface="+mn-cs"/>
              </a:rPr>
              <a:t>■</a:t>
            </a: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 Xiaomi 入门普及 + 生态最开放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1519154" y="643255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05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06780" y="584200"/>
            <a:ext cx="49400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STRATEGY &amp; FORECAST · 产业思考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8586" y="1022350"/>
            <a:ext cx="5808726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苹果对智能家居的思考与演进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638300"/>
            <a:ext cx="2286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914400" y="2190750"/>
            <a:ext cx="10363200" cy="1428750"/>
            <a:chOff x="914400" y="2190750"/>
            <a:chExt cx="10363200" cy="1428750"/>
          </a:xfrm>
        </p:grpSpPr>
        <p:sp>
          <p:nvSpPr>
            <p:cNvPr id="6" name="Rectangle 6"/>
            <p:cNvSpPr/>
            <p:nvPr/>
          </p:nvSpPr>
          <p:spPr>
            <a:xfrm>
              <a:off x="914400" y="2190750"/>
              <a:ext cx="2476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3470" y="2266950"/>
              <a:ext cx="3560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effectLst>
                    <a:glow rad="47625">
                      <a:srgbClr val="000000">
                        <a:alpha val="30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8423" y="2781300"/>
              <a:ext cx="87452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系统级竞争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309245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卖「家庭操作系统」体验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30200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而非单一硬件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543300" y="2190750"/>
              <a:ext cx="2476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93470" y="2266950"/>
              <a:ext cx="3560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effectLst>
                    <a:glow rad="47625">
                      <a:srgbClr val="000000">
                        <a:alpha val="30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8423" y="2781300"/>
              <a:ext cx="131866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硬件-软件一体化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566" y="3092450"/>
              <a:ext cx="1606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A18 专芯 + HomeOS 2.0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566" y="33020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形成不可分割的护城河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172200" y="2190750"/>
              <a:ext cx="2476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93470" y="2266950"/>
              <a:ext cx="3560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effectLst>
                    <a:glow rad="47625">
                      <a:srgbClr val="000000">
                        <a:alpha val="30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8423" y="2781300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生态同盟而非封闭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566" y="3092450"/>
              <a:ext cx="13866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LG / Schneider / ADT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566" y="33020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关键硬件上开放合作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801100" y="2190750"/>
              <a:ext cx="2476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93470" y="2266950"/>
              <a:ext cx="3560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effectLst>
                    <a:glow rad="47625">
                      <a:srgbClr val="000000">
                        <a:alpha val="30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8423" y="2781300"/>
              <a:ext cx="15637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隐私成为核心差异化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9566" y="3092450"/>
              <a:ext cx="8982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本地处理 85%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9566" y="3302000"/>
              <a:ext cx="16814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「可信任的家庭 OS」心智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07542" y="4044950"/>
            <a:ext cx="10370058" cy="1651000"/>
            <a:chOff x="907542" y="4044950"/>
            <a:chExt cx="10370058" cy="1651000"/>
          </a:xfrm>
        </p:grpSpPr>
        <p:sp>
          <p:nvSpPr>
            <p:cNvPr id="27" name="TextBox 27"/>
            <p:cNvSpPr txBox="1"/>
            <p:nvPr/>
          </p:nvSpPr>
          <p:spPr>
            <a:xfrm>
              <a:off x="907542" y="4044950"/>
              <a:ext cx="2449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ROADMAP · 演进预测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14400" y="4457700"/>
              <a:ext cx="10363200" cy="1238250"/>
            </a:xfrm>
            <a:prstGeom prst="roundRect">
              <a:avLst>
                <a:gd name="adj" fmla="val 1076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1104900" y="4667250"/>
              <a:ext cx="9791700" cy="838200"/>
              <a:chOff x="1104900" y="4667250"/>
              <a:chExt cx="9791700" cy="8382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1104900" y="4667250"/>
                <a:ext cx="2286000" cy="838200"/>
              </a:xfrm>
              <a:prstGeom prst="roundRect">
                <a:avLst>
                  <a:gd name="adj" fmla="val 11364"/>
                </a:avLst>
              </a:prstGeom>
              <a:solidFill>
                <a:srgbClr val="0E2440"/>
              </a:solidFill>
              <a:ln w="9525">
                <a:solidFill>
                  <a:srgbClr val="1E3A5F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251585" y="4794250"/>
                <a:ext cx="62476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2027 Q1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251204" y="5048250"/>
                <a:ext cx="9976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HomeOS 2.1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252347" y="5295900"/>
                <a:ext cx="66954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跨协议调和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3581400" y="4667250"/>
                <a:ext cx="2286000" cy="838200"/>
              </a:xfrm>
              <a:prstGeom prst="roundRect">
                <a:avLst>
                  <a:gd name="adj" fmla="val 11364"/>
                </a:avLst>
              </a:prstGeom>
              <a:solidFill>
                <a:srgbClr val="0E2440"/>
              </a:solidFill>
              <a:ln w="9525">
                <a:solidFill>
                  <a:srgbClr val="1E3A5F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3728085" y="4794250"/>
                <a:ext cx="62476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2027 Q2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727704" y="5048250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传感器微型化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728847" y="5295900"/>
                <a:ext cx="838121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嵌入家电/灯具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6057900" y="4667250"/>
                <a:ext cx="2286000" cy="838200"/>
              </a:xfrm>
              <a:prstGeom prst="roundRect">
                <a:avLst>
                  <a:gd name="adj" fmla="val 11364"/>
                </a:avLst>
              </a:prstGeom>
              <a:solidFill>
                <a:srgbClr val="0E2440"/>
              </a:solidFill>
              <a:ln w="9525">
                <a:solidFill>
                  <a:srgbClr val="1E3A5F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204585" y="4794250"/>
                <a:ext cx="62476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2027 Q3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204204" y="5048250"/>
                <a:ext cx="136418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Vision Pro 家庭版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205347" y="5295900"/>
                <a:ext cx="933399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空间计算进客厅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8534400" y="4667250"/>
                <a:ext cx="2362200" cy="838200"/>
              </a:xfrm>
              <a:prstGeom prst="roundRect">
                <a:avLst>
                  <a:gd name="adj" fmla="val 11364"/>
                </a:avLst>
              </a:prstGeom>
              <a:solidFill>
                <a:srgbClr val="0E2440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8681085" y="4794250"/>
                <a:ext cx="62476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A5F3FC"/>
                    </a:solidFill>
                    <a:latin typeface="Consolas"/>
                    <a:ea typeface="Consolas"/>
                    <a:cs typeface="Consolas"/>
                  </a:rPr>
                  <a:t>2028 Q1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680704" y="5048250"/>
                <a:ext cx="819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A5F3FC"/>
                    </a:solidFill>
                    <a:latin typeface="+mn-lt"/>
                    <a:ea typeface="+mn-ea"/>
                    <a:cs typeface="+mn-cs"/>
                  </a:rPr>
                  <a:t>跨平台开放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681847" y="5295900"/>
                <a:ext cx="111349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安卓/Windows API</a:t>
                </a:r>
              </a:p>
            </p:txBody>
          </p:sp>
        </p:grpSp>
      </p:grpSp>
      <p:sp>
        <p:nvSpPr>
          <p:cNvPr id="47" name="TextBox 47"/>
          <p:cNvSpPr txBox="1"/>
          <p:nvPr/>
        </p:nvSpPr>
        <p:spPr>
          <a:xfrm>
            <a:off x="11519154" y="643255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06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06780" y="584200"/>
            <a:ext cx="374218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CONCLUSION · 总结与建议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8586" y="1022350"/>
            <a:ext cx="3143250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结论与战略建议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638300"/>
            <a:ext cx="2095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33" name="Group 33"/>
          <p:cNvGrpSpPr/>
          <p:nvPr/>
        </p:nvGrpSpPr>
        <p:grpSpPr>
          <a:xfrm>
            <a:off x="571500" y="2095500"/>
            <a:ext cx="11239500" cy="2286000"/>
            <a:chOff x="571500" y="2095500"/>
            <a:chExt cx="11239500" cy="2286000"/>
          </a:xfrm>
        </p:grpSpPr>
        <p:sp>
          <p:nvSpPr>
            <p:cNvPr id="6" name="Rectangle 6"/>
            <p:cNvSpPr/>
            <p:nvPr/>
          </p:nvSpPr>
          <p:spPr>
            <a:xfrm>
              <a:off x="571500" y="2095500"/>
              <a:ext cx="3619500" cy="2286000"/>
            </a:xfrm>
            <a:prstGeom prst="roundRect">
              <a:avLst>
                <a:gd name="adj" fmla="val 6667"/>
              </a:avLst>
            </a:prstGeom>
            <a:solidFill>
              <a:schemeClr val="accent5"/>
            </a:solidFill>
            <a:ln w="14288">
              <a:solidFill>
                <a:srgbClr val="0EA5E9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2095500"/>
              <a:ext cx="3619500" cy="533400"/>
            </a:xfrm>
            <a:prstGeom prst="roundRect">
              <a:avLst>
                <a:gd name="adj" fmla="val 28571"/>
              </a:avLst>
            </a:prstGeom>
            <a:solidFill>
              <a:srgbClr val="0EA5E9">
                <a:alpha val="10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15309" y="2228850"/>
              <a:ext cx="21318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 · HomeView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4766" y="2844800"/>
              <a:ext cx="9142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POSITIONING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3242" y="3092450"/>
              <a:ext cx="19723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旗舰 · 高信任 · 隐私优先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00100" y="3429000"/>
              <a:ext cx="3162300" cy="57150"/>
            </a:xfrm>
            <a:prstGeom prst="roundRect">
              <a:avLst>
                <a:gd name="adj" fmla="val 50000"/>
              </a:avLst>
            </a:prstGeom>
            <a:solidFill>
              <a:srgbClr val="12233B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800100" y="3429000"/>
              <a:ext cx="31623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A5E9"/>
                </a:gs>
                <a:gs pos="100000">
                  <a:srgbClr val="6366F1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94385" y="3632200"/>
              <a:ext cx="18965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A18 + 本地 85% + 三方联盟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4766" y="3892550"/>
              <a:ext cx="19580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体验一致 · 系统统一 · 生态高端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381500" y="2095500"/>
              <a:ext cx="3619500" cy="2286000"/>
            </a:xfrm>
            <a:prstGeom prst="roundRect">
              <a:avLst>
                <a:gd name="adj" fmla="val 6667"/>
              </a:avLst>
            </a:prstGeom>
            <a:solidFill>
              <a:schemeClr val="accent5"/>
            </a:solidFill>
            <a:ln w="14288">
              <a:solidFill>
                <a:srgbClr val="F59E0B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381500" y="2095500"/>
              <a:ext cx="3619500" cy="533400"/>
            </a:xfrm>
            <a:prstGeom prst="roundRect">
              <a:avLst>
                <a:gd name="adj" fmla="val 28571"/>
              </a:avLst>
            </a:prstGeom>
            <a:solidFill>
              <a:srgbClr val="F59E0B">
                <a:alpha val="10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883589" y="2228850"/>
              <a:ext cx="26153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 · HomeSphere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766" y="2844800"/>
              <a:ext cx="9142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POSITIONING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03242" y="3092450"/>
              <a:ext cx="19723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中高端 · 生态协同 · 平衡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610100" y="3429000"/>
              <a:ext cx="3162300" cy="57150"/>
            </a:xfrm>
            <a:prstGeom prst="roundRect">
              <a:avLst>
                <a:gd name="adj" fmla="val 50000"/>
              </a:avLst>
            </a:prstGeom>
            <a:solidFill>
              <a:srgbClr val="12233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610100" y="3429000"/>
              <a:ext cx="22860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59E0B"/>
                </a:gs>
                <a:gs pos="100000">
                  <a:srgbClr val="EF4444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604385" y="3632200"/>
              <a:ext cx="15667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Kirin + 多模协同 + 平价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04766" y="3892550"/>
              <a:ext cx="16911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国产供应链 · 华为生态延展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191500" y="2095500"/>
              <a:ext cx="3619500" cy="2286000"/>
            </a:xfrm>
            <a:prstGeom prst="roundRect">
              <a:avLst>
                <a:gd name="adj" fmla="val 6667"/>
              </a:avLst>
            </a:prstGeom>
            <a:solidFill>
              <a:schemeClr val="accent5"/>
            </a:solidFill>
            <a:ln w="14288">
              <a:solidFill>
                <a:srgbClr val="10B981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8191500" y="2095500"/>
              <a:ext cx="3619500" cy="533400"/>
            </a:xfrm>
            <a:prstGeom prst="roundRect">
              <a:avLst>
                <a:gd name="adj" fmla="val 28571"/>
              </a:avLst>
            </a:pr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00017" y="2228850"/>
              <a:ext cx="26024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 · HomeMaster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14766" y="2844800"/>
              <a:ext cx="9142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POSITIONING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13242" y="3092450"/>
              <a:ext cx="16088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入门 · 性价比 · 普及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420100" y="3429000"/>
              <a:ext cx="3162300" cy="57150"/>
            </a:xfrm>
            <a:prstGeom prst="roundRect">
              <a:avLst>
                <a:gd name="adj" fmla="val 50000"/>
              </a:avLst>
            </a:prstGeom>
            <a:solidFill>
              <a:srgbClr val="12233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420100" y="3429000"/>
              <a:ext cx="17145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0B981"/>
                </a:gs>
                <a:gs pos="100000">
                  <a:srgbClr val="84CC16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14385" y="3632200"/>
              <a:ext cx="13944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¥399 起 + 200+ 配件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14766" y="3892550"/>
              <a:ext cx="16911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最开放生态 · 下沉市场主力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14400" y="4762500"/>
            <a:ext cx="10363200" cy="1333500"/>
            <a:chOff x="914400" y="4762500"/>
            <a:chExt cx="10363200" cy="1333500"/>
          </a:xfrm>
        </p:grpSpPr>
        <p:sp>
          <p:nvSpPr>
            <p:cNvPr id="34" name="Rectangle 34"/>
            <p:cNvSpPr/>
            <p:nvPr/>
          </p:nvSpPr>
          <p:spPr>
            <a:xfrm>
              <a:off x="914400" y="4762500"/>
              <a:ext cx="1036320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36904" y="4946650"/>
              <a:ext cx="16081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RECOMMENDATION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143000" y="5295900"/>
              <a:ext cx="3143250" cy="571500"/>
            </a:xfrm>
            <a:prstGeom prst="roundRect">
              <a:avLst>
                <a:gd name="adj" fmla="val 16667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289304" y="5391150"/>
              <a:ext cx="2023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高端商务/隐私敏感 → Apple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290447" y="5638800"/>
              <a:ext cx="13660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性能 + 隐私 + 系统统一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438650" y="5295900"/>
              <a:ext cx="3143250" cy="571500"/>
            </a:xfrm>
            <a:prstGeom prst="roundRect">
              <a:avLst>
                <a:gd name="adj" fmla="val 16667"/>
              </a:avLst>
            </a:prstGeom>
            <a:solidFill>
              <a:srgbClr val="0E2440"/>
            </a:solidFill>
            <a:ln w="9525">
              <a:solidFill>
                <a:srgbClr val="F59E0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584954" y="5391150"/>
              <a:ext cx="18281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中产/华为生态 → Huawei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86097" y="5638800"/>
              <a:ext cx="12340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协同 + 平价 + 国产链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734300" y="5295900"/>
              <a:ext cx="3143250" cy="571500"/>
            </a:xfrm>
            <a:prstGeom prst="roundRect">
              <a:avLst>
                <a:gd name="adj" fmla="val 16667"/>
              </a:avLst>
            </a:prstGeom>
            <a:solidFill>
              <a:srgbClr val="0E2440"/>
            </a:solidFill>
            <a:ln w="9525">
              <a:solidFill>
                <a:srgbClr val="10B981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880604" y="5391150"/>
              <a:ext cx="17853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学生/预算有限 → Xiaomi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81747" y="5638800"/>
              <a:ext cx="159757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¥399 + 200+ 配件 + 易上手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1519154" y="643255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07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50000">
              <a:srgbClr val="0A1120"/>
            </a:gs>
            <a:gs pos="100000">
              <a:srgbClr val="070C1A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FACC15"/>
              </a:gs>
              <a:gs pos="100000">
                <a:srgbClr val="F59E0B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76300" y="1803400"/>
            <a:ext cx="4763262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智能家居战争，已从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6300" y="2470150"/>
            <a:ext cx="791337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「卖硬件」转向</a:t>
            </a:r>
            <a:r>
              <a:rPr lang="zh-CN" sz="3900" b="1" dirty="0">
                <a:solidFill>
                  <a:srgbClr val="FACC15"/>
                </a:solidFill>
                <a:latin typeface="+mn-lt"/>
                <a:ea typeface="+mn-ea"/>
                <a:cs typeface="+mn-cs"/>
              </a:rPr>
              <a:t>「卖系统与体验」</a:t>
            </a:r>
          </a:p>
        </p:txBody>
      </p:sp>
      <p:sp>
        <p:nvSpPr>
          <p:cNvPr id="6" name="Rectangle 6"/>
          <p:cNvSpPr/>
          <p:nvPr/>
        </p:nvSpPr>
        <p:spPr>
          <a:xfrm>
            <a:off x="914400" y="3390900"/>
            <a:ext cx="495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ACC15"/>
              </a:gs>
              <a:gs pos="100000">
                <a:srgbClr val="F59E0B"/>
              </a:gs>
            </a:gsLst>
            <a:lin ang="0" scaled="1"/>
          </a:gra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914400" y="4000500"/>
            <a:ext cx="10382250" cy="1333500"/>
            <a:chOff x="914400" y="4000500"/>
            <a:chExt cx="10382250" cy="1333500"/>
          </a:xfrm>
        </p:grpSpPr>
        <p:sp>
          <p:nvSpPr>
            <p:cNvPr id="7" name="Rectangle 7"/>
            <p:cNvSpPr/>
            <p:nvPr/>
          </p:nvSpPr>
          <p:spPr>
            <a:xfrm>
              <a:off x="914400" y="4000500"/>
              <a:ext cx="333375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4288">
              <a:solidFill>
                <a:srgbClr val="0EA5E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7285" y="4241800"/>
              <a:ext cx="7123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APPLE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5761" y="4527550"/>
              <a:ext cx="17745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系统统一 + 隐私为矛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7285" y="4851400"/>
              <a:ext cx="21569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A18 专芯 · HomeOS · 三方联盟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438650" y="4000500"/>
              <a:ext cx="333375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4288">
              <a:solidFill>
                <a:srgbClr val="F59E0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661535" y="4241800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CD34D"/>
                  </a:solidFill>
                  <a:latin typeface="Consolas"/>
                  <a:ea typeface="Consolas"/>
                  <a:cs typeface="Consolas"/>
                </a:rPr>
                <a:t>// HUAWEI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60011" y="4527550"/>
              <a:ext cx="19657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生态广度 + 价格带为矛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61535" y="4851400"/>
              <a:ext cx="16413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Kirin · 多模协同 · 国产链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962900" y="4000500"/>
              <a:ext cx="333375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4288">
              <a:solidFill>
                <a:srgbClr val="10B98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85785" y="4241800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EE7B7"/>
                  </a:solidFill>
                  <a:latin typeface="Consolas"/>
                  <a:ea typeface="Consolas"/>
                  <a:cs typeface="Consolas"/>
                </a:rPr>
                <a:t>// XIAOMI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84261" y="4527550"/>
              <a:ext cx="17745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性价比 + 普及度领跑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85785" y="4851400"/>
              <a:ext cx="15073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¥399 入门 · 200+ 配件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08304" y="5956300"/>
            <a:ext cx="13901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THANKS · 谢谢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8304" y="6261100"/>
            <a:ext cx="64898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REPORT BY PPT-MASTER · APPLE 'WELCOME HOME' 2026 INSIGHT · 2026-10-15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519154" y="643255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08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pple-welcome-home">
  <a:themeElements>
    <a:clrScheme name="apple-welcome-home">
      <a:dk1>
        <a:srgbClr val="E2E8F0"/>
      </a:dk1>
      <a:lt1>
        <a:srgbClr val="0B1120"/>
      </a:lt1>
      <a:dk2>
        <a:srgbClr val="1F497D"/>
      </a:dk2>
      <a:lt2>
        <a:srgbClr val="0B1120"/>
      </a:lt2>
      <a:accent1>
        <a:srgbClr val="22D3EE"/>
      </a:accent1>
      <a:accent2>
        <a:srgbClr val="A78BFA"/>
      </a:accent2>
      <a:accent3>
        <a:srgbClr val="7DD3FC"/>
      </a:accent3>
      <a:accent4>
        <a:srgbClr val="22D3EE"/>
      </a:accent4>
      <a:accent5>
        <a:srgbClr val="0E1830"/>
      </a:accent5>
      <a:accent6>
        <a:srgbClr val="94A3B8"/>
      </a:accent6>
      <a:hlink>
        <a:srgbClr val="A78BFA"/>
      </a:hlink>
      <a:folHlink>
        <a:srgbClr val="7DD3FC"/>
      </a:folHlink>
    </a:clrScheme>
    <a:fontScheme name="apple-welcome-hom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pple-welcome-ho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2026-10-15T13:10:58Z</dcterms:created>
  <dcterms:modified xsi:type="dcterms:W3CDTF">2026-10-15T13:10:58Z</dcterms:modified>
  <cp:category/>
  <cp:contentStatus/>
</cp:coreProperties>
</file>