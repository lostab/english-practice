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pple-welcome-hom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pple-welcome-hom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9af82d7a066b934.jp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55df9cdfed428ec.jpg"/>
  <Relationship Id="rId3" Type="http://schemas.openxmlformats.org/officeDocument/2006/relationships/image" Target="../media/image_dc013aa281183860.jp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  <Relationship Id="rId3" Type="http://schemas.openxmlformats.org/officeDocument/2006/relationships/image" Target="../media/image_716304f54ed73cbf.jp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6780" y="869950"/>
            <a:ext cx="58441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45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智能家居竞品深度洞察报告 · 2026-10-13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822450"/>
            <a:ext cx="8459178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'Welcome Home'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8586" y="2736850"/>
            <a:ext cx="812213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智能家居生态战略 · 深度拆解与三方对决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5830" y="3556000"/>
            <a:ext cx="56033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产品 · 参数 · 功能 · 架构 · 生态 · AI 语音助手 · 解决方案优劣势</a:t>
            </a:r>
          </a:p>
        </p:txBody>
      </p:sp>
      <p:sp>
        <p:nvSpPr>
          <p:cNvPr id="7" name="Rectangle 7"/>
          <p:cNvSpPr/>
          <p:nvPr/>
        </p:nvSpPr>
        <p:spPr>
          <a:xfrm>
            <a:off x="914400" y="4000500"/>
            <a:ext cx="4572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6592" y="4311650"/>
            <a:ext cx="59290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对标竞品：Huawei 全屋智能（HarmonyOS Connect） · Xiaomi 米家生态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4400" y="4953000"/>
            <a:ext cx="2477750" cy="819150"/>
            <a:chOff x="914400" y="4953000"/>
            <a:chExt cx="2477750" cy="819150"/>
          </a:xfrm>
        </p:grpSpPr>
        <p:sp>
          <p:nvSpPr>
            <p:cNvPr id="9" name="Rectangle 9"/>
            <p:cNvSpPr/>
            <p:nvPr/>
          </p:nvSpPr>
          <p:spPr>
            <a:xfrm>
              <a:off x="9144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76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EVENT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6142" y="5397500"/>
              <a:ext cx="2256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· Apple Event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19500" y="4953000"/>
            <a:ext cx="2476500" cy="819150"/>
            <a:chOff x="3619500" y="4953000"/>
            <a:chExt cx="2476500" cy="819150"/>
          </a:xfrm>
        </p:grpSpPr>
        <p:sp>
          <p:nvSpPr>
            <p:cNvPr id="13" name="Rectangle 13"/>
            <p:cNvSpPr/>
            <p:nvPr/>
          </p:nvSpPr>
          <p:spPr>
            <a:xfrm>
              <a:off x="36195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42766" y="5168900"/>
              <a:ext cx="81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AUDIENCE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41242" y="5397500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 · 技术 · 战略 · 市场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4953000"/>
            <a:ext cx="2476500" cy="819150"/>
            <a:chOff x="6324600" y="4953000"/>
            <a:chExt cx="2476500" cy="819150"/>
          </a:xfrm>
        </p:grpSpPr>
        <p:sp>
          <p:nvSpPr>
            <p:cNvPr id="17" name="Rectangle 17"/>
            <p:cNvSpPr/>
            <p:nvPr/>
          </p:nvSpPr>
          <p:spPr>
            <a:xfrm>
              <a:off x="63246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78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SCOPE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342" y="5397500"/>
              <a:ext cx="2041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× Huawei × Xiaomi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34930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AGENDA · 5 SECTIONS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报告目录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1905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57350"/>
            <a:ext cx="611601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本报告所有参数均来自 Apple / Huawei / Xiaomi 官方渠道，未经官方披露的指标一律标注「官方未公布」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14400" y="2190750"/>
            <a:ext cx="10134600" cy="2762250"/>
            <a:chOff x="914400" y="2190750"/>
            <a:chExt cx="10134600" cy="27622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71956" y="23177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59280" y="23368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战略演进回顾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61566" y="2654300"/>
              <a:ext cx="4132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苹果智能家居 15 年三阶段跃迁：平台奠基 → 标准开放 → AI 反攻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0" y="21907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71956" y="23177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59280" y="23368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发布会全景解析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61566" y="2654300"/>
              <a:ext cx="6163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Welcome Home 四款新品全拆解：HomeView / Apple TV 4K / HomePod mini 2 / Home Collection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14400" y="316230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71956" y="32893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59280" y="3308350"/>
              <a:ext cx="221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核心产品对比（4 维度）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61566" y="3625850"/>
              <a:ext cx="3556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家庭中枢硬件 / 操作系统与 AI 助手 / 连接协议 / 生态规模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316230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1956" y="32893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59280" y="33083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解决方案全景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61566" y="3625850"/>
              <a:ext cx="2248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战略定位与价格带 / 隐私与安全架构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14400" y="41338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71956" y="42608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59280" y="42799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产业思考与未来演进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61566" y="4597400"/>
              <a:ext cx="318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三强 SWOT 全景 / 四大趋势预判 / 结论与战略建议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6200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EXECUTIVE SUMMARY · 核心洞察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335470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执行摘要：四条核心判断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2857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000250"/>
            <a:ext cx="10172700" cy="3810000"/>
            <a:chOff x="914400" y="2000250"/>
            <a:chExt cx="10172700" cy="3810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566" y="2178050"/>
              <a:ext cx="2447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苹果战略：软硬一体 + AI 优先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425700"/>
              <a:ext cx="5177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中枢 + Apple TV 4K + HomePod mini 2 + Home Collection 四线齐发，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635250"/>
              <a:ext cx="40213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芯片 + Siri AI 落地家庭场景，从「平台」转向「智能终端」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0" y="20002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99566" y="2178050"/>
              <a:ext cx="1671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02 · 市场格局：三足鼎立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2425700"/>
              <a:ext cx="4361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 = 生态闭环 + 高端定价（$299）；华为 = 全屋工程 + 前装渠道；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2635250"/>
              <a:ext cx="37252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小米 = 设备广度 + 性价比。三者定价带与目标用户差异显著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31813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9566" y="3359150"/>
              <a:ext cx="2547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03 · 技术路线：端侧隐私 vs 生态开放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3606800"/>
              <a:ext cx="40602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苹果押注 Secure Exclaves + Private Cloud Compute 端侧隐私；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3816350"/>
              <a:ext cx="4066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华为鸿蒙分布式 + 小米全生态兼容 —— 隐私与开放两条路线并存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0" y="31813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9566" y="3359150"/>
              <a:ext cx="1917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04 · 未来趋势：AI 重塑体验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606800"/>
              <a:ext cx="4068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/ 小艺 / 小爱同学 全面大模型化，主动智能替代被动响应；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816350"/>
              <a:ext cx="3423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 协议打破品牌壁垒，跨生态互联互通成共同方向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" y="4381500"/>
              <a:ext cx="10172700" cy="1428750"/>
            </a:xfrm>
            <a:prstGeom prst="roundRect">
              <a:avLst>
                <a:gd name="adj" fmla="val 9333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37285" y="4546600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一句话结论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4618" y="4806950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智能家居竞争已从「卖硬件」升级为「卖系统与体验」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7285" y="5213350"/>
              <a:ext cx="8506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苹果以 HomeView + A18 + 隐私架构切入家庭中枢新品类；华为靠前装工程渠道稳守高端；小米以设备规模与价格带覆盖大众。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8047" y="5505450"/>
              <a:ext cx="65510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本页全部判断基于三家官方发布材料（Apple Newsroom / consumer.huawei.com / mi.com），无第三方猜测数据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331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STRATEGY · 15-YEAR EVOLUTION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535644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战略演进三阶段：从平台奠基到 AI 反攻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2857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57350"/>
            <a:ext cx="3626064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官方产品页 · 仅列官方公开宣布节点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4400" y="2095500"/>
            <a:ext cx="9391650" cy="3375978"/>
            <a:chOff x="914400" y="2095500"/>
            <a:chExt cx="9391650" cy="3375978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01 · 2014-2017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7280" y="2527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平台先行，标准至上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2863850"/>
              <a:ext cx="2886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iOS 8 集成 HomeKit 框架，确立底层通信标准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111500"/>
              <a:ext cx="2416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MFi 认证保障安全，但限制设备丰富度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947" y="3429000"/>
              <a:ext cx="18969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关键节点：2016 首款 HomePod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947" y="365760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瓶颈：生态扩张缓慢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196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02 · 2018-2021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7280" y="2527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硬件试水，生态深耕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2863850"/>
              <a:ext cx="3282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2018 HomePod mini 低价切入 + 加入 Thread Group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3111500"/>
              <a:ext cx="25633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2020 HomeKit Secure Video 端到端加密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947" y="3429000"/>
              <a:ext cx="1656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关键节点：Thread 贯穿全系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947" y="36576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瓶颈：用户转化效率待提升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723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03 · 2022-2026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7280" y="2527300"/>
              <a:ext cx="1686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拥抱开放，AI 反攻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566" y="2863850"/>
              <a:ext cx="2080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2022 加入 Matter，打破品牌壁垒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111500"/>
              <a:ext cx="2401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Welcome Home 四线齐发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947" y="3429000"/>
              <a:ext cx="23846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跃迁：从「卖硬件」到「卖系统与体验」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947" y="3657600"/>
              <a:ext cx="25263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AI + Secure Exclaves + PCC 隐私三角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" y="4286250"/>
              <a:ext cx="9391650" cy="1143000"/>
            </a:xfrm>
            <a:prstGeom prst="roundRect">
              <a:avLst>
                <a:gd name="adj" fmla="val 11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37285" y="44704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核心洞察：三个转折点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7285" y="4756150"/>
              <a:ext cx="4379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从封闭到开放：Matter 加入回应「封闭生态限制丰富度」的批评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7285" y="5003800"/>
              <a:ext cx="3933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从硬件到系统：HomeView 定义「家庭智能中枢」新品类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7285" y="5251450"/>
              <a:ext cx="4789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从云端到端侧：隐私三角是苹果与华为/小米在 AI 路线上最根本的分歧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001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WELCOME HOME · 2026.10.13 · 四线发布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51258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Welcome Home 发布会：四款新品重构家庭智能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4953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066" y="1682750"/>
            <a:ext cx="4489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官方新闻稿（2026-10-13）· 定价均为官方披露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14400" y="2095500"/>
            <a:ext cx="10344150" cy="3619500"/>
            <a:chOff x="914400" y="2095500"/>
            <a:chExt cx="1034415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rgbClr val="0E244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1847" y="2247900"/>
              <a:ext cx="75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新品 · 中枢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9180" y="2438400"/>
              <a:ext cx="993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HomeView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1466" y="2768600"/>
              <a:ext cx="1793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方形触控屏 · A18 · Siri AI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1466" y="2997200"/>
              <a:ext cx="1966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空间音频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1466" y="3225800"/>
              <a:ext cx="16769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隐私隔离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942" y="3511550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$299 起 · 11.13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5433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1847" y="2247900"/>
              <a:ext cx="10191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更新 · 娱乐中枢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9180" y="2438400"/>
              <a:ext cx="1170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TV 4K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1466" y="2768600"/>
              <a:ext cx="1820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A19 · CPU +50% · GPU 2×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1466" y="2997200"/>
              <a:ext cx="14122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7 · 三麦远场 Siri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1466" y="3225800"/>
              <a:ext cx="1294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 HomePod 环绕声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9942" y="351155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$299 · 11.13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722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1847" y="2247900"/>
              <a:ext cx="75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更新 · 音频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9180" y="2438400"/>
              <a:ext cx="1536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 mini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1466" y="2768600"/>
              <a:ext cx="9745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S10 · 计算音频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1466" y="2997200"/>
              <a:ext cx="1319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Sound Glow · 5 新色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1466" y="3225800"/>
              <a:ext cx="1408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家庭中枢 · 多房间音频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942" y="351155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$149 · 10.30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8011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A3E63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1847" y="2247900"/>
              <a:ext cx="10191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合作 · 配件生态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9180" y="2438400"/>
              <a:ext cx="1607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Collection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1466" y="2768600"/>
              <a:ext cx="13346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LG + Schneider 首批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1466" y="2997200"/>
              <a:ext cx="1400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摄像头/温控/门锁/门铃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1466" y="3225800"/>
              <a:ext cx="1322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端到端加密 · 12 月起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1847" y="3562350"/>
              <a:ext cx="17669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A3E635"/>
                  </a:solidFill>
                  <a:latin typeface="Consolas"/>
                  <a:ea typeface="Consolas"/>
                  <a:cs typeface="Consolas"/>
                </a:rPr>
                <a:t>Works with Home + Matter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14400" y="4038600"/>
              <a:ext cx="10344150" cy="1676400"/>
            </a:xfrm>
            <a:prstGeom prst="roundRect">
              <a:avLst>
                <a:gd name="adj" fmla="val 795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7285" y="4222750"/>
              <a:ext cx="23710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一套中枢 + 三条产品线：矩阵成形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7285" y="4508500"/>
              <a:ext cx="53657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= 家庭信息流中枢（看 / 想 / 听：屏幕 + 摄像头 + 扬声器 + Siri AI）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7285" y="4756150"/>
              <a:ext cx="5655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TV 4K = 客厅娱乐 + 家庭中枢备份；HomePod mini 2 = 全屋音频 + 语音入口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7285" y="5003800"/>
              <a:ext cx="5443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Collection 联合 LG / Schneider 补齐安防 + 温控 + 门锁，全部支持 Matter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8047" y="5334000"/>
              <a:ext cx="66998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注意（官方口径）：HomeView 暂不覆盖中国大陆及 EU；Siri AI 仅英语起步（beta，HomeView software 27.2）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916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DEEP-DIVE · 硬件与隐私全栈拆解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127125"/>
            <a:ext cx="718382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HomeView：规格全拆解（以官方 specs 页为准）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71625"/>
            <a:ext cx="6096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533585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来源：apple.com/apple-homeview/specs/ + 官方新闻稿 · 未披露项一律标注「官方未公布」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4095750" cy="4095750"/>
            <a:chOff x="914400" y="2095500"/>
            <a:chExt cx="4095750" cy="409575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4095750" cy="4095750"/>
            </a:xfrm>
            <a:prstGeom prst="roundRect">
              <a:avLst>
                <a:gd name="adj" fmla="val 465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31910" r="0" b="31909"/>
            <a:stretch>
              <a:fillRect/>
            </a:stretch>
          </p:blipFill>
          <p:spPr>
            <a:xfrm>
              <a:off x="1066800" y="2247900"/>
              <a:ext cx="3790950" cy="9144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76147" y="3295650"/>
              <a:ext cx="21904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HOME VIEW · $299 · 11.13 开售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5004" y="3467100"/>
              <a:ext cx="2017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四色可选 · 桌面版 + 壁挂版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04900" y="37909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52347" y="3867150"/>
              <a:ext cx="16965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7" LIQUID RETINA · IPS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52347" y="4076700"/>
              <a:ext cx="28830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1088×1088 @220ppi · 500 nits峰值 / 0.3 nits最低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04900" y="44005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2347" y="4476750"/>
              <a:ext cx="1083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A18 CHIP · 3NM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2347" y="4686300"/>
              <a:ext cx="33565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隔离音视频数据 · OS/Apple 均不可访问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04900" y="50101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52347" y="5086350"/>
              <a:ext cx="10065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PRIVACY STACK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52347" y="5295900"/>
              <a:ext cx="33847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Compute（不存储、不可访问）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04900" y="56197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52347" y="5695950"/>
              <a:ext cx="11385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MULTIUSER · 6人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52347" y="5905500"/>
              <a:ext cx="23699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人脸识别切换个人主屏 · 内容仅本人可见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95900" y="2095500"/>
            <a:ext cx="5981700" cy="4038600"/>
            <a:chOff x="5295900" y="2095500"/>
            <a:chExt cx="5981700" cy="4038600"/>
          </a:xfrm>
        </p:grpSpPr>
        <p:sp>
          <p:nvSpPr>
            <p:cNvPr id="23" name="Rectangle 23"/>
            <p:cNvSpPr/>
            <p:nvPr/>
          </p:nvSpPr>
          <p:spPr>
            <a:xfrm>
              <a:off x="5295900" y="2095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80685" y="22129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屏幕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18935" y="2212975"/>
              <a:ext cx="3947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Liquid Retina · IPS LED 背光 · 1088×1088 · 220ppi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95900" y="2552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80685" y="2670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芯片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18935" y="2670175"/>
              <a:ext cx="305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A18（3nm制程，官方未公布核心/NPU参数）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95900" y="3009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80685" y="31273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18935" y="3127375"/>
              <a:ext cx="297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f/2.4 · FaceTime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95900" y="3467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80685" y="3584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19316" y="3597275"/>
              <a:ext cx="3363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2×全频 + 下射低音 + 2×被动辐射 · 空间音频 · 4麦阵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95900" y="39243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80685" y="40417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18935" y="4041775"/>
              <a:ext cx="4059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(802.11ax) MIMO · 蓝牙 6.0 · Thread · 双频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295900" y="4381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80685" y="44989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传感器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8935" y="4498975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环境光 · 温湿度 · 加速度计（硬规格确认）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295900" y="4838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80685" y="4956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18935" y="4956175"/>
              <a:ext cx="2829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USB-C ×1 · 随附 1.5m 线 + 30W 适配器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295900" y="5295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80685" y="54133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壁挂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9316" y="5426075"/>
              <a:ext cx="3009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Schneider 壁挂配件：USB-C / AC / PoE 三款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295900" y="5753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80685" y="5870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19316" y="5883275"/>
              <a:ext cx="4420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软件 27.2（Siri AI beta）· 需 iOS/iPadOS 27.2+ 配对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914400" y="60960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5385" y="6146800"/>
            <a:ext cx="77013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buClr>
                <a:schemeClr val="accent1"/>
              </a:buClr>
              <a:buSzTx/>
              <a:buFontTx/>
              <a:buChar char="■"/>
            </a:pP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核心卖点：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A18 + Secure Exclaves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（音视频隔离）+ 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Private Cloud Compute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—— 连 Apple 都无法访问的隐私架构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76147" y="6381750"/>
            <a:ext cx="503079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官方未公布：RAM / 存储 / CPU核心数 / NPU TOPS / 电池 —— 本页不填任何猜测值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5732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HOMEVIEW · AI FEATURES &amp; PRIVACY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491902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HomeView 软件能力与隐私架构拆解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509996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apple.com/apple-homeview · 未经官方披露的指标一律不出现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095500"/>
            <a:ext cx="10363200" cy="3238500"/>
            <a:chOff x="914400" y="2095500"/>
            <a:chExt cx="10363200" cy="3238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9817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60600"/>
              <a:ext cx="21956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AI 能力（官方已发布口径）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584450"/>
              <a:ext cx="3194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AI：广博世界知识 · 屏幕感知 · 跨应用行动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851150"/>
              <a:ext cx="4346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个人语境：配对 AI 版 iPhone/iPad 后，可调用日历/信息/备忘录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17850"/>
              <a:ext cx="3283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多用户：面部识别最多 6 人，自动切换专属主屏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384550"/>
              <a:ext cx="3099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烹饪模式：网页食谱转分步指导 · 免提计时器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651250"/>
              <a:ext cx="4675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摄像头页：最多 9 路实时视频同屏（HomeKit Secure Video）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3917950"/>
              <a:ext cx="4430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声音侦测：烟雾/一氧化碳报警识别 → 推送到 iPhone/iPad/Watch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4184650"/>
              <a:ext cx="3572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Intercom / FaceTime + Center Stage / Handoff 接力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185" y="4451350"/>
              <a:ext cx="4201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多款表盘：Photos / Flow / Snoopy · Home Modular 家居模组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947" y="4819650"/>
              <a:ext cx="41756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软件版本：HomeView software 27.2（Siri AI beta · 英语起步）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86600" y="2095500"/>
              <a:ext cx="41910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rcRect l="0" t="17901" r="0" b="17901"/>
            <a:stretch>
              <a:fillRect/>
            </a:stretch>
          </p:blipFill>
          <p:spPr>
            <a:xfrm>
              <a:off x="1028700" y="2209800"/>
              <a:ext cx="3962400" cy="14287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1099185" y="3822700"/>
              <a:ext cx="1767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隐私三层架构（官方）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4127500"/>
              <a:ext cx="7348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· Secure Exclaves：A18 芯片内隔离区，摄像头/麦克风数据在隔离区处理，OS/应用/用户/Apple 均不可访问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4451350"/>
              <a:ext cx="298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· 端侧优先：人脸/声纹识别在设备本地完成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4718050"/>
              <a:ext cx="4389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· Private Cloud Compute：云端请求不存储、不可被 Apple 访问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947" y="5010150"/>
              <a:ext cx="3718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个人内容仅当本人被识别 + 配对设备同 Wi-Fi 且最近解锁时显示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61975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0E2440"/>
          </a:solidFill>
          <a:ln w="9525">
            <a:solidFill>
              <a:schemeClr val="accent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765800"/>
            <a:ext cx="8633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对比视角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6051550"/>
            <a:ext cx="92120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苹果把「家庭共享场景下的个人隐私」做成了硬件级隔离 —— 这是 HomeView 与绝大多数智能屏（包括竞品）在设计哲学上的最大差异。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332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SUPPORTING HARDWARE · TWO UPDATES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52547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TV 4K（第4代）与 HomePod mini 2 深拆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19036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官方新闻稿（2026-10-13）· 全部参数官方披露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10363200" cy="3619500"/>
            <a:chOff x="914400" y="2095500"/>
            <a:chExt cx="103632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9817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24944" r="0" b="24945"/>
            <a:stretch>
              <a:fillRect/>
            </a:stretch>
          </p:blipFill>
          <p:spPr>
            <a:xfrm>
              <a:off x="1028700" y="2209800"/>
              <a:ext cx="5753100" cy="161925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099185" y="3956050"/>
              <a:ext cx="3085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APPLE TV 4K（第4代）· $299 · 11.13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4260850"/>
              <a:ext cx="4161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A19 芯片：CPU 性能 +50%，GPU 2×，新增 AV1 硬件解码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4527550"/>
              <a:ext cx="3699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三麦克风远场阵列：免提「Siri / Hey Siri」，回声消除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4794250"/>
              <a:ext cx="5275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7 · Thread 内置 · 家庭中枢能力（含 HomeKit Secure Video 本地处理）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5060950"/>
              <a:ext cx="4485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 HomePod 环绕声：智能识别扬声器位置自动校准（前后成对）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5327650"/>
              <a:ext cx="4547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Remote 新升级：Find My 支持 + Precision Finding + 发声定位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086600" y="2095500"/>
              <a:ext cx="41910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rcRect l="0" t="13622" r="0" b="13621"/>
            <a:stretch>
              <a:fillRect/>
            </a:stretch>
          </p:blipFill>
          <p:spPr>
            <a:xfrm>
              <a:off x="1028700" y="2209800"/>
              <a:ext cx="3962400" cy="161925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099185" y="3956050"/>
              <a:ext cx="2815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HOMEPOD MINI 2 · $149 · 10.30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185" y="4260850"/>
              <a:ext cx="3678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S10 芯片：实时计算音频（动态范围/响度/声学优化）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4527550"/>
              <a:ext cx="3495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Sound Glow：顶部随音乐律动发光，专辑封面取色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4794250"/>
              <a:ext cx="1935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色：粉 / 绿 / 蓝 / 白 / 午夜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5060950"/>
              <a:ext cx="4331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家庭中枢：语音控制配件与自动化 · 声音识别（烟雾/CO 警报）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5327650"/>
              <a:ext cx="3996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将在后续软件更新推送（HomePod software 27.2）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137285" y="6032500"/>
            <a:ext cx="90586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定位：Apple TV 4K = 客厅娱乐 + 中枢备份；HomePod mini 2 = 全屋语音/音频入口 —— 与 HomeView 组成「一屏三入口」的家庭矩阵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HARDWARE DEEP-DIVE · 硬件参数逐层拆解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079500"/>
            <a:ext cx="545133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核心芯片、显示屏与感知阵列 - 参数级对比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628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620872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数据来源：Apple 官方新闻稿 · 华为官网 consumer.huawei.com · 小米官网 mi.com/xiaomi-smartdisplay-11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9447" y="1857375"/>
            <a:ext cx="434882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标注为「官方未公布」者均未在品牌官方渠道披露 · 不使用第三方猜测数据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571500" y="2095500"/>
            <a:ext cx="10591800" cy="4343400"/>
            <a:chOff x="571500" y="2095500"/>
            <a:chExt cx="10591800" cy="4343400"/>
          </a:xfrm>
        </p:grpSpPr>
        <p:sp>
          <p:nvSpPr>
            <p:cNvPr id="7" name="Rectangle 7"/>
            <p:cNvSpPr/>
            <p:nvPr/>
          </p:nvSpPr>
          <p:spPr>
            <a:xfrm>
              <a:off x="571500" y="2095500"/>
              <a:ext cx="142875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6325" y="22701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00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39144" r="0" b="39145"/>
            <a:stretch>
              <a:fillRect/>
            </a:stretch>
          </p:blipFill>
          <p:spPr>
            <a:xfrm>
              <a:off x="2076450" y="2152650"/>
              <a:ext cx="2895600" cy="4191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2635966" y="2257425"/>
              <a:ext cx="177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48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0" t="38710" r="0" b="38710"/>
            <a:stretch>
              <a:fillRect/>
            </a:stretch>
          </p:blipFill>
          <p:spPr>
            <a:xfrm>
              <a:off x="5124450" y="2152650"/>
              <a:ext cx="2895600" cy="4191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5634057" y="2270125"/>
              <a:ext cx="1876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中控屏 S2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15281" y="2270125"/>
              <a:ext cx="2209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智能家庭屏 11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144250" y="2095500"/>
              <a:ext cx="19050" cy="4095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2705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6285" y="2984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00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64842" y="2844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66747" y="3124200"/>
              <a:ext cx="15711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3nm · 官方未公布核心规格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48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12842" y="2844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14747" y="31242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华为官网未披露芯片型号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60842" y="2844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2747" y="31242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3467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285" y="37465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000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164842" y="3606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66747" y="3854450"/>
              <a:ext cx="19328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1088×1088 · 220ppi · True Tone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048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12842" y="3606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14747" y="3867150"/>
              <a:ext cx="21738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1670万色 · 自然色彩调节 · AF防指纹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96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60842" y="3606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62747" y="3867150"/>
              <a:ext cx="18131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10.95" · 1920×1200 · 超薄边框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" y="4229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6285" y="45085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000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164842" y="4368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66747" y="4629150"/>
              <a:ext cx="9115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f/2.4 · 居中构图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048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12842" y="4368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14747" y="46291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096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60842" y="4368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62747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物理隐私遮蔽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" y="4991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6285" y="5270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000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164842" y="5130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166747" y="5391150"/>
              <a:ext cx="17287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空间音频 · 4×波束成形麦克风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048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12842" y="5130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214747" y="53911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华为官网未披露音频规格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96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60842" y="5130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62747" y="5391150"/>
              <a:ext cx="1314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超薄设计 · 立体声音效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71500" y="5753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6285" y="6032500"/>
              <a:ext cx="656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内存/存储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000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164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166747" y="6153150"/>
              <a:ext cx="20241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Apple 未在产品页披露 RAM/ROM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048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12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14747" y="61531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华为官网未披露内存规格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096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60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62747" y="6153150"/>
              <a:ext cx="14464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 · 存储未公布</a:t>
              </a:r>
            </a:p>
          </p:txBody>
        </p:sp>
      </p:grpSp>
      <p:sp>
        <p:nvSpPr>
          <p:cNvPr id="74" name="Rectangle 74"/>
          <p:cNvSpPr/>
          <p:nvPr/>
        </p:nvSpPr>
        <p:spPr>
          <a:xfrm>
            <a:off x="914400" y="59055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1174242" y="6007100"/>
            <a:ext cx="76106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45732" indent="-145732">
              <a:buClr>
                <a:schemeClr val="accent1"/>
              </a:buClr>
              <a:buSzTx/>
              <a:buFontTx/>
              <a:buChar char="■"/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数据取自各品牌官方产品页与新闻稿；未披露项标注「官方未公布」，不使用第三方猜测数据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4292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VOICE ASSISTANTS · 语音助手生态对比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21398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三大 AI 助手：Siri AI vs. 小艺 vs. 小爱同学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095500"/>
            <a:ext cx="10382250" cy="3429000"/>
            <a:chOff x="914400" y="2095500"/>
            <a:chExt cx="10382250" cy="3429000"/>
          </a:xfrm>
        </p:grpSpPr>
        <p:sp>
          <p:nvSpPr>
            <p:cNvPr id="5" name="Rectangle 5"/>
            <p:cNvSpPr/>
            <p:nvPr/>
          </p:nvSpPr>
          <p:spPr>
            <a:xfrm>
              <a:off x="914400" y="209550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279650"/>
              <a:ext cx="1189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SIRI AI · 苹果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616200"/>
              <a:ext cx="3596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核心能力：广博世界知识 · 屏幕上下文感知 · 跨应用行动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959100"/>
              <a:ext cx="4257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个人语境：联动配对设备（iPhone/iPad）中的日历、备忘录与信息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302000"/>
              <a:ext cx="3769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多用户：面容识别识别人脸，自动切换个人专属主屏与日程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644900"/>
              <a:ext cx="3900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隐私保障：Secure Exclaves 硬件隔离 + 私有云计算云端处理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947" y="4000500"/>
              <a:ext cx="37972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当前局限：发布时仅支持英语（beta），暂未覆盖中国大陆与 EU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38650" y="209550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9185" y="2279650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小艺智慧语音 · 华为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2616200"/>
              <a:ext cx="3596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核心能力：免提语音交互 · 连续对话 · 场景引擎一键触发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2959100"/>
              <a:ext cx="3769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分布式流转：打通鸿蒙智家设备，实现跨端算力与能力共享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3302000"/>
              <a:ext cx="3526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可视对讲：联动智能门锁/门铃，门口画面语音一呼即达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3644900"/>
              <a:ext cx="3282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场景联动：离家/回家/睡眠等专业场景自然语言控制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947" y="4000500"/>
              <a:ext cx="27803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优势：中文理解深刻，与华为全屋智能深度闭环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62900" y="209550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9185" y="2279650"/>
              <a:ext cx="1164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小爱同学 · 小米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566" y="2616200"/>
              <a:ext cx="37380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核心能力：全双工语音交互 · 多轮连续对话 · 屏幕联动反馈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566" y="2959100"/>
              <a:ext cx="37777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生态控制：直连米家 10.79 亿台已连接设备，品类覆盖最广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566" y="3302000"/>
              <a:ext cx="38087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视听娱乐：语音点播视频/音乐，与四单元音腔硬件完美配合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644900"/>
              <a:ext cx="3628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跨端互联：人车家全生态语音流转，接入大模型持续进化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947" y="4000500"/>
              <a:ext cx="28793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优势：月活 1.6 亿，生态链设备兼容度行业第一</a:t>
              </a:r>
            </a:p>
          </p:txBody>
        </p:sp>
      </p:grpSp>
      <p:sp>
        <p:nvSpPr>
          <p:cNvPr id="27" name="Rectangle 27"/>
          <p:cNvSpPr/>
          <p:nvPr/>
        </p:nvSpPr>
        <p:spPr>
          <a:xfrm>
            <a:off x="914400" y="5810250"/>
            <a:ext cx="10363200" cy="476250"/>
          </a:xfrm>
          <a:prstGeom prst="roundRect">
            <a:avLst>
              <a:gd name="adj" fmla="val 24000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137285" y="5956300"/>
            <a:ext cx="96609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对比结论：苹果强调「端云结合的隐私安全与个人语境」；华为专注「中文成套场景与分布式协同」；小米依靠「海量设备连接与日常高频交互」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67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CONNECTIVITY &amp; PROTOCOL · 连接技术与生态协议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连接技术与生态协议大战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52600"/>
            <a:ext cx="69051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HomeView 技术规格页 · 华为 S2 官方产品页 · 小米智能家庭屏 11 产品页 · 未披露项标注「官方未公布」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5334000" cy="4000500"/>
            <a:chOff x="914400" y="2095500"/>
            <a:chExt cx="5334000" cy="4000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6142" y="2311400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PROTOCOL STACK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2686050"/>
              <a:ext cx="764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2965450"/>
              <a:ext cx="3596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跨品牌互操作标准 · 苹果积极参加 · 统一智能家居语言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32004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5380" y="333375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613150"/>
              <a:ext cx="3586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低功耗 Mesh 网络 · 自愈 · 端到端加密 · 抑制网络拥堵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38481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5380" y="3981450"/>
              <a:ext cx="1085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Zigbee 3.0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285" y="4260850"/>
              <a:ext cx="310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成熟生态 · 低功耗传感器主流 · 与 Thread 互补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43000" y="44958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4629150"/>
              <a:ext cx="16046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/ 6 / 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908550"/>
              <a:ext cx="3149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高速主干 · 视频/大带宽设备 · Apple 用 6E 领先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43000" y="51435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5380" y="5289550"/>
              <a:ext cx="969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PoE+ 供电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5556250"/>
              <a:ext cx="2390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网线供电 · 简化布线 · 备用电源冗余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477000" y="2095500"/>
            <a:ext cx="5760034" cy="3848100"/>
            <a:chOff x="6477000" y="2095500"/>
            <a:chExt cx="5760034" cy="3848100"/>
          </a:xfrm>
        </p:grpSpPr>
        <p:sp>
          <p:nvSpPr>
            <p:cNvPr id="23" name="Rectangle 23"/>
            <p:cNvSpPr/>
            <p:nvPr/>
          </p:nvSpPr>
          <p:spPr>
            <a:xfrm>
              <a:off x="6477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7065" y="22542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810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84293" y="2254250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61961" y="2254250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477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14188" y="2254250"/>
              <a:ext cx="460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3685" y="2841625"/>
              <a:ext cx="372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Wi-Fi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10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76235" y="2755900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6E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76997" y="2971800"/>
              <a:ext cx="10874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 specs 页确认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44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09735" y="27559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0497" y="2971800"/>
              <a:ext cx="1534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官网未披露 Wi-Fi 版本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477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643235" y="2755900"/>
              <a:ext cx="76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双频 Wi-Fi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43997" y="29718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智能中控屏标准版支持双频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77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23685" y="3527425"/>
              <a:ext cx="493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810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76235" y="34417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6997" y="3657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边路由器内置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09735" y="3441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477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43235" y="3441700"/>
              <a:ext cx="709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Mesh 2.0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43997" y="3657600"/>
              <a:ext cx="12604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小米自研，非 Thread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7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23685" y="4213225"/>
              <a:ext cx="476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Zigbee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810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76235" y="41275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76997" y="4343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支持（部分设备）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44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09735" y="41275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477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6432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43997" y="43434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智能中控屏兼容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7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23685" y="4899025"/>
              <a:ext cx="442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810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976235" y="48133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76997" y="5016500"/>
              <a:ext cx="14308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Works with Apple Home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144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3097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477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6432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77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23685" y="5584825"/>
              <a:ext cx="398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PoE+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810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976235" y="5499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976997" y="5715000"/>
              <a:ext cx="11723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Schneider 支架选配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144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097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310497" y="5715000"/>
              <a:ext cx="9497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无 PoE 规格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477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6432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643997" y="5715000"/>
              <a:ext cx="13183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智能家庭屏 11 无 PoE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1174242" y="6159500"/>
            <a:ext cx="91613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协议大战：Apple 全面领先（Wi-Fi 6E · Thread · Matter · PoE 供电），华为/小米以 Zigbee + 自研 Mesh 补足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4132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// HUAWEI · SMART CONTROL PANEL S2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756071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华为智能中控屏 S2 深度拆解：前装成套与全屋智能入口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66465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来源：consumer.huawei.com 官方全屋智能商用产品页（含工程专供官方标价）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10363200" cy="3619500"/>
            <a:chOff x="914400" y="2095500"/>
            <a:chExt cx="103632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1435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79650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官方规格与价格（consumer.huawei.com）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22550"/>
              <a:ext cx="3203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10.4" 超高清触控屏 · 1670万色 · 自然色彩调节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08300"/>
              <a:ext cx="3257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中控屏 S2 官方标价：¥7,399（工程专供参考）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94050"/>
              <a:ext cx="30212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墙面 Dock（电源 + PLC 通信模块）：¥749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479800"/>
              <a:ext cx="3664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核心通信：PLC 电力线载波通信 + Wi-Fi 7 / 星闪双模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765550"/>
              <a:ext cx="42262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搭配主机：智能主机 SE（¥5,999）/ 主机 X2 Pro（¥24,999）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4051300"/>
              <a:ext cx="4808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配套安防：AI 超感传感器（毫米波雷达 ¥1,199）· 门锁 E220（¥799）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947" y="4419600"/>
              <a:ext cx="45680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注：芯片/内存等底层参数未在全屋智能专区披露，以系统分布式流转为核心。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095500"/>
              <a:ext cx="50292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9185" y="2279650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产品定位与核心体验（官方口径）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185" y="2622550"/>
              <a:ext cx="4255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墙面控制中心：取代传统开关面板，玄关/客厅/卧室多空间部署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2908300"/>
              <a:ext cx="3534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小艺智慧语音：免提唤醒 · 连续对话 · 房间全能掌控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3194050"/>
              <a:ext cx="4194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可视对讲：转接 Dock 联动智能门锁/门铃，门口画面一屏直达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3479800"/>
              <a:ext cx="49004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场景引擎：离家/回家/睡眠/观影一键场景联动，毫米波雷达有人自动亮屏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3765550"/>
              <a:ext cx="3702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HarmonyOS 分布式协同：设备间算力与能力无缝流转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4051300"/>
              <a:ext cx="3621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前装成套优势：PLC 有线抗干扰极强，无惧墙体阻挡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37285" y="6032500"/>
            <a:ext cx="7665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华为定位：通过「PLC有线主机 + 墙面S2中控屏 + 星闪网关 + 专业一站式服务」，主打高端前装与整屋确定性体验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2532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// XIAOMI · SMART HOME DISPLAY 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722721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小米智能家庭屏 11 深度拆解：大屏中枢与米家生态链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84001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来源：mi.com 官方产品页与生态链参数（含 8 核处理器、大内存、四单元立体声）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10363200" cy="3619500"/>
            <a:chOff x="914400" y="2095500"/>
            <a:chExt cx="103632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1435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79650"/>
              <a:ext cx="2416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官方规格与硬件配置（mi.com）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22550"/>
              <a:ext cx="3779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10.95" IPS 高清大屏 · 分辨率 1920×1200 · 400nit 亮度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08300"/>
              <a:ext cx="3736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处理器：高性能 8 核处理器（满足流畅触控与多任务）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94050"/>
              <a:ext cx="4112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内存与存储：6GB 运行内存 + 32GB 存储空间（官方配置）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479800"/>
              <a:ext cx="3581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摄像头：800 万像素超清摄像头 + 物理隐私遮蔽开关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765550"/>
              <a:ext cx="3400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音频：后置四单元独立音腔设计 · 立体声环绕声场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4051300"/>
              <a:ext cx="43408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连接协议：Wi-Fi + 蓝牙 + Zigbee（内置网关）+ 米家 Mesh 2.0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947" y="4419600"/>
              <a:ext cx="33080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定位：桌面与壁挂双形态，千元档性价比全屋控制中心。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095500"/>
              <a:ext cx="50292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9185" y="2279650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产品定位与核心体验（官方口径）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185" y="2622550"/>
              <a:ext cx="41716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客厅中枢大屏：一屏掌握全屋千余款米家智能设备状态与控制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2908300"/>
              <a:ext cx="3685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小爱同学：全双工语音交互 · 连续对话 · 屏幕联动反馈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3194050"/>
              <a:ext cx="4121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视频通话与对讲：800万像素配合物理遮蔽，兼顾便捷与隐私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3479800"/>
              <a:ext cx="4213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影音娱乐：支持各大主流视频/音乐平台，四单元音腔音质出色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3765550"/>
              <a:ext cx="38868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开放生态链：完美打通灯光/窗帘/安防/温控/人车家全生态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4051300"/>
              <a:ext cx="40208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部署便捷：无需复杂布线，开箱即用，最适合后装改装市场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37285" y="6032500"/>
            <a:ext cx="78744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小米定位：以「10.95"大屏 + 8核 + 6GB内存 + 四单元音腔 + 千元级高性价比」席卷大众后装市场，构筑生态连接基石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400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ECOSYSTEM LANDSCAPE · 三足鼎立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06350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三大生态总览：入口、AI、协议与打法的分野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540045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consumer.huawei.com / mi.com 官方口径整理（含未公布项标注）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2286000"/>
            <a:ext cx="10382250" cy="3714750"/>
            <a:chOff x="914400" y="2286000"/>
            <a:chExt cx="10382250" cy="3714750"/>
          </a:xfrm>
        </p:grpSpPr>
        <p:sp>
          <p:nvSpPr>
            <p:cNvPr id="6" name="Rectangle 6"/>
            <p:cNvSpPr/>
            <p:nvPr/>
          </p:nvSpPr>
          <p:spPr>
            <a:xfrm>
              <a:off x="91440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489200"/>
              <a:ext cx="1763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APPLE · WELCOME HOME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844800"/>
              <a:ext cx="3477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入口：HomeView 桌面屏 + Apple TV + HomePod 语音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130550"/>
              <a:ext cx="27227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AI：Siri AI（英语起步 · beta）· 私有云计算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16300"/>
              <a:ext cx="2977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协议：Matter / Thread / HomeKit Secure Video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702050"/>
              <a:ext cx="3781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打法：高端硬件 + 隐私优先 + 配件认证（Home Collection）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947" y="4038600"/>
              <a:ext cx="21339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优势：生态协同 隐私隔离 品牌溢价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47" y="4286250"/>
              <a:ext cx="30395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劣势：价格高 中国大陆/EU 未覆盖 Siri AI 起步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3865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99185" y="248920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HUAWEI · 全屋智能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2844800"/>
              <a:ext cx="2860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入口：智能中控屏 S2 墙面面板 + 音箱 + 手机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3130550"/>
              <a:ext cx="3192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AI：小艺智慧语音（中文体系）· HarmonyOS 协同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3416300"/>
              <a:ext cx="3058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协议：HiLink / HarmonyOS Connect · PLC/无线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702050"/>
              <a:ext cx="28771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打法：装修级全屋方案 + 面板入口 + 场景引擎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947" y="4038600"/>
              <a:ext cx="23977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优势：全屋成套 中文场景深 线下服务强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947" y="4286250"/>
              <a:ext cx="21933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劣势：依赖华为生态 型号参数不透明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6290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9185" y="248920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米家生态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2844800"/>
              <a:ext cx="2830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入口：智能家庭屏 11 大屏 + 小爱音箱 + 手机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3130550"/>
              <a:ext cx="2358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AI：小爱同学（中文体系）· 多轮对话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566" y="3416300"/>
              <a:ext cx="320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协议：Zigbee / 米家 Mesh 2.0 / Matter / Wi-Fi 蓝牙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9566" y="3702050"/>
              <a:ext cx="2594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打法：性价比大屏 + 千款生态链 + 高迭代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9947" y="4038600"/>
              <a:ext cx="22658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优势：价格带广 生态链广度 出货量大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9947" y="4286250"/>
              <a:ext cx="29255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劣势：高端感知弱 隐私口碑待加强 软件深度有限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914400" y="6153150"/>
            <a:ext cx="10363200" cy="419100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37666" y="6273800"/>
            <a:ext cx="77425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核心分野：苹果「隐私+协同溢价」 · 华为「装修级成套」 · 小米「生态链性价比」 —— 三家不在同一价格带正面竞争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69517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MARKET &amp; ECOSYSTEM SCALE · 市场格局与生态规模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9894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生态规模量化：小米唯一披露、苹果华为官方未披露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642057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口径说明：仅收录厂商官方披露数据；第三方市场调研份额（如 Canalys / IDC）不采用，避免不可核实的数字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133600"/>
            <a:ext cx="10363200" cy="2857500"/>
            <a:chOff x="914400" y="2133600"/>
            <a:chExt cx="10363200" cy="2857500"/>
          </a:xfrm>
        </p:grpSpPr>
        <p:sp>
          <p:nvSpPr>
            <p:cNvPr id="6" name="Rectangle 6"/>
            <p:cNvSpPr/>
            <p:nvPr/>
          </p:nvSpPr>
          <p:spPr>
            <a:xfrm>
              <a:off x="914400" y="2133600"/>
              <a:ext cx="5143500" cy="2857500"/>
            </a:xfrm>
            <a:prstGeom prst="roundRect">
              <a:avLst>
                <a:gd name="adj" fmla="val 4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7285" y="2336800"/>
              <a:ext cx="3023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官方披露（2025 年度业绩公告）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2673350"/>
              <a:ext cx="3327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AIoT 平台已连接 IoT 设备数 · 10.79 亿台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8047" y="2971800"/>
              <a:ext cx="403090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截至 2025-12-31 · 不含手机/平板/笔记本 · 同比 +19.3%（ir.mi.com）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3308350"/>
              <a:ext cx="2907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拥有 5 件及以上连接设备的用户：2270 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285" y="3575050"/>
              <a:ext cx="3255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小爱同学月活跃用户：1.60 亿（同比 +16.7%）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841750"/>
              <a:ext cx="5117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2025 全年营收 4573 亿元；IoT 与生活消费产品收入 1232 亿元（+18.3%）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285" y="4108450"/>
              <a:ext cx="3719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五代及更多设备家庭户数高速增长，用户粘性持续加深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047" y="4476750"/>
              <a:ext cx="44954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读法：小米以「连接设备数」作为生态规模核心披露口径，公开且连续可核。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133600"/>
              <a:ext cx="50292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7285" y="2336800"/>
              <a:ext cx="2104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APPLE / HUAWEI · 官方口径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2755900"/>
              <a:ext cx="3764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Apple：HomeKit / Home App 设备连接数 · 官方未披露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8047" y="3067050"/>
              <a:ext cx="30267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Apple 未在新闻稿或财报中披露家庭设备连接总量。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7285" y="3384550"/>
              <a:ext cx="4607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Huawei：鸿蒙智联（HarmonyOS Connect）设备总量 · 官方未披露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8047" y="3695700"/>
              <a:ext cx="396773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华为官网未公布全屋智能设备连接总数；仅有生态伙伴数量等陈述。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4013200"/>
              <a:ext cx="281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结论：三家口径不同、不可直接横向比较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8047" y="4305300"/>
              <a:ext cx="41035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小米=硬件连接口径；华为=生态伙伴/方案口径；苹果=平台体验口径。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8047" y="4648200"/>
              <a:ext cx="385783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任何「全球份额 %」数字均出自第三方机构，本报告一律不采用。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219700"/>
            <a:ext cx="10363200" cy="8001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365750"/>
            <a:ext cx="561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洞察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5632450"/>
            <a:ext cx="102339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小米用「10.79 亿台连接 + 2270 万高粘性家庭」证明生态广度；苹果以 Home Collection 联盟与 Matter 协议补闭环；华为以成套方案深度换规模确定性。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47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STRATEGIC POSITIONING · 战略定位对比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902641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三家战略定位：高端隐私闭环 vs. 技术驱动成套 vs. 性价比生态链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000250"/>
            <a:ext cx="10382250" cy="3429000"/>
            <a:chOff x="914400" y="2000250"/>
            <a:chExt cx="10382250" cy="3429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8804" y="220345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APPLE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185" y="25082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高端生态闭环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806700"/>
              <a:ext cx="2806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目标：深度苹果用户 · 高净值 · 隐私敏感人群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073400"/>
              <a:ext cx="5838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路径：A18 芯片 + Secure Exclaves 硬件隔离 + Matter 生态联盟 + Home Collection 配件认证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16300"/>
              <a:ext cx="3018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壁垒：系统级协同 + 隐私品牌溢价 + 高端定价权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683000"/>
              <a:ext cx="36695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挑战：价格高昂 · 中国大陆/EU 未覆盖 · Siri AI 仅英语起步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3865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8804" y="220345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HUAWEI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25082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技术驱动全屋成套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2806700"/>
              <a:ext cx="2523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目标：中高端业主 · 前装市场 · 政企客户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3073400"/>
              <a:ext cx="4483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路径：全屋智能主机 + 中控屏 S2 + HarmonyOS Connect + 空间智能化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3416300"/>
              <a:ext cx="3512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壁垒：通信技术积累 · 成套方案稳定 · 线下渠道专业服务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3683000"/>
              <a:ext cx="3088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挑战：生态广度不及竞品 · 参数不透明 · 海外受限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6290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8804" y="220345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XIAOMI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2508250"/>
              <a:ext cx="1389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性价比 + 开放生态链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566" y="2806700"/>
              <a:ext cx="2538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目标：大众消费者 · DIY 用户 · 年轻群体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566" y="3073400"/>
              <a:ext cx="4740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路径：米家生态链千余 SKU + Zigbee/Mesh 2.0 + 小爱同学 + 人车家全生态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416300"/>
              <a:ext cx="3371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壁垒：生态链广度 · 价格带全覆盖 · 出货量与用户基数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3683000"/>
              <a:ext cx="29475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挑战：高端感知弱 · 隐私安全口碑 · 硬件利润薄</a:t>
              </a:r>
            </a:p>
          </p:txBody>
        </p:sp>
      </p:grpSp>
      <p:sp>
        <p:nvSpPr>
          <p:cNvPr id="27" name="Rectangle 27"/>
          <p:cNvSpPr/>
          <p:nvPr/>
        </p:nvSpPr>
        <p:spPr>
          <a:xfrm>
            <a:off x="914400" y="5715000"/>
            <a:ext cx="10363200" cy="381000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137666" y="5835650"/>
            <a:ext cx="70570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分野：三家不在同一价格带正面竞争 —— 苹果做「隐私溢价」、华为做「成套确定性」、小米做「连接广度」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72717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&amp; PRICE LANDSCAPE · 解决方案与价格体系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14361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全屋智能落地：三室两厅场景 × 三家配置策略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570121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价格口径：官网在售产品标价可查项 + 「官方未公布」标注；组合价仅为方向性区间，非官方报价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2095500"/>
            <a:ext cx="10382250" cy="3238500"/>
            <a:chOff x="914400" y="2095500"/>
            <a:chExt cx="10382250" cy="3238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79650"/>
              <a:ext cx="1315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APPLE · 高端方案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597150"/>
              <a:ext cx="5238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1× HomeView（$299）· 1× Apple TV 4K（$299）· 1× HomePod mini 2（$149）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2901950"/>
              <a:ext cx="30196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认证设备（门锁/摄像头/门铃/温控）按需选配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206750"/>
              <a:ext cx="22594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协议：Thread + Matter + Wi-Fi 6E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511550"/>
              <a:ext cx="3416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组合价：$299 起步（中枢三件套），无官方整屋报价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3816350"/>
              <a:ext cx="2332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服务：用户自装 / 第三方认证服务商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47" y="4191000"/>
              <a:ext cx="23384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定位：体验闭环 + 隐私优先，成本最高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3865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99185" y="227965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HUAWEI · 成套方案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2597150"/>
              <a:ext cx="28294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全屋智能主机（PLC 网关，官网标价可查）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2901950"/>
              <a:ext cx="2507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中控屏 S2 + 智能面板 + 传感器 + 场景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3206750"/>
              <a:ext cx="20416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协议：PLC 有线 + Wi-Fi / 蓝牙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511550"/>
              <a:ext cx="2356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价格：前装整套以线下门店报价为准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816350"/>
              <a:ext cx="2717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服务：官方授权门店设计/安装/调试一站式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947" y="4191000"/>
              <a:ext cx="260228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定位：前装确定性 + 场景深度，最适精装房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6290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9185" y="2279650"/>
              <a:ext cx="1704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高性价比方案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2597150"/>
              <a:ext cx="3404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1× 智能家庭屏 11（官网价可查）· 小爱音箱升级可选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2901950"/>
              <a:ext cx="2897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生态链单品：灯/窗帘/传感器/扫地机按需组合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566" y="3206750"/>
              <a:ext cx="3424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协议：Zigbee + 米家 Mesh 2.0 + Wi-Fi/蓝牙 + Matter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9566" y="3511550"/>
              <a:ext cx="2780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价格：单品几十一数百元档，组合丰俭由人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9566" y="3816350"/>
              <a:ext cx="2638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服务：用户自装为主，生态链渠道覆盖广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9947" y="4191000"/>
              <a:ext cx="26112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定位：入门 + DIY 灵活 + 生态链广度最大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914400" y="5581650"/>
            <a:ext cx="10363200" cy="685800"/>
          </a:xfrm>
          <a:prstGeom prst="roundRect">
            <a:avLst>
              <a:gd name="adj" fmla="val 19444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37285" y="5727700"/>
            <a:ext cx="561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洞察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37285" y="5975350"/>
            <a:ext cx="87563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价格是三者最显著的分水岭：苹果「贵但少而精」、华为「前装成套」、小米「丰俭由人」——对应三种完全不同的家庭决策路径。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7542" y="596900"/>
            <a:ext cx="43410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SWOT · 解决方案优劣势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整体解决方案优劣势全景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571500" y="2095500"/>
            <a:ext cx="5334000" cy="2000250"/>
            <a:chOff x="571500" y="2095500"/>
            <a:chExt cx="5334000" cy="2000250"/>
          </a:xfrm>
        </p:grpSpPr>
        <p:sp>
          <p:nvSpPr>
            <p:cNvPr id="5" name="Rectangle 5"/>
            <p:cNvSpPr/>
            <p:nvPr/>
          </p:nvSpPr>
          <p:spPr>
            <a:xfrm>
              <a:off x="571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2216150"/>
              <a:ext cx="2020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 方案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6285" y="3098800"/>
              <a:ext cx="2628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+ Secure Exclaves 隐私硬件隔离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3327400"/>
              <a:ext cx="250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人识别 + 内容隔离，家庭共享最佳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3556000"/>
              <a:ext cx="2768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协议层最全：Wi-Fi 6E / Thread / Matter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285" y="3784600"/>
              <a:ext cx="1608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系统统一体验生态完整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619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285" y="3098800"/>
              <a:ext cx="2136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$299 定价高于竞品，普及受限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285" y="3327400"/>
              <a:ext cx="2046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仅限 Apple 生态，无 Android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285" y="3556000"/>
              <a:ext cx="2016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EU 不售 · Siri AI 仅英语起步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285" y="3784600"/>
              <a:ext cx="2468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摄像头/麦克风数据要求配对 iPhone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4191000"/>
            <a:ext cx="5334000" cy="2000250"/>
            <a:chOff x="571500" y="4191000"/>
            <a:chExt cx="5334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571500" y="41910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342" y="4311650"/>
              <a:ext cx="1951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全屋智能方案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52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5194300"/>
              <a:ext cx="18011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可墙可桌可手持 空间穿越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285" y="5422900"/>
              <a:ext cx="1910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挂墙自动识别空间切换界面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285" y="56515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小艺全双工语音 + 可视可说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5880100"/>
              <a:ext cx="23991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全屋主机+PLC 方案成熟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19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6285" y="5194300"/>
              <a:ext cx="1900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芯片/RAM/协议官方未公布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285" y="5422900"/>
              <a:ext cx="2069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面向工程渠道，C 端可得性低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285" y="56515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海外生态支持有限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6285" y="58801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开发者生态待完善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86500" y="2095500"/>
            <a:ext cx="5334000" cy="2000250"/>
            <a:chOff x="6286500" y="2095500"/>
            <a:chExt cx="5334000" cy="2000250"/>
          </a:xfrm>
        </p:grpSpPr>
        <p:sp>
          <p:nvSpPr>
            <p:cNvPr id="35" name="Rectangle 35"/>
            <p:cNvSpPr/>
            <p:nvPr/>
          </p:nvSpPr>
          <p:spPr>
            <a:xfrm>
              <a:off x="6286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46342" y="2216150"/>
              <a:ext cx="190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米家智能方案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67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1285" y="30988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海量智能设备 + 红外家电库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1285" y="3327400"/>
              <a:ext cx="2457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处理器/内存 官方未公布 · Mesh 2.0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1285" y="3556000"/>
              <a:ext cx="1759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价格最亲民（入门价位）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1285" y="3784600"/>
              <a:ext cx="2081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超级小爱 + 中文场景理解最深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334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1285" y="30988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芯片型号官方未公布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1285" y="3327400"/>
              <a:ext cx="162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无线无 6GHz · 无 PoE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1285" y="3556000"/>
              <a:ext cx="17424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电池未公布 · 需持续供电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1285" y="3784600"/>
              <a:ext cx="115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高端产品线缺乏</a:t>
              </a:r>
            </a:p>
          </p:txBody>
        </p:sp>
      </p:grpSp>
      <p:sp>
        <p:nvSpPr>
          <p:cNvPr id="50" name="Rectangle 50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174242" y="6159500"/>
            <a:ext cx="106446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结论：Apple 优在系统统一+隐私架构；Huawei 优在空间形态+全屋工程；Xiaomi 优在生态广度+性价比——三方各有优劣，无绝对胜者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331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INDUSTRY OUTLOOK &amp; EVOLUTION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0110" y="10604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产业思考与未来演进方向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90700"/>
            <a:ext cx="382111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基于三份官方发布材料的产业推演 · 预测部分明确标注为分析判断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190750"/>
            <a:ext cx="10287000" cy="2990850"/>
            <a:chOff x="914400" y="2190750"/>
            <a:chExt cx="10287000" cy="29908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393950"/>
              <a:ext cx="2069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AI 是下一轮竞争主战场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98750"/>
              <a:ext cx="2681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/ 小艺 / 小爱同学 全面接入大模型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65450"/>
              <a:ext cx="39147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从「被动应答」转向「主动服务」（屏幕感知 · 个人语境）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947" y="3257550"/>
              <a:ext cx="38785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已发布口径：Apple Intelligence / Siri AI · 小米超级小爱 · 华为小艺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53150" y="21907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9185" y="2393950"/>
              <a:ext cx="3423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02 · 协议融合：Matter / Thread 成为共同底座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2698750"/>
              <a:ext cx="3882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三家的连接方式各有取舍：Wi-Fi 6E · PLC · Zigbee/Mesh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2965450"/>
              <a:ext cx="3261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但都在向统一标准靠拢 —— 生态开放是共同方向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947" y="3257550"/>
              <a:ext cx="31572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 支持：Apple ✓ 小米 ✓ 华为（鸿蒙智联兼容）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37528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9185" y="3956050"/>
              <a:ext cx="2386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03 · 从单品竞争到场景化解决方案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4260850"/>
              <a:ext cx="3612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Home Collection 联合 LG / Schneider 进场配件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4527550"/>
              <a:ext cx="39484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华为全屋智能 4.0 · 小米人车家全生态 —— 都是场景化打法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53150" y="37528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9185" y="3956050"/>
              <a:ext cx="2235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04 · 隐私与安全成为高端差异化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4260850"/>
              <a:ext cx="41114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Secure Exclaves + Private Cloud Compute（官方披露）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185" y="4527550"/>
              <a:ext cx="3864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小米安全芯片防护 —— 隐私是共同叙事，但实现路径不同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524500"/>
            <a:ext cx="10363200" cy="876300"/>
          </a:xfrm>
          <a:prstGeom prst="roundRect">
            <a:avLst>
              <a:gd name="adj" fmla="val 15217"/>
            </a:avLst>
          </a:prstGeom>
          <a:solidFill>
            <a:srgbClr val="0E2440"/>
          </a:solidFill>
          <a:ln w="9525">
            <a:solidFill>
              <a:schemeClr val="accent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689600"/>
            <a:ext cx="20695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分析判断（非官方披露）：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5975350"/>
            <a:ext cx="79807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苹果将延续「硬件-系统-服务」三位一体，HomeView 只是入口 —— 后续可能围绕 HomeKit/Home 应用生态继续扩展，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7285" y="6184900"/>
            <a:ext cx="7098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并以 Matter 兼容性吸收非苹果硬件；华为继续深耕前装工程渠道；小米依托设备数量优势推动 AI 普惠化。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4645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FUTURE TRENDS · 未来趋势预判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2748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四大趋势与三家卡位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914400" y="2000250"/>
            <a:ext cx="10477500" cy="3048000"/>
            <a:chOff x="914400" y="2000250"/>
            <a:chExt cx="10477500" cy="3048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184400"/>
              <a:ext cx="1767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AI 成为核心竞争力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501900"/>
              <a:ext cx="9880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竞争焦点从「设备连接数量」转向「AI 体验深度」：谁能更主动、更懂用户，谁掌握主动权。苹果 Siri AI（beta 英语）、小艺/小爱大模型均已落地中文场景。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248400" y="20002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9185" y="2184400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02 · 生态壁垒与互联互通并存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2501900"/>
              <a:ext cx="101360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各厂继续筑自有壁垒巩固用户，同时 Matter 协议打破品牌连接界限 → 跨品牌互联成为默认能力。苹果 Home Collection 与华为/小米的 Matter 支持都是同一信号。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14400" y="361950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9185" y="3803650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03 · 场景化解决方案成为主流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566" y="4121150"/>
              <a:ext cx="9616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「家庭影院」「健康管理」「全屋节能」等一体化解法替代单品销售。华为前装成套已是最典型场景化打法；苹果 Home Collection 也在向场景组合演进。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48400" y="361950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99185" y="3803650"/>
              <a:ext cx="163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5F3FC"/>
                  </a:solidFill>
                  <a:latin typeface="Consolas"/>
                  <a:ea typeface="Microsoft YaHei"/>
                  <a:cs typeface="Consolas"/>
                </a:rPr>
                <a:t>04 · 前装市场潜力巨大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4121150"/>
              <a:ext cx="102159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房地产存量时代，全屋前装爆发。能提供稳定标准前装方案的厂商占据新房装修与旧改核心优势 —— 华为 PLC 有线方案最受益，小米后装最灵活，苹果需补渠道。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914400" y="5715000"/>
            <a:ext cx="10363200" cy="419100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137666" y="5835650"/>
            <a:ext cx="48844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结论：AI 重塑体验，生态决定壁垒 —— 前装决定存量，Matter 决定互通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78586" y="187960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智能家居战争，已从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2546350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「卖硬件」转向</a:t>
            </a:r>
            <a:r>
              <a:rPr lang="zh-CN" sz="3300" b="1" dirty="0">
                <a:solidFill>
                  <a:srgbClr val="FACC15"/>
                </a:solidFill>
                <a:latin typeface="+mn-lt"/>
                <a:ea typeface="+mn-ea"/>
                <a:cs typeface="+mn-cs"/>
              </a:rPr>
              <a:t>「卖系统与体验」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3390900"/>
            <a:ext cx="495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914400" y="4000500"/>
            <a:ext cx="10382250" cy="1333500"/>
            <a:chOff x="914400" y="4000500"/>
            <a:chExt cx="10382250" cy="1333500"/>
          </a:xfrm>
        </p:grpSpPr>
        <p:sp>
          <p:nvSpPr>
            <p:cNvPr id="6" name="Rectangle 6"/>
            <p:cNvSpPr/>
            <p:nvPr/>
          </p:nvSpPr>
          <p:spPr>
            <a:xfrm>
              <a:off x="9144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0EA5E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7285" y="424180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APPLE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4540250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 + 隐私为矛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4851400"/>
              <a:ext cx="2254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· HomeView · 三方联盟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43865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F59E0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6153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// HUAWEI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60392" y="4540250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空间形态 + 工程渠道为矛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61535" y="4851400"/>
              <a:ext cx="20821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S2 空间穿越 · 全屋主机 + PLC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9629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10B98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8578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// XIAOMI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4642" y="4540250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生态广度 + 普及度领跑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5785" y="4851400"/>
              <a:ext cx="2585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· 自研 Mesh 组网 + 小爱同学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715000"/>
            <a:ext cx="10363200" cy="1028700"/>
            <a:chOff x="914400" y="5715000"/>
            <a:chExt cx="10363200" cy="1028700"/>
          </a:xfrm>
        </p:grpSpPr>
        <p:sp>
          <p:nvSpPr>
            <p:cNvPr id="19" name="Rectangle 19"/>
            <p:cNvSpPr/>
            <p:nvPr/>
          </p:nvSpPr>
          <p:spPr>
            <a:xfrm>
              <a:off x="914400" y="5715000"/>
              <a:ext cx="10363200" cy="762000"/>
            </a:xfrm>
            <a:prstGeom prst="roundRect">
              <a:avLst>
                <a:gd name="adj" fmla="val 175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7666" y="5873750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RECOMMENDATION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430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0066" y="6292850"/>
              <a:ext cx="17709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高端商务/隐私敏感 → Apple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90447" y="6515100"/>
              <a:ext cx="16225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+ 端侧隐私 + 系统统一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3865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5716" y="6292850"/>
              <a:ext cx="1882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全屋装修/鸿蒙生态 → Huawei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609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空间穿越 + 多设备协同 + 国产链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7343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81366" y="6292850"/>
              <a:ext cx="184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预算有限/米家用户 → Xiaomi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8174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+ 小爱同学 + 自研生态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09638" y="6470650"/>
            <a:ext cx="67294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数据来源：Apple 官方新闻稿与规格页 · 华为 consumer.huawei.com · 小米 mi.com/xiaomi-smartdisplay-11 · 未披露项标注「官方未公布」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1490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APPENDIX · 数据来源与方法论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365760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附录：本报告数据核实清单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914400" y="2095500"/>
            <a:ext cx="10477500" cy="3238500"/>
            <a:chOff x="914400" y="2095500"/>
            <a:chExt cx="10477500" cy="3238500"/>
          </a:xfrm>
        </p:grpSpPr>
        <p:sp>
          <p:nvSpPr>
            <p:cNvPr id="5" name="Rectangle 5"/>
            <p:cNvSpPr/>
            <p:nvPr/>
          </p:nvSpPr>
          <p:spPr>
            <a:xfrm>
              <a:off x="914400" y="2095500"/>
              <a:ext cx="51435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279650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官方数据源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635250"/>
              <a:ext cx="366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Newsroom（2026-10-13）Welcome Home 新闻稿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921000"/>
              <a:ext cx="4579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apple.com 产品规格页（HomeView / Apple TV 4K / HomePod mini 2）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206750"/>
              <a:ext cx="2944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consumer.huawei.com 智能中控屏 S2 产品页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92500"/>
              <a:ext cx="2238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mi.com 小米智能家庭屏 11 产品页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778250"/>
              <a:ext cx="4479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小米集团 2025 年度业绩公告（ir.mi.com）· AIoT 连接设备 10.79 亿台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4121150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方法论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566" y="4464050"/>
              <a:ext cx="39108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仅收录厂商官方披露参数；未披露项一律标注「官方未公布」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4749800"/>
              <a:ext cx="3848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不采用第三方调研机构份额/价格/销量数据（无法独立核实）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5035550"/>
              <a:ext cx="43851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所有图片均来自官方渠道（Apple Newsroom / 华为官网 / 小米官网）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48400" y="2095500"/>
              <a:ext cx="51435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9185" y="2279650"/>
              <a:ext cx="863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报告信息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2635250"/>
              <a:ext cx="3392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报告主题：Apple Welcome Home 智能家居竞品洞察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2921000"/>
              <a:ext cx="1877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版本：专业深度版 v4 · 21 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206750"/>
              <a:ext cx="1241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日期：2026-10-16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566" y="3492500"/>
              <a:ext cx="2450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适用对象：产品 / 战略 / 市场分析团队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566" y="3835400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// 免责声明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566" y="4178300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本报告基于发布日可核实的官方公开信息分析，不构成投资建议；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446405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厂商未披露的参数与规划，属于合理推断而非事实陈述。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23751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THANKS · 致谢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2451100"/>
            <a:ext cx="181051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感谢阅读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7542" y="3225800"/>
            <a:ext cx="32647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探索智能家居新生态 · 共创美好智慧生活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9066" y="3683000"/>
            <a:ext cx="33297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Apple Welcome Home 2026 · 智能家居竞品洞察报告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4152900"/>
            <a:ext cx="1905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pple-welcome-home">
  <a:themeElements>
    <a:clrScheme name="apple-welcome-home">
      <a:dk1>
        <a:srgbClr val="E2E8F0"/>
      </a:dk1>
      <a:lt1>
        <a:srgbClr val="0B1120"/>
      </a:lt1>
      <a:dk2>
        <a:srgbClr val="1F497D"/>
      </a:dk2>
      <a:lt2>
        <a:srgbClr val="0B1120"/>
      </a:lt2>
      <a:accent1>
        <a:srgbClr val="22D3EE"/>
      </a:accent1>
      <a:accent2>
        <a:srgbClr val="A78BFA"/>
      </a:accent2>
      <a:accent3>
        <a:srgbClr val="7DD3FC"/>
      </a:accent3>
      <a:accent4>
        <a:srgbClr val="22D3EE"/>
      </a:accent4>
      <a:accent5>
        <a:srgbClr val="0E1830"/>
      </a:accent5>
      <a:accent6>
        <a:srgbClr val="94A3B8"/>
      </a:accent6>
      <a:hlink>
        <a:srgbClr val="A78BFA"/>
      </a:hlink>
      <a:folHlink>
        <a:srgbClr val="7DD3FC"/>
      </a:folHlink>
    </a:clrScheme>
    <a:fontScheme name="apple-welcome-hom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ple-welcome-ho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2026-10-16T06:10:20Z</dcterms:created>
  <dcterms:modified xsi:type="dcterms:W3CDTF">2026-10-16T06:10:20Z</dcterms:modified>
  <cp:category/>
  <cp:contentStatus/>
</cp:coreProperties>
</file>