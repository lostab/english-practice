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8" name="Rectangle 8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10" name="Rectangle 10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4" name="Rectangle 14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8" name="Rectangle 18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1E3A5F">
                <a:alpha val="40000"/>
              </a:srgbClr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4221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225" dirty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// TIMELINE · 2011 —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苹果智能家居演进史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3048000" cy="38100"/>
          </a:xfrm>
          <a:prstGeom prst="roundRect">
            <a:avLst>
              <a:gd name="adj" fmla="val 37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3810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1E3A5F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5800" y="3416300"/>
            <a:ext cx="1295400" cy="1651000"/>
            <a:chOff x="685800" y="3416300"/>
            <a:chExt cx="1295400" cy="1651000"/>
          </a:xfrm>
        </p:grpSpPr>
        <p:sp>
          <p:nvSpPr>
            <p:cNvPr id="7" name="Ellipse 7"/>
            <p:cNvSpPr/>
            <p:nvPr/>
          </p:nvSpPr>
          <p:spPr>
            <a:xfrm>
              <a:off x="12382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67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893" y="4152900"/>
              <a:ext cx="77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iPhone 4S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9481" y="4419600"/>
              <a:ext cx="768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Siri 语音首秀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837" y="4629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语音交互概念引入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76500" y="3416300"/>
            <a:ext cx="1295400" cy="1651000"/>
            <a:chOff x="2476500" y="3416300"/>
            <a:chExt cx="1295400" cy="1651000"/>
          </a:xfrm>
        </p:grpSpPr>
        <p:sp>
          <p:nvSpPr>
            <p:cNvPr id="14" name="Ellipse 14"/>
            <p:cNvSpPr/>
            <p:nvPr/>
          </p:nvSpPr>
          <p:spPr>
            <a:xfrm>
              <a:off x="30289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74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90612" y="4152900"/>
              <a:ext cx="667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34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统一智能家居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234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通信协议框架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67200" y="3416300"/>
            <a:ext cx="1295400" cy="1651000"/>
            <a:chOff x="4267200" y="3416300"/>
            <a:chExt cx="1295400" cy="1651000"/>
          </a:xfrm>
        </p:grpSpPr>
        <p:sp>
          <p:nvSpPr>
            <p:cNvPr id="21" name="Ellipse 21"/>
            <p:cNvSpPr/>
            <p:nvPr/>
          </p:nvSpPr>
          <p:spPr>
            <a:xfrm>
              <a:off x="48196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81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672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59766" y="4152900"/>
              <a:ext cx="710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3229" y="4419600"/>
              <a:ext cx="8833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音频中心 + Siri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41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音频交互入口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57900" y="3416300"/>
            <a:ext cx="1295400" cy="1651000"/>
            <a:chOff x="6057900" y="3416300"/>
            <a:chExt cx="1295400" cy="1651000"/>
          </a:xfrm>
        </p:grpSpPr>
        <p:sp>
          <p:nvSpPr>
            <p:cNvPr id="28" name="Ellipse 28"/>
            <p:cNvSpPr/>
            <p:nvPr/>
          </p:nvSpPr>
          <p:spPr>
            <a:xfrm>
              <a:off x="66103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988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579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63983" y="4152900"/>
              <a:ext cx="1083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0828" y="44196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低价位入口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6792" y="46291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生态普及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848600" y="3416300"/>
            <a:ext cx="1295400" cy="1651000"/>
            <a:chOff x="7848600" y="3416300"/>
            <a:chExt cx="1295400" cy="1651000"/>
          </a:xfrm>
        </p:grpSpPr>
        <p:sp>
          <p:nvSpPr>
            <p:cNvPr id="35" name="Ellipse 35"/>
            <p:cNvSpPr/>
            <p:nvPr/>
          </p:nvSpPr>
          <p:spPr>
            <a:xfrm>
              <a:off x="84010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95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2023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486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82286" y="4152900"/>
              <a:ext cx="828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Vision Pro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55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空间计算入口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5758" y="4629150"/>
              <a:ext cx="10410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家居 AR/VR 可能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05950" y="3416300"/>
            <a:ext cx="1562100" cy="1765300"/>
            <a:chOff x="9505950" y="3416300"/>
            <a:chExt cx="1562100" cy="1765300"/>
          </a:xfrm>
        </p:grpSpPr>
        <p:sp>
          <p:nvSpPr>
            <p:cNvPr id="42" name="Ellipse 42"/>
            <p:cNvSpPr/>
            <p:nvPr/>
          </p:nvSpPr>
          <p:spPr>
            <a:xfrm>
              <a:off x="10163175" y="3686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66675">
                <a:srgbClr val="000000">
                  <a:alpha val="30000"/>
                </a:srgbClr>
              </a:glo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100802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5F3FC"/>
                  </a:solidFill>
                  <a:latin typeface="Consolas"/>
                  <a:ea typeface="Consolas"/>
                  <a:cs typeface="Consolas"/>
                </a:rPr>
                <a:t>2026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05950" y="4038600"/>
              <a:ext cx="1562100" cy="1143000"/>
            </a:xfrm>
            <a:prstGeom prst="roundRect">
              <a:avLst>
                <a:gd name="adj" fmla="val 8333"/>
              </a:avLst>
            </a:prstGeom>
            <a:solidFill>
              <a:srgbClr val="0E244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89555" y="4152900"/>
              <a:ext cx="794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4337" y="4419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家庭操作系统枢纽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862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全屋连接枢纽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174242" y="5835650"/>
            <a:ext cx="90761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核心洞察：Apple 从「零散硬件」进化为「系统级平台」——HomeView 作为中央枢纽，统一全屋设备控制与数据流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74242" y="6083300"/>
            <a:ext cx="57666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并通过 A18 + NeuralEngine 6T + 7" LG 有机 EL 屏实现高性能本地处理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7924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225" dirty="0">
                <a:solidFill>
                  <a:srgbClr val="A5F3FC"/>
                </a:solidFill>
                <a:latin typeface="Consolas"/>
                <a:ea typeface="Microsoft YaHei"/>
                <a:cs typeface="Consolas"/>
              </a:rPr>
              <a:t>// EVENT SYNOPSIS · 发布会全景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802995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发布会全景：主题、环节与三大核心亮点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4000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914400" y="2000250"/>
            <a:ext cx="3429000" cy="4286250"/>
            <a:chOff x="914400" y="2000250"/>
            <a:chExt cx="342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914400" y="2000250"/>
              <a:ext cx="3429000" cy="428625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2000250"/>
              <a:ext cx="3429000" cy="533400"/>
            </a:xfrm>
            <a:prstGeom prst="roundRect">
              <a:avLst>
                <a:gd name="adj" fmla="val 28571"/>
              </a:avLst>
            </a:prstGeom>
            <a:solidFill>
              <a:srgbClr val="0E99FF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2197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环节排期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19200" y="28575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28575">
              <a:solidFill>
                <a:srgbClr val="1E3A5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33475" y="2771775"/>
              <a:ext cx="171450" cy="171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E183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41323" y="2762250"/>
              <a:ext cx="12992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开场致辞 · 5min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2466" y="2997200"/>
              <a:ext cx="1654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Tim Cook 回归家庭的意义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133475" y="3343275"/>
              <a:ext cx="171450" cy="17145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E183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1323" y="3333750"/>
              <a:ext cx="19440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介绍 · 12min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2466" y="3568700"/>
              <a:ext cx="1832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中央枢纽概念 · 全屋连接入口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133475" y="3914775"/>
              <a:ext cx="171450" cy="171450"/>
            </a:xfrm>
            <a:prstGeom prst="ellipse">
              <a:avLst/>
            </a:prstGeom>
            <a:solidFill>
              <a:srgbClr val="0E99FF"/>
            </a:solidFill>
            <a:ln w="28575">
              <a:solidFill>
                <a:srgbClr val="0E183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41323" y="3905250"/>
              <a:ext cx="13987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硬件发布 · 20min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2466" y="4140200"/>
              <a:ext cx="2027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HomePod 2 · 新一代传感器阵列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133475" y="4486275"/>
              <a:ext cx="171450" cy="171450"/>
            </a:xfrm>
            <a:prstGeom prst="ellipse">
              <a:avLst/>
            </a:prstGeom>
            <a:solidFill>
              <a:srgbClr val="E96A68"/>
            </a:solidFill>
            <a:ln w="28575">
              <a:solidFill>
                <a:srgbClr val="0E183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41323" y="4476750"/>
              <a:ext cx="13987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软件生态 · 15min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2466" y="4711700"/>
              <a:ext cx="1828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HomeOS 2.0 · 生态合作伙伴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133475" y="5057775"/>
              <a:ext cx="171450" cy="171450"/>
            </a:xfrm>
            <a:prstGeom prst="ellipse">
              <a:avLst/>
            </a:prstGeom>
            <a:solidFill>
              <a:srgbClr val="F9C80E"/>
            </a:solidFill>
            <a:ln w="28575">
              <a:solidFill>
                <a:srgbClr val="0E183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41323" y="5048250"/>
              <a:ext cx="13987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场景演示 · 18min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2466" y="5283200"/>
              <a:ext cx="2068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真实生活场景（清早/归家/晚安）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133475" y="5629275"/>
              <a:ext cx="171450" cy="171450"/>
            </a:xfrm>
            <a:prstGeom prst="ellipse">
              <a:avLst/>
            </a:prstGeom>
            <a:solidFill>
              <a:srgbClr val="A3E635"/>
            </a:solidFill>
            <a:ln w="28575">
              <a:solidFill>
                <a:srgbClr val="0E183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41323" y="5619750"/>
              <a:ext cx="129927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合作伙伴 · 8min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2466" y="5854700"/>
              <a:ext cx="20082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· Schneider · ADT 合作官宣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610100" y="2000250"/>
            <a:ext cx="6667500" cy="4095750"/>
            <a:chOff x="4610100" y="2000250"/>
            <a:chExt cx="6667500" cy="4095750"/>
          </a:xfrm>
        </p:grpSpPr>
        <p:sp>
          <p:nvSpPr>
            <p:cNvPr id="29" name="Rectangle 29"/>
            <p:cNvSpPr/>
            <p:nvPr/>
          </p:nvSpPr>
          <p:spPr>
            <a:xfrm>
              <a:off x="4610100" y="20002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32223" y="2190750"/>
              <a:ext cx="32897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亮点 01 · HomeView 中央控制台 + 生态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32985" y="2489200"/>
              <a:ext cx="3949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LG 显示屏 + Schneider 电路集成 + ADT 安防协议验证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32985" y="2717800"/>
              <a:ext cx="3105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双核 + NeuralEngine 6T，本地实时响应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32985" y="2946400"/>
              <a:ext cx="3505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LGS/Schneider/ADT 三方硬件合作验证，对外开放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10100" y="34099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32223" y="3600450"/>
              <a:ext cx="302824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4B5F9"/>
                  </a:solidFill>
                  <a:latin typeface="Consolas"/>
                  <a:ea typeface="Microsoft YaHei"/>
                  <a:cs typeface="Consolas"/>
                </a:rPr>
                <a:t>亮点 02 · HomeOS 2.0 + Siri 进阶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2985" y="3898900"/>
              <a:ext cx="3026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 85% + Cloud 15%，隐私优先架构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32985" y="4127500"/>
              <a:ext cx="3308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上下文感知 + 多角色声纹识别（11 种角色）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985" y="4356100"/>
              <a:ext cx="3049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主动建议：基于时间/地点/人群的自动化推荐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10100" y="48196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rgbClr val="A3E63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32223" y="5010150"/>
              <a:ext cx="29526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亮点 03 · HomePod 2 + 传感器阵列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2985" y="5308600"/>
              <a:ext cx="4072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 full-range drivers + 2× tweeters，空间音频 + 多房间同步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2985" y="5537200"/>
              <a:ext cx="2446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本地语音处理，离线指令 95% 支持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32985" y="5765800"/>
              <a:ext cx="3995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新一代传感器阵列：温湿度/运动/光照/杂质，数据本地加密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914400" y="6477000"/>
            <a:ext cx="10363200" cy="3048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175766" y="6550025"/>
            <a:ext cx="52227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发布会主题：Welcome Home 在家焕新启幕 · 苹果正式进入「家庭操作系统」时代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0110" y="965200"/>
            <a:ext cx="77876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571500" y="2000250"/>
            <a:ext cx="6489643" cy="4648200"/>
            <a:chOff x="571500" y="2000250"/>
            <a:chExt cx="6489643" cy="4648200"/>
          </a:xfrm>
        </p:grpSpPr>
        <p:sp>
          <p:nvSpPr>
            <p:cNvPr id="6" name="Rectangle 6"/>
            <p:cNvSpPr/>
            <p:nvPr/>
          </p:nvSpPr>
          <p:spPr>
            <a:xfrm>
              <a:off x="571500" y="2000250"/>
              <a:ext cx="1333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8700" y="2174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905000" y="2000250"/>
              <a:ext cx="1333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296096" y="2162175"/>
              <a:ext cx="5513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2000250"/>
              <a:ext cx="1333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49837" y="2162175"/>
              <a:ext cx="710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0" y="2000250"/>
              <a:ext cx="1333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10090" y="2162175"/>
              <a:ext cx="657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00250"/>
              <a:ext cx="19050" cy="32385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609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8185" y="28606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905000" y="2609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70735" y="2774950"/>
              <a:ext cx="989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+ NPU 6T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38500" y="2609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04235" y="2774950"/>
              <a:ext cx="17321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Kirin 910 + AI Core 3.0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0" y="2609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37735" y="2774950"/>
              <a:ext cx="1273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AI Chip X2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32956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8185" y="35464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5000" y="32956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70735" y="3460750"/>
              <a:ext cx="2308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LG 有机 EL · 400 nits · 常亮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238500" y="32956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04235" y="3460750"/>
              <a:ext cx="1852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5.5" AMOLED · 350 nits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72000" y="32956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37735" y="3460750"/>
              <a:ext cx="1503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6.8" LCD · 300 nits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39814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8185" y="42322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语音助手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05000" y="39814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70735" y="4146550"/>
              <a:ext cx="111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11角色声纹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38500" y="39814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04235" y="4146550"/>
              <a:ext cx="1017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Celia 85%本地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72000" y="39814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37735" y="4146550"/>
              <a:ext cx="954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 92%本地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1500" y="46672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8185" y="4918075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05000" y="46672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70735" y="4832350"/>
              <a:ext cx="1835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2GB LPDDR5 · 8GB eMMC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238500" y="46672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04235" y="4832350"/>
              <a:ext cx="2019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3GB LPDDR4X · 16GB eMMC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572000" y="46672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737735" y="4832350"/>
              <a:ext cx="2019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4GB LPDDR4X · 32GB eMMC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1500" y="53530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8185" y="560387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连接协议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05000" y="53530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70735" y="5518150"/>
              <a:ext cx="32000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Wi-Fi 6E · Thread 1.3 · Zigbee 3.0 · PoE+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238500" y="53530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404235" y="5518150"/>
              <a:ext cx="2556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Wi-Fi 6 · Thread 1.2 · Zigbee 3.0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72000" y="53530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37735" y="5518150"/>
              <a:ext cx="2323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Wi-Fi 5 · Zigbee 3.0 · Mi Home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1500" y="6038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8185" y="62896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价格段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905000" y="6038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070735" y="6203950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¥799 - ¥1299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238500" y="6038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04235" y="6203950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¥599 - ¥999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572000" y="603885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737735" y="6203950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¥399 - ¥699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174242" y="6026150"/>
            <a:ext cx="51006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Apple：A18 芯片 + 本地隐私 85% · 旗舰定位 · 最高硬件水平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9392" y="6026150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●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50392" y="6026150"/>
            <a:ext cx="41611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rgbClr val="6EE7B7"/>
              </a:buClr>
              <a:buSzTx/>
              <a:buFontTx/>
              <a:buChar char="●"/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Huawei：Kirin + 多模协同 · 主流平价 · 生态延展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31392" y="6026150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●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612392" y="6026150"/>
            <a:ext cx="4668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rgbClr val="6EE7B7"/>
              </a:buClr>
              <a:buSzTx/>
              <a:buFontTx/>
              <a:buChar char="●"/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Xiaomi：AI Chip X2 · 入门普及 · 生态最开放 200+ 配件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71671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COMPARISON MATRIX · Apple × Huawei × Xiaomi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0110" y="1060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三方核心产品对比矩阵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8" name="Group 78"/>
          <p:cNvGrpSpPr/>
          <p:nvPr/>
        </p:nvGrpSpPr>
        <p:grpSpPr>
          <a:xfrm>
            <a:off x="571500" y="2095500"/>
            <a:ext cx="11334750" cy="4648200"/>
            <a:chOff x="571500" y="2095500"/>
            <a:chExt cx="11334750" cy="46482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2476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57122" y="22447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143250" y="2095500"/>
              <a:ext cx="28575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68781" y="2244725"/>
              <a:ext cx="60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095500"/>
              <a:ext cx="2857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33795" y="2244725"/>
              <a:ext cx="781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048750" y="2095500"/>
              <a:ext cx="28575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15974" y="2244725"/>
              <a:ext cx="723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051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4004" y="29432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43250" y="2705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8223" y="2857500"/>
              <a:ext cx="19066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+ NeuralEngine 6T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09366" y="3092450"/>
              <a:ext cx="1809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业界最高性能 + 专注 AI 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2705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60973" y="2857500"/>
              <a:ext cx="19795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Kirin 910 + AI Core 3.0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62116" y="30924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平衡性能与能耗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48750" y="2705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13723" y="2857500"/>
              <a:ext cx="14549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AI Chip X2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14866" y="3092450"/>
              <a:ext cx="898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入门/中端定位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3909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3242" y="36163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43250" y="33909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08604" y="3543300"/>
              <a:ext cx="2473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LG 有机 EL · 400 nits · 常亮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09366" y="3759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常亮模式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0" y="33909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60973" y="3543300"/>
              <a:ext cx="211753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5.5" AMOLED · 350 nits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48750" y="33909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13723" y="3543300"/>
              <a:ext cx="17178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6.8" LCD · 300 nits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14866" y="3759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成本导向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40767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3242" y="43021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语音助手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43250" y="40767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08223" y="4229100"/>
              <a:ext cx="16156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11角色声纹识别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09366" y="4464050"/>
              <a:ext cx="16211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种角色 + 98%+ 准确率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96000" y="40767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60973" y="4229100"/>
              <a:ext cx="12175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Celia 85% 本地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048750" y="40767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13723" y="4229100"/>
              <a:ext cx="14901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小爱同学 92% 本地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14866" y="44640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多语言优化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7625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3242" y="4987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生态合作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143250" y="47625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308223" y="4914900"/>
              <a:ext cx="18198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LG + Schneider + ADT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09366" y="51498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三方硬件协议认证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96000" y="47625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60973" y="4914900"/>
              <a:ext cx="16437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Hisense + Hikvision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62116" y="5149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国内生态体系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048750" y="47625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13723" y="4914900"/>
              <a:ext cx="1721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Mi Home + 200+ 生态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14866" y="5149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最宽泛生态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54483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3242" y="56737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隐私模型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143250" y="54483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308223" y="5600700"/>
              <a:ext cx="18122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本地 85% + Cloud 15%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309366" y="58356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业界最高隐私承诺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0" y="54483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60973" y="5600700"/>
              <a:ext cx="18122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本地 60% + Cloud 40%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62116" y="583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中等级隐私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048750" y="54483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13723" y="5600700"/>
              <a:ext cx="18122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本地 50% + Cloud 50%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14866" y="583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偏云端处理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71500" y="613410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3242" y="63595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价格段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143250" y="6134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308604" y="6286500"/>
              <a:ext cx="104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¥799 - ¥1299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309366" y="6521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旗舰定位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096000" y="6134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61735" y="6299200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¥599 - ¥999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62116" y="6521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平价中端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048750" y="6134100"/>
              <a:ext cx="2857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14485" y="6299200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¥399 - ¥699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14866" y="65214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入门级</a:t>
              </a:r>
            </a:p>
          </p:txBody>
        </p:sp>
      </p:grpSp>
      <p:sp>
        <p:nvSpPr>
          <p:cNvPr id="79" name="Rectangle 79"/>
          <p:cNvSpPr/>
          <p:nvPr/>
        </p:nvSpPr>
        <p:spPr>
          <a:xfrm>
            <a:off x="914400" y="621030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1174242" y="6159500"/>
            <a:ext cx="106190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总结：Apple A18+隐私优先+三方合作 = 旗舰体验；Huawei Kirin + 多模协同 = 中高端平衡；Xiaomi AI Chip + 200+ 配件 = 入门友好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5069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中央控制台拆解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988004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中央控制台：从硬件到软件的全栈拆解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095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333500" y="2286000"/>
            <a:ext cx="4381500" cy="3048000"/>
            <a:chOff x="1333500" y="2286000"/>
            <a:chExt cx="4381500" cy="3048000"/>
          </a:xfrm>
        </p:grpSpPr>
        <p:sp>
          <p:nvSpPr>
            <p:cNvPr id="6" name="Rectangle 6"/>
            <p:cNvSpPr/>
            <p:nvPr/>
          </p:nvSpPr>
          <p:spPr>
            <a:xfrm>
              <a:off x="1333500" y="2286000"/>
              <a:ext cx="4381500" cy="30480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562100" y="2514600"/>
              <a:ext cx="3924300" cy="1143000"/>
            </a:xfrm>
            <a:prstGeom prst="roundRect">
              <a:avLst>
                <a:gd name="adj" fmla="val 11667"/>
              </a:avLst>
            </a:prstGeom>
            <a:solidFill>
              <a:srgbClr val="0A1628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7266" y="2778125"/>
              <a:ext cx="920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HOME 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1170" y="30543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中央控制台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00200" y="3848100"/>
              <a:ext cx="1714500" cy="514350"/>
            </a:xfrm>
            <a:prstGeom prst="roundRect">
              <a:avLst>
                <a:gd name="adj" fmla="val 18519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09547" y="4000500"/>
              <a:ext cx="9300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7" 有机 EL 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90900" y="3848100"/>
              <a:ext cx="2095500" cy="514350"/>
            </a:xfrm>
            <a:prstGeom prst="roundRect">
              <a:avLst>
                <a:gd name="adj" fmla="val 18519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00247" y="4000500"/>
              <a:ext cx="929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+ NPU 6T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695450" y="4953000"/>
              <a:ext cx="114300" cy="114300"/>
            </a:xfrm>
            <a:prstGeom prst="ellipse">
              <a:avLst/>
            </a:prstGeom>
            <a:solidFill>
              <a:srgbClr val="A3E635"/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1918335" y="4927600"/>
              <a:ext cx="286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Wi-Fi 6E · Thread 1.3 · Zigbee 3.0 · PoE+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0" y="2286000"/>
            <a:ext cx="5524500" cy="2895600"/>
            <a:chOff x="6096000" y="2286000"/>
            <a:chExt cx="5524500" cy="2895600"/>
          </a:xfrm>
        </p:grpSpPr>
        <p:sp>
          <p:nvSpPr>
            <p:cNvPr id="17" name="Rectangle 17"/>
            <p:cNvSpPr/>
            <p:nvPr/>
          </p:nvSpPr>
          <p:spPr>
            <a:xfrm>
              <a:off x="6096000" y="22860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8504" y="2419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4404" y="2419350"/>
              <a:ext cx="2796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LG 有机 EL · 400 nits · 常亮模式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27813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18504" y="29146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4404" y="2914650"/>
              <a:ext cx="3114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A18 dual-core + NeuralEngine 6T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0" y="32766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18504" y="34099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404" y="3409950"/>
              <a:ext cx="2343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2GB LPDDR5 · 8GB eMMC 存储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0" y="37719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18504" y="39052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404" y="3905250"/>
              <a:ext cx="3785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· Thread 1.3 · Zigbee 3.0 · Ethernet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0" y="42672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8504" y="4400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电源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4404" y="4400550"/>
              <a:ext cx="2243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/ 110-240V 电源适配器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0" y="47625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8504" y="4895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尺寸重量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04404" y="4895850"/>
              <a:ext cx="2073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185 × 120 × 18 mm · 420 g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73861" y="5861050"/>
            <a:ext cx="518288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HomeOS 2.0 · </a:t>
            </a:r>
            <a:r>
              <a:rPr lang="zh-CN" sz="14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本地处理 85%</a:t>
            </a:r>
            <a:r>
              <a: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· Siri 支持 11 种角色声纹识别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5385" y="6127750"/>
            <a:ext cx="50734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隐私优先架构：本地处理 85% · Cloud 仅 15% · 用户随时导出/删除个人数据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SOFTWARE ECOSYSTEM · 软件生态与功能矩阵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902528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HomeOS 2.0 功能矩阵 - 生态与 AI 能力全景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914400" y="2286000"/>
            <a:ext cx="4953000" cy="4476750"/>
            <a:chOff x="914400" y="2286000"/>
            <a:chExt cx="4953000" cy="4476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444750"/>
              <a:ext cx="832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AUTOMATION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60650"/>
              <a:ext cx="4015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全局自动化与跨设备协同，场景引擎支持时间/地点/人群触发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304800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99566" y="3206750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22650"/>
              <a:ext cx="3378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 85% · 端侧加密 · 用户可控数据导出/删除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381000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566" y="396875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SIRI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613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上下文感知 · 多角色声纹识别（11 种角色）· 主动建议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4400" y="457200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9566" y="4730750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HOMEKIT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4946650"/>
              <a:ext cx="359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统一协议 · 原生支持 200+ 配件品类 · Matter 兼容加密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4400" y="533400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9566" y="54927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ENERGY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5708650"/>
              <a:ext cx="3612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能耗监测与策略 · 智能调度家电 · 节能引擎 ±18% 优化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609600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9566" y="6254750"/>
              <a:ext cx="1242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THREAD / MATTER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6470650"/>
              <a:ext cx="3360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 1.3 mesh · Matter 1.2 认证 · 跨品牌互操作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77000" y="2286000"/>
            <a:ext cx="4953000" cy="3087243"/>
            <a:chOff x="6477000" y="2286000"/>
            <a:chExt cx="4953000" cy="3087243"/>
          </a:xfrm>
        </p:grpSpPr>
        <p:sp>
          <p:nvSpPr>
            <p:cNvPr id="25" name="Rectangle 25"/>
            <p:cNvSpPr/>
            <p:nvPr/>
          </p:nvSpPr>
          <p:spPr>
            <a:xfrm>
              <a:off x="6477000" y="2286000"/>
              <a:ext cx="4953000" cy="2857500"/>
            </a:xfrm>
            <a:prstGeom prst="roundRect">
              <a:avLst>
                <a:gd name="adj" fmla="val 5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99885" y="2489200"/>
              <a:ext cx="2201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LOCAL VS CLOUD COMPUTE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9123" y="2933700"/>
              <a:ext cx="4703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05600" y="3276600"/>
              <a:ext cx="4362450" cy="190500"/>
            </a:xfrm>
            <a:prstGeom prst="roundRect">
              <a:avLst>
                <a:gd name="adj" fmla="val 50000"/>
              </a:avLst>
            </a:prstGeom>
            <a:solidFill>
              <a:srgbClr val="12233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5600" y="3276600"/>
              <a:ext cx="3705225" cy="190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3E635"/>
                </a:gs>
                <a:gs pos="100000">
                  <a:srgbClr val="84CC1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567797" y="3314700"/>
              <a:ext cx="2275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85%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123" y="3657600"/>
              <a:ext cx="606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05600" y="4000500"/>
              <a:ext cx="4362450" cy="190500"/>
            </a:xfrm>
            <a:prstGeom prst="roundRect">
              <a:avLst>
                <a:gd name="adj" fmla="val 50000"/>
              </a:avLst>
            </a:prstGeom>
            <a:solidFill>
              <a:srgbClr val="12233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05600" y="4000500"/>
              <a:ext cx="2619375" cy="1905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8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24797" y="4038600"/>
              <a:ext cx="2275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60%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99123" y="4381500"/>
              <a:ext cx="5608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05600" y="4724400"/>
              <a:ext cx="4362450" cy="190500"/>
            </a:xfrm>
            <a:prstGeom prst="roundRect">
              <a:avLst>
                <a:gd name="adj" fmla="val 50000"/>
              </a:avLst>
            </a:prstGeom>
            <a:solidFill>
              <a:srgbClr val="12233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05600" y="4724400"/>
              <a:ext cx="2181225" cy="190500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8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86647" y="4762500"/>
              <a:ext cx="2275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50%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0647" y="5181600"/>
              <a:ext cx="23552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本地计算占比 · 越高隐私越强 · 延迟越低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174242" y="6064250"/>
            <a:ext cx="99360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HomeOS 2.0 三大支柱：</a:t>
            </a: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统一协议（HomeKit/Thread/Matter）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· </a:t>
            </a:r>
            <a:r>
              <a:rPr lang="zh-CN" sz="1350" dirty="0">
                <a:solidFill>
                  <a:srgbClr val="A3E635"/>
                </a:solidFill>
                <a:latin typeface="+mn-lt"/>
                <a:ea typeface="+mn-ea"/>
                <a:cs typeface="+mn-cs"/>
              </a:rPr>
              <a:t>隐私优先（85%本地）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· </a:t>
            </a:r>
            <a:r>
              <a: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情境 AI（Siri声纹+主动建议）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AI VOICE ASSISTANT · 语音助手三强对决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993069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AI 语音助手深度拆解 - Siri vs Celia vs 小爱同学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762000" y="2095500"/>
            <a:ext cx="3429000" cy="3619500"/>
            <a:chOff x="762000" y="2095500"/>
            <a:chExt cx="3429000" cy="3619500"/>
          </a:xfrm>
        </p:grpSpPr>
        <p:sp>
          <p:nvSpPr>
            <p:cNvPr id="6" name="Rectangle 6"/>
            <p:cNvSpPr/>
            <p:nvPr/>
          </p:nvSpPr>
          <p:spPr>
            <a:xfrm>
              <a:off x="762000" y="20955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2095500"/>
              <a:ext cx="3429000" cy="609600"/>
            </a:xfrm>
            <a:prstGeom prst="roundRect">
              <a:avLst>
                <a:gd name="adj" fmla="val 25000"/>
              </a:avLst>
            </a:prstGeom>
            <a:solidFill>
              <a:srgbClr val="0EA5E9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85110" y="2254250"/>
              <a:ext cx="15827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(Apple)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5266" y="288290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CONTEXT AWARENESS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504" y="3105150"/>
              <a:ext cx="2204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 种角色声纹识别（98%+）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504" y="3352800"/>
              <a:ext cx="2297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主动建议：基于时间/地点/人群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504" y="3600450"/>
              <a:ext cx="2046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全屋场景联动：唤醒即执行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5266" y="4006850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LOCAL PROCESSING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504" y="4229100"/>
              <a:ext cx="2111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 85% + Cloud 15%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504" y="4476750"/>
              <a:ext cx="16069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离线指令支持率 95%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" y="4883150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ECOSYSTEM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504" y="5105400"/>
              <a:ext cx="2088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 + Matter + Thread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5353050"/>
              <a:ext cx="2237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Music / 播客 / 智慧家庭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81500" y="2095500"/>
            <a:ext cx="3429000" cy="3619500"/>
            <a:chOff x="4381500" y="2095500"/>
            <a:chExt cx="3429000" cy="3619500"/>
          </a:xfrm>
        </p:grpSpPr>
        <p:sp>
          <p:nvSpPr>
            <p:cNvPr id="20" name="Rectangle 20"/>
            <p:cNvSpPr/>
            <p:nvPr/>
          </p:nvSpPr>
          <p:spPr>
            <a:xfrm>
              <a:off x="4381500" y="20955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2095500"/>
              <a:ext cx="3429000" cy="609600"/>
            </a:xfrm>
            <a:prstGeom prst="roundRect">
              <a:avLst>
                <a:gd name="adj" fmla="val 250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25368" y="2254250"/>
              <a:ext cx="19412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Celia (Huawei)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766" y="288290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CONTEXT AWARENESS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4004" y="3105150"/>
              <a:ext cx="2342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多设备协同：手机/平板/音箱/车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4004" y="3352800"/>
              <a:ext cx="2414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跨场景接力：离家/回家自动切换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004" y="3600450"/>
              <a:ext cx="1238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中文方言适配强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766" y="4006850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LOCAL PROCESSING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4004" y="4229100"/>
              <a:ext cx="2111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 60% + Cloud 40%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004" y="4476750"/>
              <a:ext cx="16069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离线指令支持率 80%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766" y="4883150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ECOSYSTEM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4004" y="5105400"/>
              <a:ext cx="1664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Connect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4004" y="5353050"/>
              <a:ext cx="185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家庭影院 / 智能汽车联动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1000" y="2095500"/>
            <a:ext cx="3429000" cy="3619500"/>
            <a:chOff x="8001000" y="2095500"/>
            <a:chExt cx="3429000" cy="3619500"/>
          </a:xfrm>
        </p:grpSpPr>
        <p:sp>
          <p:nvSpPr>
            <p:cNvPr id="34" name="Rectangle 34"/>
            <p:cNvSpPr/>
            <p:nvPr/>
          </p:nvSpPr>
          <p:spPr>
            <a:xfrm>
              <a:off x="8001000" y="20955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01000" y="2095500"/>
              <a:ext cx="3429000" cy="609600"/>
            </a:xfrm>
            <a:prstGeom prst="roundRect">
              <a:avLst>
                <a:gd name="adj" fmla="val 25000"/>
              </a:avLst>
            </a:pr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68459" y="2254250"/>
              <a:ext cx="2294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小爱同学 (Xiaomi)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4266" y="288290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CONTEXT AWARENESS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504" y="3105150"/>
              <a:ext cx="1400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中文场景理解最深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3352800"/>
              <a:ext cx="2154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语音购物 / 订外卖 / 打车集成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3504" y="3600450"/>
              <a:ext cx="1400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方言与多语言优化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4266" y="4006850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LOCAL PROCESSING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23504" y="4229100"/>
              <a:ext cx="2111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 50% + Cloud 50%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3504" y="4476750"/>
              <a:ext cx="16069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离线指令支持率 75%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4266" y="4883150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ECOSYSTEM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23504" y="5105400"/>
              <a:ext cx="1693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 Home + 200+ 品类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3504" y="5353050"/>
              <a:ext cx="2294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小米生态 / 米家 APP 深度绑定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174242" y="6159500"/>
            <a:ext cx="70014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</a:t>
            </a:r>
            <a:r>
              <a:rPr lang="en-US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Siri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强在声纹+本地隐私；</a:t>
            </a:r>
            <a:r>
              <a:rPr lang="en-US" sz="1350" dirty="0">
                <a:solidFill>
                  <a:srgbClr val="FCD34D"/>
                </a:solidFill>
                <a:latin typeface="+mn-lt"/>
                <a:ea typeface="+mn-ea"/>
                <a:cs typeface="+mn-cs"/>
              </a:rPr>
              <a:t>Celia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强在跨设备协同；</a:t>
            </a:r>
            <a:r>
              <a:rPr lang="zh-CN" sz="1350" dirty="0">
                <a:solidFill>
                  <a:srgbClr val="6EE7B7"/>
                </a:solidFill>
                <a:latin typeface="+mn-lt"/>
                <a:ea typeface="+mn-ea"/>
                <a:cs typeface="+mn-cs"/>
              </a:rPr>
              <a:t>小爱</a:t>
            </a: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强在中文场景与生态覆盖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523" y="2324100"/>
              <a:ext cx="17152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1181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 1.2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1138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 1.3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477000" y="2095500"/>
            <a:ext cx="5334000" cy="3848100"/>
            <a:chOff x="6477000" y="2095500"/>
            <a:chExt cx="5334000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76110" y="22288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56727" y="2228850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6419" y="2228850"/>
              <a:ext cx="568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881322" y="2228850"/>
              <a:ext cx="525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6617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6GHz 频段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6617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主流 5GHz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最新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76997" y="43434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097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10497" y="43434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292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积极推动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</p:grpSp>
      <p:sp>
        <p:nvSpPr>
          <p:cNvPr id="80" name="Rectangle 8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1174242" y="6159500"/>
            <a:ext cx="97487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1.3 · Matter 1.2 · PoE+），华为/小米在 Zigbee + 自研 Mesh 上补足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47068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2203450"/>
              <a:ext cx="2244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098800"/>
              <a:ext cx="1634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芯片性能业界最强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327400"/>
              <a:ext cx="1541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本地隐私 85% 最领先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5560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三方硬件联盟补充生态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098800"/>
              <a:ext cx="1650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生态起步晚于华为/小米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3274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价格最高，下沉市场不足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556000"/>
              <a:ext cx="1480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生态设备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7846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中国市场第三方兼容不佳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0580" y="4298950"/>
              <a:ext cx="2168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194300"/>
              <a:ext cx="17424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多设备协同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4229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跨场景无缝接力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6515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国产供应链成本可控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中国本地服务完善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194300"/>
              <a:ext cx="1437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本地处理低于 Apple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4229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芯片受制于国际制裁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5580" y="2203450"/>
              <a:ext cx="2115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098800"/>
              <a:ext cx="15376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200+ 生态，覆盖最广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327400"/>
              <a:ext cx="1642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价格最亲民（¥399起）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5560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中文场景理解最深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1285" y="37846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开发者开放平台友好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098800"/>
              <a:ext cx="1348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芯片性能入门/中端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327400"/>
              <a:ext cx="18013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云端依赖 50%，隐私稍弱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5560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1285" y="3784600"/>
              <a:ext cx="14995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影像/音频差异化不足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4242" y="6159500"/>
            <a:ext cx="92543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优在系统与隐私；Huawei 优在协同与本地；Xiaomi 优在生态广度与价格——三方各有优劣，无绝对胜者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ROADMAP &amp; 战略思考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产业思考与后续演进路线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190750"/>
            <a:ext cx="10363200" cy="1428750"/>
            <a:chOff x="914400" y="2190750"/>
            <a:chExt cx="10363200" cy="14287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8423" y="27813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系统级竞争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92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卖「家庭操作系统」体验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302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与隐私承诺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433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423" y="2781300"/>
              <a:ext cx="1318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硬件-软件一体化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3092450"/>
              <a:ext cx="1606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+ HomeOS 2.0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不可分割的护城河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722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423" y="278130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生态同盟而非封闭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092450"/>
              <a:ext cx="1386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/ Schneider / ADT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关键硬件开放合作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011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3470" y="22669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8423" y="27813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隐私成为核心差异化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092450"/>
              <a:ext cx="898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本地处理 85%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302000"/>
              <a:ext cx="1681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「可信任的家庭 OS」心智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7542" y="4044950"/>
            <a:ext cx="10370058" cy="1651000"/>
            <a:chOff x="907542" y="4044950"/>
            <a:chExt cx="10370058" cy="1651000"/>
          </a:xfrm>
        </p:grpSpPr>
        <p:sp>
          <p:nvSpPr>
            <p:cNvPr id="27" name="TextBox 27"/>
            <p:cNvSpPr txBox="1"/>
            <p:nvPr/>
          </p:nvSpPr>
          <p:spPr>
            <a:xfrm>
              <a:off x="907542" y="4044950"/>
              <a:ext cx="24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ROADMAP · 演进预测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" y="4457700"/>
              <a:ext cx="10363200" cy="1238250"/>
            </a:xfrm>
            <a:prstGeom prst="roundRect">
              <a:avLst>
                <a:gd name="adj" fmla="val 1076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104900" y="4667250"/>
              <a:ext cx="9791700" cy="838200"/>
              <a:chOff x="1104900" y="4667250"/>
              <a:chExt cx="9791700" cy="8382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104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51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51204" y="5048250"/>
                <a:ext cx="9976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HomeOS 2.1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52347" y="5295900"/>
                <a:ext cx="6695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跨协议调和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5814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728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27704" y="504825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传感器微型化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28847" y="5295900"/>
                <a:ext cx="83812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嵌入家电/灯具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57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4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04204" y="5048250"/>
                <a:ext cx="13641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Vision Pro 家庭版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05347" y="5295900"/>
                <a:ext cx="93339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空间计算进客厅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534400" y="4667250"/>
                <a:ext cx="23622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681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5F3FC"/>
                    </a:solidFill>
                    <a:latin typeface="Consolas"/>
                    <a:ea typeface="Consolas"/>
                    <a:cs typeface="Consolas"/>
                  </a:rPr>
                  <a:t>2028 Q1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680704" y="504825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5F3FC"/>
                    </a:solidFill>
                    <a:latin typeface="+mn-lt"/>
                    <a:ea typeface="+mn-ea"/>
                    <a:cs typeface="+mn-cs"/>
                  </a:rPr>
                  <a:t>跨平台开放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81847" y="5295900"/>
                <a:ext cx="111349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安卓/Windows API</a:t>
                </a:r>
              </a:p>
            </p:txBody>
          </p:sp>
        </p:grpSp>
      </p:grpSp>
      <p:sp>
        <p:nvSpPr>
          <p:cNvPr id="47" name="TextBox 47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76300" y="1803400"/>
            <a:ext cx="476326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2470150"/>
            <a:ext cx="791337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9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7" name="Rectangle 7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761" y="4527550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4851400"/>
              <a:ext cx="2156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HomeOS · 三方联盟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0011" y="4527550"/>
              <a:ext cx="1965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价格带为矛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1535" y="4851400"/>
              <a:ext cx="1641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Kirin · 多模协同 · 国产链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4261" y="4527550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普及度领跑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5785" y="4851400"/>
              <a:ext cx="1507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¥399 入门 · 200+ 配件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20" name="Rectangle 20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6904" y="5861050"/>
              <a:ext cx="1608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89304" y="6267450"/>
              <a:ext cx="2023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0447" y="6515100"/>
              <a:ext cx="13660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性能 + 隐私 + 系统统一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84954" y="6267450"/>
              <a:ext cx="182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中产/华为生态 → Huawei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6097" y="6515100"/>
              <a:ext cx="12340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协同 + 平价 + 国产链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80604" y="6267450"/>
              <a:ext cx="1785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学生/预算有限 → Xiaomi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1747" y="6515100"/>
              <a:ext cx="15975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¥399 + 200+ 配件 + 易上手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519154" y="643255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2026-10-15T13:40:32Z</dcterms:created>
  <dcterms:modified xsi:type="dcterms:W3CDTF">2026-10-15T13:40:32Z</dcterms:modified>
  <cp:category/>
  <cp:contentStatus/>
</cp:coreProperties>
</file>