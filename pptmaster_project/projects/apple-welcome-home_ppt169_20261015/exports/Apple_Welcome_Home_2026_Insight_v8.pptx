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9af82d7a066b934.jp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5df9cdfed428ec.jpg"/>
  <Relationship Id="rId3" Type="http://schemas.openxmlformats.org/officeDocument/2006/relationships/image" Target="../media/image_dc013aa281183860.jp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34930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AGENDA · 5 SECTIONS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报告目录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61160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本报告所有参数均来自 Apple / Huawei / Xiaomi 官方渠道，未经官方披露的指标一律标注「官方未公布」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14400" y="2190750"/>
            <a:ext cx="10134600" cy="2762250"/>
            <a:chOff x="914400" y="2190750"/>
            <a:chExt cx="10134600" cy="27622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59280" y="23368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战略演进回顾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1566" y="2654300"/>
              <a:ext cx="4132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苹果智能家居 15 年三阶段跃迁：平台奠基 → 标准开放 → AI 反攻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535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40880" y="2336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发布会全景解析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3166" y="2654300"/>
              <a:ext cx="39058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Welcome Home 四款新品全拆解：HomeView / Apple TV 4K /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43166" y="2825750"/>
              <a:ext cx="2230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HomePod mini 2 / Home Collection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59280" y="3308350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核心产品对比（4 维度）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1566" y="3625850"/>
              <a:ext cx="3556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家庭中枢硬件 / 操作系统与 AI 助手 / 连接协议 / 生态规模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35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0880" y="33083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解决方案全景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43166" y="3625850"/>
              <a:ext cx="2248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战略定位与价格带 / 隐私与安全架构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4400" y="41338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71956" y="42608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9280" y="4279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产业思考与未来演进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61566" y="4597400"/>
              <a:ext cx="318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三强 SWOT 全景 / 四大趋势预判 / 结论与战略建议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6200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EXECUTIVE SUMMARY · 核心洞察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执行摘要：四条核心判断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172700" cy="3810000"/>
            <a:chOff x="914400" y="2000250"/>
            <a:chExt cx="10172700" cy="3810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566" y="2178050"/>
              <a:ext cx="2447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苹果战略：软硬一体 + AI 优先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425700"/>
              <a:ext cx="517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中枢 + Apple TV 4K + HomePod mini 2 + Home Collection 四线齐发，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635250"/>
              <a:ext cx="4021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芯片 + Siri AI 落地家庭场景，从「平台」转向「智能终端」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81166" y="2178050"/>
              <a:ext cx="16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市场格局：三足鼎立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1166" y="2425700"/>
              <a:ext cx="436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 = 生态闭环 + 高端定价（$299）；华为 = 全屋工程 + 前装渠道；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1166" y="2635250"/>
              <a:ext cx="372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 = 设备广度 + 性价比。三者定价带与目标用户差异显著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3359150"/>
              <a:ext cx="25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技术路线：端侧隐私 vs 生态开放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606800"/>
              <a:ext cx="4060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苹果押注 Secure Exclaves + Private Cloud Compute 端侧隐私；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816350"/>
              <a:ext cx="4066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华为鸿蒙分布式 + 小米全生态兼容 —— 隐私与开放两条路线并存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1166" y="3359150"/>
              <a:ext cx="1917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未来趋势：AI 重塑体验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1166" y="3606800"/>
              <a:ext cx="4068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全面大模型化，主动智能替代被动响应；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1166" y="381635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协议打破品牌壁垒，跨生态互联互通成共同方向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81500"/>
              <a:ext cx="10172700" cy="1428750"/>
            </a:xfrm>
            <a:prstGeom prst="roundRect">
              <a:avLst>
                <a:gd name="adj" fmla="val 933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7285" y="454660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一句话结论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18" y="480695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智能家居竞争已从「卖硬件」升级为「卖系统与体验」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213350"/>
              <a:ext cx="850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苹果以 HomeView + A18 + 隐私架构切入家庭中枢新品类；华为靠前装工程渠道稳守高端；小米以设备规模与价格带覆盖大众。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047" y="5505450"/>
              <a:ext cx="6551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本页全部判断基于三家官方发布材料（Apple Newsroom / consumer.huawei.com / mi.com），无第三方猜测数据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STRATEGY · 15-YEAR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35644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战略演进三阶段：从平台奠基到 AI 反攻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362606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官方产品页 · 仅列官方公开宣布节点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2095500"/>
            <a:ext cx="9391650" cy="3375978"/>
            <a:chOff x="914400" y="2095500"/>
            <a:chExt cx="9391650" cy="3375978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 · 2014-2017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平台先行，标准至上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863850"/>
              <a:ext cx="2886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iOS 8 集成 HomeKit 框架，确立底层通信标准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111500"/>
              <a:ext cx="241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MFi 认证保障安全，但限制设备丰富度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3429000"/>
              <a:ext cx="18969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关键节点：2016 首款 HomePod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36576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瓶颈：生态扩张缓慢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47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 · 2018-2021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24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硬件试水，生态深耕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766" y="2863850"/>
              <a:ext cx="3282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 HomePod mini 低价切入 + 加入 Thread Group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766" y="3111500"/>
              <a:ext cx="2563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2020 HomeKit Secure Video 端到端加密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5147" y="3429000"/>
              <a:ext cx="1656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关键节点：Thread 贯穿全系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5147" y="36576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瓶颈：用户转化效率待提升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723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574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 · 2022-2026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55180" y="2527300"/>
              <a:ext cx="168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拥抱开放，AI 反攻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57466" y="2863850"/>
              <a:ext cx="2080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加入 Matter，打破品牌壁垒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57466" y="3111500"/>
              <a:ext cx="2401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Welcome Home 四线齐发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7847" y="34290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跃迁：从「卖硬件」到「卖系统与体验」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7847" y="3657600"/>
              <a:ext cx="2526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+ Secure Exclaves + PCC 隐私三角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286250"/>
              <a:ext cx="939165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7285" y="44704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核心洞察：三个转折点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285" y="4756150"/>
              <a:ext cx="4379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从封闭到开放：Matter 加入回应「封闭生态限制丰富度」的批评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285" y="5003800"/>
              <a:ext cx="3933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从硬件到系统：HomeView 定义「家庭智能中枢」新品类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7285" y="5251450"/>
              <a:ext cx="4789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从云端到端侧：隐私三角是苹果与华为/小米在 AI 路线上最根本的分歧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001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WELCOME HOME · 2026.10.13 · 四线发布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125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Welcome Home 发布会：四款新品重构家庭智能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066" y="1682750"/>
            <a:ext cx="4489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定价均为官方披露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14400" y="2095500"/>
            <a:ext cx="10344150" cy="3619500"/>
            <a:chOff x="914400" y="2095500"/>
            <a:chExt cx="1034415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rgbClr val="0E24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新品 · 中枢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180" y="2438400"/>
              <a:ext cx="993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1466" y="2768600"/>
              <a:ext cx="1793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方形触控屏 · A18 · Siri AI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466" y="2997200"/>
              <a:ext cx="1966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空间音频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66" y="3225800"/>
              <a:ext cx="1676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隐私隔离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351155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$299 起 · 11.13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433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907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娱乐中枢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88080" y="2438400"/>
              <a:ext cx="117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90366" y="2768600"/>
              <a:ext cx="1820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· CPU +50% · GPU 2×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0366" y="2997200"/>
              <a:ext cx="1412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三麦远场 Siri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90366" y="3225800"/>
              <a:ext cx="1294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888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$299 · 11.13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196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音频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980" y="2438400"/>
              <a:ext cx="1536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9266" y="2768600"/>
              <a:ext cx="9745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· 计算音频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9266" y="2997200"/>
              <a:ext cx="1319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 · 5 新色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9266" y="3225800"/>
              <a:ext cx="1408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 · 多房间音频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77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$149 · 10.30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011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A3E63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485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合作 · 配件生态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45880" y="2438400"/>
              <a:ext cx="1607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8166" y="2768600"/>
              <a:ext cx="1334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 + Schneider 首批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8166" y="2997200"/>
              <a:ext cx="14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摄像头/温控/门锁/门铃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8166" y="3225800"/>
              <a:ext cx="1322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端到端加密 · 12 月起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8547" y="3562350"/>
              <a:ext cx="1766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3E635"/>
                  </a:solidFill>
                  <a:latin typeface="Consolas"/>
                  <a:ea typeface="Consolas"/>
                  <a:cs typeface="Consolas"/>
                </a:rPr>
                <a:t>Works with Home + Matter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4400" y="4038600"/>
              <a:ext cx="10344150" cy="1676400"/>
            </a:xfrm>
            <a:prstGeom prst="roundRect">
              <a:avLst>
                <a:gd name="adj" fmla="val 795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7285" y="4222750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一套中枢 + 三条产品线：矩阵成形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285" y="4508500"/>
              <a:ext cx="5365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= 家庭信息流中枢（看 / 想 / 听：屏幕 + 摄像头 + 扬声器 + Siri AI）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7285" y="4756150"/>
              <a:ext cx="565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 = 客厅娱乐 + 家庭中枢备份；HomePod mini 2 = 全屋音频 + 语音入口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285" y="5003800"/>
              <a:ext cx="5443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 联合 LG / Schneider 补齐安防 + 温控 + 门锁，全部支持 Matter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047" y="5334000"/>
              <a:ext cx="6699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注意（官方口径）：HomeView 暂不覆盖中国大陆及 EU；Siri AI 仅英语起步（beta，HomeView software 27.2）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4095750" cy="4095750"/>
            <a:chOff x="914400" y="209550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31910" r="0" b="31909"/>
            <a:stretch>
              <a:fillRect/>
            </a:stretch>
          </p:blipFill>
          <p:spPr>
            <a:xfrm>
              <a:off x="1066800" y="2247900"/>
              <a:ext cx="3790950" cy="914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76147" y="3295650"/>
              <a:ext cx="2190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004" y="3467100"/>
              <a:ext cx="201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四色可选 · 桌面版 + 壁挂版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04900" y="37909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347" y="386715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52347" y="4076700"/>
              <a:ext cx="2883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500 nits峰值 / 0.3 nits最低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4005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347" y="44767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347" y="4686300"/>
              <a:ext cx="3356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50101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2347" y="508635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2347" y="5295900"/>
              <a:ext cx="3384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4900" y="56197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2347" y="56959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347" y="5905500"/>
              <a:ext cx="2369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573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HOMEVIEW · AI FEATURES &amp; PRIVACY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49190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软件能力与隐私架构拆解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0999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apple.com/apple-homeview · 未经官方披露的指标一律不出现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" y="2095500"/>
            <a:ext cx="10746536" cy="3238500"/>
            <a:chOff x="914400" y="2095500"/>
            <a:chExt cx="10746536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60600"/>
              <a:ext cx="2195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AI 能力（官方已发布口径）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584450"/>
              <a:ext cx="3194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AI：广博世界知识 · 屏幕感知 · 跨应用行动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851150"/>
              <a:ext cx="4346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AI 版 iPhone/iPad 后，可调用日历/信息/备忘录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17850"/>
              <a:ext cx="328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多用户：面部识别最多 6 人，自动切换专属主屏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384550"/>
              <a:ext cx="309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烹饪模式：网页食谱转分步指导 · 免提计时器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651250"/>
              <a:ext cx="467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摄像头页：最多 9 路实时视频同屏（HomeKit Secure Video）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3917950"/>
              <a:ext cx="4430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声音侦测：烟雾/一氧化碳报警识别 → 推送到 iPhone/iPad/Watch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184650"/>
              <a:ext cx="3572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/ FaceTime + Center Stage / Handoff 接力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451350"/>
              <a:ext cx="4201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多款表盘：Photos / Flow / Snoopy · Home Modular 家居模组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4819650"/>
              <a:ext cx="41756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软件版本：HomeView software 27.2（Siri AI beta · 英语起步）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86600" y="2095500"/>
              <a:ext cx="41910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7901" r="0" b="17901"/>
            <a:stretch>
              <a:fillRect/>
            </a:stretch>
          </p:blipFill>
          <p:spPr>
            <a:xfrm>
              <a:off x="1028700" y="2209800"/>
              <a:ext cx="3962400" cy="14287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271385" y="3822700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隐私三层架构（官方）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1385" y="4127500"/>
              <a:ext cx="4145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Secure Exclaves：A18 芯片内隔离区，摄像头/麦克风数据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71385" y="4318000"/>
              <a:ext cx="3214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在隔离区处理，OS/应用/用户/Apple 均不可访问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71385" y="4451350"/>
              <a:ext cx="298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端侧优先：人脸/声纹识别在设备本地完成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71385" y="4718050"/>
              <a:ext cx="438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Private Cloud Compute：云端请求不存储、不可被 Apple 访问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72147" y="5010150"/>
              <a:ext cx="3718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个人内容仅当本人被识别 + 配对设备同 Wi-Fi 且最近解锁时显示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914400" y="561975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137285" y="5765800"/>
            <a:ext cx="863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对比视角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051550"/>
            <a:ext cx="92120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苹果把「家庭共享场景下的个人隐私」做成了硬件级隔离 —— 这是 HomeView 与绝大多数智能屏（包括竞品）在设计哲学上的最大差异。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332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SUPPORTING HARDWARE · TWO UPDATES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254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TV 4K（第4代）与 HomePod mini 2 深拆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1903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全部参数官方披露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10688541" cy="3619500"/>
            <a:chOff x="914400" y="2095500"/>
            <a:chExt cx="10688541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4944" r="0" b="24945"/>
            <a:stretch>
              <a:fillRect/>
            </a:stretch>
          </p:blipFill>
          <p:spPr>
            <a:xfrm>
              <a:off x="1028700" y="2209800"/>
              <a:ext cx="5753100" cy="16192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3956050"/>
              <a:ext cx="3085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APPLE TV 4K（第4代）· $299 · 11.13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4260850"/>
              <a:ext cx="416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芯片：CPU 性能 +50%，GPU 2×，新增 AV1 硬件解码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4527550"/>
              <a:ext cx="369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三麦克风远场阵列：免提「Siri / Hey Siri」，回声消除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4794250"/>
              <a:ext cx="527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Thread 内置 · 家庭中枢能力（含 HomeKit Secure Video 本地处理）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5060950"/>
              <a:ext cx="4485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环绕声：智能识别扬声器位置自动校准（前后成对）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5327650"/>
              <a:ext cx="4547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Remote 新升级：Find My 支持 + Precision Finding + 发声定位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86600" y="2095500"/>
              <a:ext cx="4191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0" t="13622" r="0" b="13621"/>
            <a:stretch>
              <a:fillRect/>
            </a:stretch>
          </p:blipFill>
          <p:spPr>
            <a:xfrm>
              <a:off x="1028700" y="2209800"/>
              <a:ext cx="3962400" cy="16192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271385" y="3956050"/>
              <a:ext cx="2815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HOMEPOD MINI 2 · $149 · 10.30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71385" y="4260850"/>
              <a:ext cx="3678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芯片：实时计算音频（动态范围/响度/声学优化）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71385" y="4527550"/>
              <a:ext cx="3495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Glow：顶部随音乐律动发光，专辑封面取色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71385" y="4794250"/>
              <a:ext cx="1935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色：粉 / 绿 / 蓝 / 白 / 午夜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1385" y="5060950"/>
              <a:ext cx="43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家庭中枢：语音控制配件与自动化 · 声音识别（烟雾/CO 警报）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71385" y="5327650"/>
              <a:ext cx="3996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将在后续软件更新推送（HomePod software 27.2）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7285" y="6032500"/>
            <a:ext cx="90586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定位：Apple TV 4K = 客厅娱乐 + 中枢备份；HomePod mini 2 = 全屋语音/音频入口 —— 与 HomeView 组成「一屏三入口」的家庭矩阵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8407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9447" y="1857375"/>
            <a:ext cx="408496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标注为「未公布」者均未在品牌官方渠道披露 · 不使用第三方猜测数据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2076450"/>
            <a:ext cx="10591800" cy="3886200"/>
            <a:chOff x="571500" y="2076450"/>
            <a:chExt cx="10591800" cy="3886200"/>
          </a:xfrm>
        </p:grpSpPr>
        <p:sp>
          <p:nvSpPr>
            <p:cNvPr id="7" name="Rectangle 7"/>
            <p:cNvSpPr/>
            <p:nvPr/>
          </p:nvSpPr>
          <p:spPr>
            <a:xfrm>
              <a:off x="571500" y="207645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7280" y="22161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00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9638" r="0" b="39638"/>
            <a:stretch>
              <a:fillRect/>
            </a:stretch>
          </p:blipFill>
          <p:spPr>
            <a:xfrm>
              <a:off x="2076450" y="2114550"/>
              <a:ext cx="2895600" cy="4000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724794" y="2216150"/>
              <a:ext cx="1598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9224" r="0" b="39223"/>
            <a:stretch>
              <a:fillRect/>
            </a:stretch>
          </p:blipFill>
          <p:spPr>
            <a:xfrm>
              <a:off x="5124450" y="2114550"/>
              <a:ext cx="2895600" cy="4000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727876" y="2216150"/>
              <a:ext cx="1688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7515" y="2216150"/>
              <a:ext cx="1625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家庭屏 11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144250" y="2076450"/>
              <a:ext cx="19050" cy="38100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6098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85" y="28321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5223" y="2724150"/>
              <a:ext cx="13799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A18 · 3nm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6938" y="2990850"/>
              <a:ext cx="17398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官方未公布核心数 / NPU TOPS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48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13223" y="27241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938" y="29908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全屋智能专区未披露芯片型号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1223" y="2724150"/>
              <a:ext cx="8559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 核处理器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938" y="29908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官方产品页披露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2956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3517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65223" y="3409950"/>
              <a:ext cx="13918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938" y="3676650"/>
              <a:ext cx="17755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3223" y="3409950"/>
              <a:ext cx="12540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10.4" 超高清屏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938" y="3676650"/>
              <a:ext cx="13560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1223" y="3409950"/>
              <a:ext cx="135355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10.95" 高清大屏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938" y="3676650"/>
              <a:ext cx="1535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1920×1200 · 400nit · 1500:1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39814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285" y="42037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65223" y="4095750"/>
              <a:ext cx="16788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12MP Center Stage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6938" y="4362450"/>
              <a:ext cx="1492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人物居中 · FaceTime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048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13223" y="40957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938" y="43624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1223" y="4095750"/>
              <a:ext cx="8827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800 万像素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938" y="43624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46672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285" y="4889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00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65223" y="4781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空间音频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66938" y="5048250"/>
              <a:ext cx="1779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双全频+低音 · 4×波束成形麦克风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48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13223" y="47815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4938" y="50482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未在官方产品页披露音频规格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6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1223" y="47815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四单元独立音腔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938" y="5048250"/>
              <a:ext cx="9652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立体声 · 环绕声场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53530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285" y="5575300"/>
              <a:ext cx="740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 / 存储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00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65223" y="5467350"/>
              <a:ext cx="1042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未公布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66938" y="5734050"/>
              <a:ext cx="146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产品页未披露 RAM / ROM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48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3223" y="54673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14938" y="57340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096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1223" y="5467350"/>
              <a:ext cx="9688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6GB + 32GB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2938" y="57340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官方产品页披露</a:t>
              </a:r>
            </a:p>
          </p:txBody>
        </p:sp>
      </p:grpSp>
      <p:sp>
        <p:nvSpPr>
          <p:cNvPr id="74" name="Rectangle 74"/>
          <p:cNvSpPr/>
          <p:nvPr/>
        </p:nvSpPr>
        <p:spPr>
          <a:xfrm>
            <a:off x="914400" y="5981700"/>
            <a:ext cx="10363200" cy="419100"/>
          </a:xfrm>
          <a:prstGeom prst="roundRect">
            <a:avLst>
              <a:gd name="adj" fmla="val 27273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75004" y="6076950"/>
            <a:ext cx="64419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chemeClr val="accent1"/>
              </a:buClr>
              <a:buSzTx/>
              <a:buFontTx/>
              <a:buChar char="■"/>
            </a:pP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数据取自各品牌官方产品页与新闻稿；未披露项标注「未公布」，不使用第三方猜测数据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292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VOICE ASSISTANTS · 语音助手生态对比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2139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 AI 助手：Siri AI vs. 小艺 vs. 小爱同学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95500"/>
            <a:ext cx="11042458" cy="3429000"/>
            <a:chOff x="914400" y="2095500"/>
            <a:chExt cx="11042458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189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SIRI AI · 苹果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核心能力：广博世界知识 · 屏幕上下文感知 · 跨应用行动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59100"/>
              <a:ext cx="425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个人语境：联动配对设备（iPhone/iPad）中的日历、备忘录与信息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3020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多用户：面容识别识别人脸，自动切换个人专属主屏与日程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644900"/>
              <a:ext cx="3900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隐私保障：Secure Exclaves 硬件隔离 + 私有云计算云端处理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4000500"/>
              <a:ext cx="37972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当前局限：发布时仅支持英语（beta），暂未覆盖中国大陆与 EU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23435" y="2279650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小艺智慧语音 · 华为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2381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核心能力：免提语音交互 · 连续对话 · 场景引擎一键触发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3816" y="29591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分布式流转：打通鸿蒙智家设备，实现跨端算力与能力共享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3302000"/>
              <a:ext cx="3526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可视对讲：联动智能门锁/门铃，门口画面语音一呼即达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3644900"/>
              <a:ext cx="3282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场景联动：离家/回家/睡眠等专业场景自然语言控制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4197" y="4000500"/>
              <a:ext cx="27803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优势：中文理解深刻，与华为全屋智能深度闭环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7685" y="2279650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小爱同学 · 小米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8066" y="2616200"/>
              <a:ext cx="3738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核心能力：全双工语音交互 · 多轮连续对话 · 屏幕联动反馈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8066" y="2959100"/>
              <a:ext cx="3777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生态控制：直连米家 10.79 亿台已连接设备，品类覆盖最广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8066" y="3302000"/>
              <a:ext cx="3808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视听娱乐：语音点播视频/音乐，与四单元音腔硬件完美配合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3644900"/>
              <a:ext cx="3628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跨端互联：人车家全生态语音流转，接入大模型持续进化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447" y="4000500"/>
              <a:ext cx="28793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优势：月活 1.6 亿，生态链设备兼容度行业第一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914400" y="5810250"/>
            <a:ext cx="10363200" cy="47625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7285" y="5956300"/>
            <a:ext cx="9660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对比结论：苹果强调「端云结合的隐私安全与个人语境」；华为专注「中文成套场景与分布式协同」；小米依靠「海量设备连接与日常高频交互」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13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// HUAWEI · SMART CONTROL PANEL S2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5607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华为智能中控屏 S2 深度拆解：前装成套与全屋智能入口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6646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来源：consumer.huawei.com 官方全屋智能商用产品页（含工程专供官方标价）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419189" cy="3619500"/>
            <a:chOff x="914400" y="2095500"/>
            <a:chExt cx="10419189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官方规格与价格（consumer.huawei.com）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20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10.4" 超高清触控屏 · 1670万色 · 自然色彩调节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257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官方标价：¥7,399（工程专供参考）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3021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 Dock（电源 + PLC 通信模块）：¥749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664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核心通信：PLC 电力线载波通信 + Wi-Fi 7 / 星闪双模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4226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搭配主机：智能主机 SE（¥5,999）/ 主机 X2 Pro（¥24,999）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808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配套安防：AI 超感传感器（毫米波雷达 ¥1,199）· 门锁 E220（¥799）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4568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注：芯片/内存等底层参数未在全屋智能专区披露，以系统分布式流转为核心。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3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185" y="2622550"/>
              <a:ext cx="4255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墙面控制中心：取代传统开关面板，玄关/客厅/卧室多空间部署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185" y="2908300"/>
              <a:ext cx="3534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小艺智慧语音：免提唤醒 · 连续对话 · 房间全能掌控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3185" y="3194050"/>
              <a:ext cx="4194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可视对讲：转接 Dock 联动智能门锁/门铃，门口画面一屏直达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185" y="3479800"/>
              <a:ext cx="49004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场景引擎：离家/回家/睡眠/观影一键场景联动，毫米波雷达有人自动亮屏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185" y="3765550"/>
              <a:ext cx="3702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分布式协同：设备间算力与能力无缝流转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3185" y="4051300"/>
              <a:ext cx="3621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前装成套优势：PLC 有线抗干扰极强，无惧墙体阻挡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665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华为定位：通过「PLC有线主机 + 墙面S2中控屏 + 星闪网关 + 专业一站式服务」，主打高端前装与整屋确定性体验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2532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XIAOMI · SMART HOME DISPLAY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22721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小米智能家庭屏 11 深度拆解：大屏中枢与米家生态链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84001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来源：mi.com 官方产品页与生态链参数（含 8 核处理器、大内存、四单元立体声）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官方规格与硬件配置（mi.com）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779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10.95" IPS 高清大屏 · 分辨率 1920×1200 · 400nit 亮度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736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处理器：高性能 8 核处理器（满足流畅触控与多任务）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4112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内存与存储：6GB 运行内存 + 32GB 存储空间（官方配置）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581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摄像头：800 万像素超清摄像头 + 物理隐私遮蔽开关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3400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音频：后置四单元独立音腔设计 · 立体声环绕声场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340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连接协议：Wi-Fi + 蓝牙 + Zigbee（内置网关）+ 米家 Mesh 2.0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定位：桌面与壁挂双形态，千元档性价比全屋控制中心。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3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185" y="2622550"/>
              <a:ext cx="4171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客厅中枢大屏：一屏掌握全屋千余款米家智能设备状态与控制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185" y="2908300"/>
              <a:ext cx="3685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小爱同学：全双工语音交互 · 连续对话 · 屏幕联动反馈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3185" y="3194050"/>
              <a:ext cx="4121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视频通话与对讲：800万像素配合物理遮蔽，兼顾便捷与隐私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185" y="3479800"/>
              <a:ext cx="4213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影音娱乐：支持各大主流视频/音乐平台，四单元音腔音质出色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185" y="3765550"/>
              <a:ext cx="38868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开放生态链：完美打通灯光/窗帘/安防/温控/人车家全生态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3185" y="4051300"/>
              <a:ext cx="4020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部署便捷：无需复杂布线，开箱即用，最适合后装改装市场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8744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小米定位：以「10.95"大屏 + 8核 + 6GB内存 + 四单元音腔 + 千元级高性价比」席卷大众后装市场，构筑生态连接基石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400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ECOSYSTEM LANDSCAPE · 三足鼎立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06350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三大生态总览：入口、AI、协议与打法的分野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4004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consumer.huawei.com / mi.com 官方口径整理（含未公布项标注）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286000"/>
            <a:ext cx="10441089" cy="3714750"/>
            <a:chOff x="914400" y="2286000"/>
            <a:chExt cx="10441089" cy="3714750"/>
          </a:xfrm>
        </p:grpSpPr>
        <p:sp>
          <p:nvSpPr>
            <p:cNvPr id="6" name="Rectangle 6"/>
            <p:cNvSpPr/>
            <p:nvPr/>
          </p:nvSpPr>
          <p:spPr>
            <a:xfrm>
              <a:off x="9144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489200"/>
              <a:ext cx="1763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 · WELCOME HOME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44800"/>
              <a:ext cx="347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入口：HomeView 桌面屏 + Apple TV + HomePod 语音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130550"/>
              <a:ext cx="2722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AI：Siri AI（英语起步 · beta）· 私有云计算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297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协议：Matter / Thread / HomeKit Secure Video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02050"/>
              <a:ext cx="3781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打法：高端硬件 + 隐私优先 + 配件认证（Home Collection）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4038600"/>
              <a:ext cx="21339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优势：生态协同 隐私隔离 品牌溢价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286250"/>
              <a:ext cx="30395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劣势：价格高 中国大陆/EU 未覆盖 Siri AI 起步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343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全屋智能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2844800"/>
              <a:ext cx="2860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入口：智能中控屏 S2 墙面面板 + 音箱 + 手机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3130550"/>
              <a:ext cx="3192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AI：小艺智慧语音（中文体系）· HarmonyOS 协同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3816" y="3416300"/>
              <a:ext cx="305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协议：HiLink / HarmonyOS Connect · PLC/无线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3816" y="3702050"/>
              <a:ext cx="2877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打法：装修级全屋方案 + 面板入口 + 场景引擎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4197" y="4038600"/>
              <a:ext cx="23977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优势：全屋成套 中文场景深 线下服务强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4197" y="428625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劣势：依赖华为生态 型号参数不透明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76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米家生态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2844800"/>
              <a:ext cx="28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入口：智能家庭屏 11 大屏 + 小爱音箱 + 手机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066" y="3130550"/>
              <a:ext cx="23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AI：小爱同学（中文体系）· 多轮对话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8066" y="3416300"/>
              <a:ext cx="320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/ 米家 Mesh 2.0 / Matter / Wi-Fi 蓝牙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8066" y="3702050"/>
              <a:ext cx="2594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打法：性价比大屏 + 千款生态链 + 高迭代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8447" y="4038600"/>
              <a:ext cx="22658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优势：价格带广 生态链广度 出货量大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8447" y="4286250"/>
              <a:ext cx="29255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劣势：高端感知弱 隐私口碑待加强 软件深度有限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615315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666" y="6273800"/>
            <a:ext cx="7742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核心分野：苹果「隐私+协同溢价」 · 华为「装修级成套」 · 小米「生态链性价比」 —— 三家不在同一价格带正面竞争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951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MARKET &amp; ECOSYSTEM SCALE · 市场格局与生态规模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894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生态规模量化：小米唯一披露、苹果华为官方未披露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42057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口径说明：仅收录厂商官方披露数据；第三方市场调研份额（如 Canalys / IDC）不采用，避免不可核实的数字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33600"/>
            <a:ext cx="10363200" cy="2857500"/>
            <a:chOff x="914400" y="2133600"/>
            <a:chExt cx="10363200" cy="2857500"/>
          </a:xfrm>
        </p:grpSpPr>
        <p:sp>
          <p:nvSpPr>
            <p:cNvPr id="6" name="Rectangle 6"/>
            <p:cNvSpPr/>
            <p:nvPr/>
          </p:nvSpPr>
          <p:spPr>
            <a:xfrm>
              <a:off x="914400" y="2133600"/>
              <a:ext cx="5143500" cy="2857500"/>
            </a:xfrm>
            <a:prstGeom prst="roundRect">
              <a:avLst>
                <a:gd name="adj" fmla="val 4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2336800"/>
              <a:ext cx="3023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官方披露（2025 年度业绩公告）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2673350"/>
              <a:ext cx="3327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AIoT 平台已连接 IoT 设备数 · 10.79 亿台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047" y="2971800"/>
              <a:ext cx="403090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截至 2025-12-31 · 不含手机/平板/笔记本 · 同比 +19.3%（ir.mi.com）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3308350"/>
              <a:ext cx="290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拥有 5 件及以上连接设备的用户：2270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3575050"/>
              <a:ext cx="3255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小爱同学月活跃用户：1.60 亿（同比 +16.7%）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841750"/>
              <a:ext cx="5117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全年营收 4573 亿元；IoT 与生活消费产品收入 1232 亿元（+18.3%）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4108450"/>
              <a:ext cx="371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五代及更多设备家庭户数高速增长，用户粘性持续加深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047" y="44767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读法：小米以「连接设备数」作为生态规模核心披露口径，公开且连续可核。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133600"/>
              <a:ext cx="5029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1285" y="2336800"/>
              <a:ext cx="2104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APPLE / HUAWEI · 官方口径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1285" y="2755900"/>
              <a:ext cx="3764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Apple：HomeKit / Home App 设备连接数 · 官方未披露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2047" y="3067050"/>
              <a:ext cx="30267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Apple 未在新闻稿或财报中披露家庭设备连接总量。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1285" y="3384550"/>
              <a:ext cx="4607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Huawei：鸿蒙智联（HarmonyOS Connect）设备总量 · 官方未披露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2047" y="3695700"/>
              <a:ext cx="39677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华为官网未公布全屋智能设备连接总数；仅有生态伙伴数量等陈述。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1285" y="40132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结论：三家口径不同、不可直接横向比较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2047" y="4305300"/>
              <a:ext cx="41035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小米=硬件连接口径；华为=生态伙伴/方案口径；苹果=平台体验口径。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2047" y="4648200"/>
              <a:ext cx="38578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任何「全球份额 %」数字均出自第三方机构，本报告一律不采用。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219700"/>
            <a:ext cx="10363200" cy="8001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36575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632450"/>
            <a:ext cx="102339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小米用「10.79 亿台连接 + 2270 万高粘性家庭」证明生态广度；苹果以 Home Collection 联盟与 Matter 协议补闭环；华为以成套方案深度换规模确定性。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47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STRATEGIC POSITIONING · 战略定位对比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9026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三家战略定位：高端隐私闭环 vs. 技术驱动成套 vs. 性价比生态链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914400" y="2000250"/>
            <a:ext cx="10605265" cy="3429000"/>
            <a:chOff x="914400" y="2000250"/>
            <a:chExt cx="10605265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8804" y="22034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1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高端生态闭环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06700"/>
              <a:ext cx="2806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目标：深度苹果用户 · 高净值 · 隐私敏感人群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73400"/>
              <a:ext cx="583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路径：A18 芯片 + Secure Exclaves 硬件隔离 + Matter 生态联盟 + Home Collection 配件认证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3018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壁垒：系统级协同 + 隐私品牌溢价 + 高端定价权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683000"/>
              <a:ext cx="3669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挑战：价格高昂 · 中国大陆/EU 未覆盖 · Siri AI 仅英语起步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2305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HUAWEI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23435" y="25082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技术驱动全屋成套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3816" y="2806700"/>
              <a:ext cx="2523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目标：中高端业主 · 前装市场 · 政企客户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3073400"/>
              <a:ext cx="4483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路径：全屋智能主机 + 中控屏 S2 + HarmonyOS Connect + 空间智能化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3416300"/>
              <a:ext cx="351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壁垒：通信技术积累 · 成套方案稳定 · 线下渠道专业服务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3816" y="3683000"/>
              <a:ext cx="3088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挑战：生态广度不及竞品 · 参数不透明 · 海外受限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73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XIAOMI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7685" y="2508250"/>
              <a:ext cx="1389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性价比 + 开放生态链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8066" y="2806700"/>
              <a:ext cx="2538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目标：大众消费者 · DIY 用户 · 年轻群体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8066" y="3073400"/>
              <a:ext cx="3126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路径：米家生态链千余 SKU + Zigbee/Mesh 2.0 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3263900"/>
              <a:ext cx="1585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 + 人车家全生态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066" y="3416300"/>
              <a:ext cx="3371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壁垒：生态链广度 · 价格带全覆盖 · 出货量与用户基数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8066" y="3683000"/>
              <a:ext cx="29475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挑战：高端感知弱 · 隐私安全口碑 · 硬件利润薄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914400" y="5715000"/>
            <a:ext cx="10363200" cy="381000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137666" y="5835650"/>
            <a:ext cx="7057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分野：三家不在同一价格带正面竞争 —— 苹果做「隐私溢价」、华为做「成套确定性」、小米做「连接广度」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72717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&amp; PRICE LANDSCAPE · 解决方案与价格体系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14361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全屋智能落地：三室两厅场景 × 三家配置策略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7012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价格口径：官网在售产品标价可查项 + 「官方未公布」标注；组合价仅为方向性区间，非官方报价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095500"/>
            <a:ext cx="10658503" cy="3238500"/>
            <a:chOff x="914400" y="2095500"/>
            <a:chExt cx="10658503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1315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APPLE · 高端方案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597150"/>
              <a:ext cx="5238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HomeView（$299）· 1× Apple TV 4K（$299）· 1× HomePod mini 2（$149）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901950"/>
              <a:ext cx="3019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认证设备（门锁/摄像头/门铃/温控）按需选配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206750"/>
              <a:ext cx="2259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协议：Thread + Matter + Wi-Fi 6E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511550"/>
              <a:ext cx="3416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组合价：$299 起步（中枢三件套），无官方整屋报价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3816350"/>
              <a:ext cx="233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 / 第三方认证服务商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191000"/>
              <a:ext cx="23384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定位：体验闭环 + 隐私优先，成本最高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3435" y="227965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成套方案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2597150"/>
              <a:ext cx="2829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全屋智能主机（PLC 网关，官网标价可查）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2901950"/>
              <a:ext cx="2507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+ 智能面板 + 传感器 + 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3816" y="3206750"/>
              <a:ext cx="204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协议：PLC 有线 + Wi-Fi / 蓝牙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3816" y="3511550"/>
              <a:ext cx="2356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价格：前装整套以线下门店报价为准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3816" y="3816350"/>
              <a:ext cx="271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服务：官方授权门店设计/安装/调试一站式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4197" y="4191000"/>
              <a:ext cx="26022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定位：前装确定性 + 场景深度，最适精装房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7685" y="2279650"/>
              <a:ext cx="1704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高性价比方案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2597150"/>
              <a:ext cx="3404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智能家庭屏 11（官网价可查）· 小爱音箱升级可选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066" y="2901950"/>
              <a:ext cx="2897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生态链单品：灯/窗帘/传感器/扫地机按需组合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8066" y="3206750"/>
              <a:ext cx="3424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+ 米家 Mesh 2.0 + Wi-Fi/蓝牙 + Matter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8066" y="3511550"/>
              <a:ext cx="2780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价格：单品几十一数百元档，组合丰俭由人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8066" y="3816350"/>
              <a:ext cx="2638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服务：用户自装为主，生态链渠道覆盖广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8447" y="4191000"/>
              <a:ext cx="26112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定位：入门 + DIY 灵活 + 生态链广度最大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5581650"/>
            <a:ext cx="10363200" cy="685800"/>
          </a:xfrm>
          <a:prstGeom prst="roundRect">
            <a:avLst>
              <a:gd name="adj" fmla="val 19444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285" y="572770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7285" y="5975350"/>
            <a:ext cx="8756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价格是三者最显著的分水岭：苹果「贵但少而精」、华为「前装成套」、小米「丰俭由人」——对应三种完全不同的家庭决策路径。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2095500"/>
            <a:ext cx="5700927" cy="2000250"/>
            <a:chOff x="571500" y="2095500"/>
            <a:chExt cx="5700927" cy="2000250"/>
          </a:xfrm>
        </p:grpSpPr>
        <p:sp>
          <p:nvSpPr>
            <p:cNvPr id="5" name="Rectangle 5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7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04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04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4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4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4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7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7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7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04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04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04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04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04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2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2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2285" y="3327400"/>
              <a:ext cx="2457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处理器/内存 官方未公布 · Mesh 2.0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2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2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19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9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19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9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19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INDUSTRY OUTLOOK &amp;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0110" y="10604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产业思考与未来演进方向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90700"/>
            <a:ext cx="38211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基于三份官方发布材料的产业推演 · 预测部分明确标注为分析判断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90750"/>
            <a:ext cx="10287000" cy="2990850"/>
            <a:chOff x="914400" y="2190750"/>
            <a:chExt cx="10287000" cy="29908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393950"/>
              <a:ext cx="2069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是下一轮竞争主战场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98750"/>
              <a:ext cx="26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全面接入大模型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65450"/>
              <a:ext cx="3914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从「被动应答」转向「主动服务」（屏幕感知 · 个人语境）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947" y="3257550"/>
              <a:ext cx="38785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已发布口径：Apple Intelligence / Siri AI · 小米超级小爱 · 华为小艺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5315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37935" y="2393950"/>
              <a:ext cx="342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协议融合：Matter / Thread 成为共同底座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7935" y="2698750"/>
              <a:ext cx="3882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三家的连接方式各有取舍：Wi-Fi 6E · PLC · Zigbee/Mesh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7935" y="2965450"/>
              <a:ext cx="3261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但都在向统一标准靠拢 —— 生态开放是共同方向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8697" y="3257550"/>
              <a:ext cx="31572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支持：Apple ✓ 小米 ✓ 华为（鸿蒙智联兼容）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3956050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从单品竞争到场景化解决方案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260850"/>
              <a:ext cx="3612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Home Collection 联合 LG / Schneider 进场配件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527550"/>
              <a:ext cx="3948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华为全屋智能 4.0 · 小米人车家全生态 —— 都是场景化打法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7935" y="3956050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隐私与安全成为高端差异化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7935" y="4260850"/>
              <a:ext cx="411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Secure Exclaves + Private Cloud Compute（官方披露）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37935" y="4527550"/>
              <a:ext cx="386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小米安全芯片防护 —— 隐私是共同叙事，但实现路径不同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524500"/>
            <a:ext cx="10363200" cy="876300"/>
          </a:xfrm>
          <a:prstGeom prst="roundRect">
            <a:avLst>
              <a:gd name="adj" fmla="val 1521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689600"/>
            <a:ext cx="20695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分析判断（非官方披露）：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975350"/>
            <a:ext cx="79807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苹果将延续「硬件-系统-服务」三位一体，HomeView 只是入口 —— 后续可能围绕 HomeKit/Home 应用生态继续扩展，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184900"/>
            <a:ext cx="7098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并以 Matter 兼容性吸收非苹果硬件；华为继续深耕前装工程渠道；小米依托设备数量优势推动 AI 普惠化。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464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FUTURE TRENDS · 未来趋势预判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四大趋势与三家卡位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914400" y="2000250"/>
            <a:ext cx="10477500" cy="3048000"/>
            <a:chOff x="914400" y="2000250"/>
            <a:chExt cx="10477500" cy="3048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184400"/>
              <a:ext cx="1767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成为核心竞争力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501900"/>
              <a:ext cx="9880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竞争焦点从「设备连接数量」转向「AI 体验深度」：谁能更主动、更懂用户，谁掌握主动权。苹果 Siri AI（beta 英语）、小艺/小爱大模型均已落地中文场景。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48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33185" y="218440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02 · 生态壁垒与互联互通并存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33566" y="250190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各厂继续筑自有壁垒，Matter 协议打破品牌连接界限，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33566" y="2711450"/>
              <a:ext cx="4115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跨品牌互联成默认能力 —— 苹果/华为/小米均已在 Roadmap 之内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185" y="380365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03 · 场景化解决方案成为主流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4121150"/>
              <a:ext cx="961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「家庭影院」「健康管理」「全屋节能」等一体化解法替代单品销售。华为前装成套已是最典型场景化打法；苹果 Home Collection 也在向场景组合演进。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3185" y="3803650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5F3FC"/>
                  </a:solidFill>
                  <a:latin typeface="Consolas"/>
                  <a:ea typeface="Microsoft YaHei"/>
                  <a:cs typeface="Consolas"/>
                </a:rPr>
                <a:t>04 · 前装市场潜力巨大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566" y="412115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房地产存量时代，全屋前装爆发。稳定标准前装方案厂商占据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566" y="4330700"/>
              <a:ext cx="4503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新房+旧改优势 —— 华为 PLC 最受益，小米后装最灵活，苹果需补渠道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914400" y="571500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137666" y="5835650"/>
            <a:ext cx="48844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结论：AI 重塑体验，生态决定壁垒 —— 前装决定存量，Matter 决定互通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6" name="Rectangle 6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1490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APPENDIX · 数据来源与方法论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6576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附录：本报告数据核实清单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914400" y="2095500"/>
            <a:ext cx="10477500" cy="3238500"/>
            <a:chOff x="914400" y="2095500"/>
            <a:chExt cx="10477500" cy="32385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官方数据源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35250"/>
              <a:ext cx="366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Newsroom（2026-10-13）Welcome Home 新闻稿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21000"/>
              <a:ext cx="4579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apple.com 产品规格页（HomeView / Apple TV 4K / HomePod mini 2）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206750"/>
              <a:ext cx="2944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consumer.huawei.com 智能中控屏 S2 产品页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92500"/>
              <a:ext cx="2238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mi.com 小米智能家庭屏 11 产品页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78250"/>
              <a:ext cx="4479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小米集团 2025 年度业绩公告（ir.mi.com）· AIoT 连接设备 10.79 亿台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412115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方法论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464050"/>
              <a:ext cx="3910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仅收录厂商官方披露参数；未披露项一律标注「官方未公布」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4749800"/>
              <a:ext cx="3848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不采用第三方调研机构份额/价格/销量数据（无法独立核实）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5035550"/>
              <a:ext cx="438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所有图片均来自官方渠道（Apple Newsroom / 华为官网 / 小米官网）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48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3185" y="2279650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报告信息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566" y="2635250"/>
              <a:ext cx="3392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报告主题：Apple Welcome Home 智能家居竞品洞察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3566" y="2921000"/>
              <a:ext cx="1877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版本：专业深度版 v4 · 21 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566" y="3206750"/>
              <a:ext cx="1241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日期：2026-10-16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566" y="3492500"/>
              <a:ext cx="2450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适用对象：产品 / 战略 / 市场分析团队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3566" y="383540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// 免责声明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3566" y="417830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本报告基于发布日可核实的官方公开信息分析，不构成投资建议；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566" y="44640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厂商未披露的参数与规划，属于合理推断而非事实陈述。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23751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THANKS · 致谢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2451100"/>
            <a:ext cx="181051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感谢阅读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7542" y="3225800"/>
            <a:ext cx="3264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探索智能家居新生态 · 共创美好智慧生活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9066" y="3683000"/>
            <a:ext cx="33297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Apple Welcome Home 2026 · 智能家居竞品洞察报告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415290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2026-10-17T09:44:42Z</dcterms:created>
  <dcterms:modified xsi:type="dcterms:W3CDTF">2026-10-17T09:44:42Z</dcterms:modified>
  <cp:category/>
  <cp:contentStatus/>
</cp:coreProperties>
</file>