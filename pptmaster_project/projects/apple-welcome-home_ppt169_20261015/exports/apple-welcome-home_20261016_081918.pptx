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8" name="Rectangle 8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10" name="Rectangle 10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4" name="Rectangle 14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8" name="Rectangle 18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ltUpDiag">
            <a:fgClr>
              <a:srgbClr val="1E3A5F">
                <a:alpha val="40000"/>
              </a:srgbClr>
            </a:fgClr>
            <a:bgClr>
              <a:srgbClr val="FFFFFF"/>
            </a:bgClr>
          </a:patt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4221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225" dirty="0">
                <a:solidFill>
                  <a:srgbClr val="A5F3FC"/>
                </a:solidFill>
                <a:latin typeface="Consolas"/>
                <a:ea typeface="Consolas"/>
                <a:cs typeface="Consolas"/>
              </a:rPr>
              <a:t>// TIMELINE · 2011 —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苹果智能家居演进史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3048000" cy="38100"/>
          </a:xfrm>
          <a:prstGeom prst="roundRect">
            <a:avLst>
              <a:gd name="adj" fmla="val 375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3810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1E3A5F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685800" y="3416300"/>
            <a:ext cx="1295400" cy="1651000"/>
            <a:chOff x="685800" y="3416300"/>
            <a:chExt cx="1295400" cy="1651000"/>
          </a:xfrm>
        </p:grpSpPr>
        <p:sp>
          <p:nvSpPr>
            <p:cNvPr id="7" name="Ellipse 7"/>
            <p:cNvSpPr/>
            <p:nvPr/>
          </p:nvSpPr>
          <p:spPr>
            <a:xfrm>
              <a:off x="12382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7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9842" y="4165600"/>
              <a:ext cx="72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iPhone 4S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481" y="4419600"/>
              <a:ext cx="768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Siri 语音首秀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837" y="46291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语音交互概念引入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76500" y="3416300"/>
            <a:ext cx="1295400" cy="1651000"/>
            <a:chOff x="2476500" y="3416300"/>
            <a:chExt cx="1295400" cy="1651000"/>
          </a:xfrm>
        </p:grpSpPr>
        <p:sp>
          <p:nvSpPr>
            <p:cNvPr id="14" name="Ellipse 14"/>
            <p:cNvSpPr/>
            <p:nvPr/>
          </p:nvSpPr>
          <p:spPr>
            <a:xfrm>
              <a:off x="30289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174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12825" y="4165600"/>
              <a:ext cx="622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234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统一智能家居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234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通信协议框架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67200" y="3416300"/>
            <a:ext cx="1295400" cy="1651000"/>
            <a:chOff x="4267200" y="3416300"/>
            <a:chExt cx="1295400" cy="1651000"/>
          </a:xfrm>
        </p:grpSpPr>
        <p:sp>
          <p:nvSpPr>
            <p:cNvPr id="21" name="Ellipse 21"/>
            <p:cNvSpPr/>
            <p:nvPr/>
          </p:nvSpPr>
          <p:spPr>
            <a:xfrm>
              <a:off x="48196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081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2016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2672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583416" y="4165600"/>
              <a:ext cx="662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3229" y="4419600"/>
              <a:ext cx="8833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音频中心 + Siri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41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音频交互入口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57900" y="3416300"/>
            <a:ext cx="1295400" cy="1651000"/>
            <a:chOff x="6057900" y="3416300"/>
            <a:chExt cx="1295400" cy="1651000"/>
          </a:xfrm>
        </p:grpSpPr>
        <p:sp>
          <p:nvSpPr>
            <p:cNvPr id="28" name="Ellipse 28"/>
            <p:cNvSpPr/>
            <p:nvPr/>
          </p:nvSpPr>
          <p:spPr>
            <a:xfrm>
              <a:off x="66103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88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2018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579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00065" y="4165600"/>
              <a:ext cx="101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0828" y="44196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低价位入口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36792" y="46291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生态普及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48600" y="3416300"/>
            <a:ext cx="1295400" cy="1651000"/>
            <a:chOff x="7848600" y="3416300"/>
            <a:chExt cx="1295400" cy="1651000"/>
          </a:xfrm>
        </p:grpSpPr>
        <p:sp>
          <p:nvSpPr>
            <p:cNvPr id="35" name="Ellipse 35"/>
            <p:cNvSpPr/>
            <p:nvPr/>
          </p:nvSpPr>
          <p:spPr>
            <a:xfrm>
              <a:off x="8401050" y="3714750"/>
              <a:ext cx="190500" cy="1905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95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2023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848600" y="4038600"/>
              <a:ext cx="1295400" cy="1028700"/>
            </a:xfrm>
            <a:prstGeom prst="roundRect">
              <a:avLst>
                <a:gd name="adj" fmla="val 925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9862" y="4165600"/>
              <a:ext cx="7728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 Pro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5564" y="4419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空间计算入口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75758" y="4629150"/>
              <a:ext cx="10410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家居 AR/VR 可能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05950" y="3416300"/>
            <a:ext cx="1562100" cy="1765300"/>
            <a:chOff x="9505950" y="3416300"/>
            <a:chExt cx="1562100" cy="1765300"/>
          </a:xfrm>
        </p:grpSpPr>
        <p:sp>
          <p:nvSpPr>
            <p:cNvPr id="42" name="Ellipse 42"/>
            <p:cNvSpPr/>
            <p:nvPr/>
          </p:nvSpPr>
          <p:spPr>
            <a:xfrm>
              <a:off x="10163175" y="36861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66675">
                <a:srgbClr val="000000">
                  <a:alpha val="30000"/>
                </a:srgbClr>
              </a:glo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10080231" y="341630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5F3FC"/>
                  </a:solidFill>
                  <a:latin typeface="Consolas"/>
                  <a:ea typeface="Consolas"/>
                  <a:cs typeface="Consolas"/>
                </a:rPr>
                <a:t>2026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05950" y="4038600"/>
              <a:ext cx="1562100" cy="1143000"/>
            </a:xfrm>
            <a:prstGeom prst="roundRect">
              <a:avLst>
                <a:gd name="adj" fmla="val 8333"/>
              </a:avLst>
            </a:prstGeom>
            <a:solidFill>
              <a:srgbClr val="0E244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916026" y="4165600"/>
              <a:ext cx="741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4337" y="44196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家庭操作系统枢纽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86264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全屋连接枢纽</a:t>
              </a:r>
            </a:p>
          </p:txBody>
        </p:sp>
      </p:grpSp>
      <p:sp>
        <p:nvSpPr>
          <p:cNvPr id="49" name="Rectangle 49"/>
          <p:cNvSpPr/>
          <p:nvPr/>
        </p:nvSpPr>
        <p:spPr>
          <a:xfrm>
            <a:off x="914400" y="5715000"/>
            <a:ext cx="103632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174242" y="5835650"/>
            <a:ext cx="9076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核心洞察：Apple 从「零散硬件」进化为「系统级平台」——HomeView 作为中央枢纽，统一全屋设备控制与数据流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74242" y="6083300"/>
            <a:ext cx="54025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并通过 A18 芯片 + Secure Exclaves 隐私隔离实现本地高性能处理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37924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225" dirty="0">
                <a:solidFill>
                  <a:srgbClr val="A5F3FC"/>
                </a:solidFill>
                <a:latin typeface="Consolas"/>
                <a:ea typeface="Microsoft YaHei"/>
                <a:cs typeface="Consolas"/>
              </a:rPr>
              <a:t>// EVENT SYNOPSIS · 发布会全景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927100"/>
            <a:ext cx="802995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发布会全景：主题、环节与三大核心亮点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4000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914400" y="2000250"/>
            <a:ext cx="3429000" cy="4286250"/>
            <a:chOff x="914400" y="2000250"/>
            <a:chExt cx="342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914400" y="2000250"/>
              <a:ext cx="3429000" cy="4286250"/>
            </a:xfrm>
            <a:prstGeom prst="roundRect">
              <a:avLst>
                <a:gd name="adj" fmla="val 444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" y="2000250"/>
              <a:ext cx="3429000" cy="533400"/>
            </a:xfrm>
            <a:prstGeom prst="roundRect">
              <a:avLst>
                <a:gd name="adj" fmla="val 28571"/>
              </a:avLst>
            </a:prstGeom>
            <a:solidFill>
              <a:srgbClr val="0E99FF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1971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环节排期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219200" y="2857500"/>
              <a:ext cx="9525" cy="2819400"/>
            </a:xfrm>
            <a:custGeom>
              <a:avLst/>
              <a:gdLst/>
              <a:ahLst/>
              <a:cxnLst/>
              <a:rect l="l" t="t" r="r" b="b"/>
              <a:pathLst>
                <a:path w="9525" h="2819400">
                  <a:moveTo>
                    <a:pt x="0" y="0"/>
                  </a:moveTo>
                  <a:lnTo>
                    <a:pt x="0" y="2819400"/>
                  </a:lnTo>
                </a:path>
              </a:pathLst>
            </a:custGeom>
            <a:noFill/>
            <a:ln w="28575">
              <a:solidFill>
                <a:srgbClr val="1E3A5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33475" y="2771775"/>
              <a:ext cx="171450" cy="171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E183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0942" y="2749550"/>
              <a:ext cx="1370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开场致辞 · 5min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2466" y="2997200"/>
              <a:ext cx="1654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Tim Cook 回归家庭的意义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33475" y="3343275"/>
              <a:ext cx="171450" cy="17145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0E183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0942" y="3321050"/>
              <a:ext cx="2050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介绍 · 12min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2466" y="3568700"/>
              <a:ext cx="1832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中央枢纽概念 · 全屋连接入口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133475" y="3914775"/>
              <a:ext cx="171450" cy="171450"/>
            </a:xfrm>
            <a:prstGeom prst="ellipse">
              <a:avLst/>
            </a:prstGeom>
            <a:solidFill>
              <a:srgbClr val="0E99FF"/>
            </a:solidFill>
            <a:ln w="28575">
              <a:solidFill>
                <a:srgbClr val="0E183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40942" y="38925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硬件发布 · 20min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2466" y="4140200"/>
              <a:ext cx="2027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HomePod 2 · 新一代传感器阵列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133475" y="4486275"/>
              <a:ext cx="171450" cy="171450"/>
            </a:xfrm>
            <a:prstGeom prst="ellipse">
              <a:avLst/>
            </a:prstGeom>
            <a:solidFill>
              <a:srgbClr val="E96A68"/>
            </a:solidFill>
            <a:ln w="28575">
              <a:solidFill>
                <a:srgbClr val="0E183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40942" y="44640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软件生态 · 15min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2466" y="4711700"/>
              <a:ext cx="18281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HomeOS 2.0 · 生态合作伙伴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133475" y="5057775"/>
              <a:ext cx="171450" cy="171450"/>
            </a:xfrm>
            <a:prstGeom prst="ellipse">
              <a:avLst/>
            </a:prstGeom>
            <a:solidFill>
              <a:srgbClr val="F9C80E"/>
            </a:solidFill>
            <a:ln w="28575">
              <a:solidFill>
                <a:srgbClr val="0E183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40942" y="5035550"/>
              <a:ext cx="14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场景演示 · 18min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42466" y="5283200"/>
              <a:ext cx="2068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真实生活场景（清早/归家/晚安）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1133475" y="5629275"/>
              <a:ext cx="171450" cy="171450"/>
            </a:xfrm>
            <a:prstGeom prst="ellipse">
              <a:avLst/>
            </a:prstGeom>
            <a:solidFill>
              <a:srgbClr val="A3E635"/>
            </a:solidFill>
            <a:ln w="28575">
              <a:solidFill>
                <a:srgbClr val="0E183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440942" y="5607050"/>
              <a:ext cx="1370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合作伙伴 · 8min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2466" y="5854700"/>
              <a:ext cx="20082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· Schneider · ADT 合作官宣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610100" y="2000250"/>
            <a:ext cx="6667500" cy="4095750"/>
            <a:chOff x="4610100" y="2000250"/>
            <a:chExt cx="6667500" cy="4095750"/>
          </a:xfrm>
        </p:grpSpPr>
        <p:sp>
          <p:nvSpPr>
            <p:cNvPr id="29" name="Rectangle 29"/>
            <p:cNvSpPr/>
            <p:nvPr/>
          </p:nvSpPr>
          <p:spPr>
            <a:xfrm>
              <a:off x="4610100" y="20002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31842" y="2178050"/>
              <a:ext cx="34697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亮点 01 · HomeView 中央控制台 + 生态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32985" y="2489200"/>
              <a:ext cx="4012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屏 + Schneider 壁挂生态 + ADT 专业安防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32985" y="2717800"/>
              <a:ext cx="3090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芯片 + Secure Exclaves，本地实时响应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32985" y="2946400"/>
              <a:ext cx="2817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/ Schneider / ADT 三方硬件合作验证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10100" y="34099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31842" y="3587750"/>
              <a:ext cx="3193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4B5F9"/>
                  </a:solidFill>
                  <a:latin typeface="Consolas"/>
                  <a:ea typeface="Microsoft YaHei"/>
                  <a:cs typeface="Consolas"/>
                </a:rPr>
                <a:t>亮点 02 · HomeOS 2.0 + Siri 进阶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32985" y="3898900"/>
              <a:ext cx="3505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Compute，隐私优先架构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32985" y="4127500"/>
              <a:ext cx="204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上下文感知 + 多用户识别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985" y="4356100"/>
              <a:ext cx="3049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主动建议：基于时间/地点/人群的自动化推荐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610100" y="4819650"/>
              <a:ext cx="66675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rgbClr val="A3E63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31842" y="4997450"/>
              <a:ext cx="3114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亮点 03 · HomePod 2 + 传感器阵列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2985" y="5308600"/>
              <a:ext cx="4072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 full-range drivers + 2× tweeters，空间音频 + 多房间同步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2985" y="5537200"/>
              <a:ext cx="204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本地语音处理优先 · 端侧执行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32985" y="5765800"/>
              <a:ext cx="3995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新一代传感器阵列：温湿度/运动/光照/杂质，数据本地加密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914400" y="6477000"/>
            <a:ext cx="10363200" cy="3048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1175766" y="6550025"/>
            <a:ext cx="52227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发布会主题：Welcome Home 在家焕新启幕 · 苹果正式进入「家庭操作系统」时代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8" name="Rectangle 8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64842" y="2844800"/>
              <a:ext cx="87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A18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60842" y="2844800"/>
              <a:ext cx="845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8核处理器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64842" y="3606800"/>
              <a:ext cx="146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12842" y="3606800"/>
              <a:ext cx="1062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60842" y="3606800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64842" y="4368800"/>
              <a:ext cx="1770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12MP Center Stage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60842" y="4368800"/>
              <a:ext cx="873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800万像素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2747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164842" y="5130800"/>
              <a:ext cx="2326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2×全频 + 低音 + 2×被动辐射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60842" y="5130800"/>
              <a:ext cx="120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4单元独立音腔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60842" y="589280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6GB 内存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3" name="Rectangle 73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716716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COMPARISON MATRIX · Apple × Huawei × Xiaomi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三方核心产品对比矩阵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43075"/>
            <a:ext cx="915580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HomeView 官方新闻稿 (2026-10-13) · 华为 S2 官方产品页 · 小米智能家庭屏 11 产品页 · 标注为「官方未公布」者均未在品牌官方渠道披露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571500" y="2047875"/>
            <a:ext cx="10610850" cy="3962400"/>
            <a:chOff x="571500" y="2047875"/>
            <a:chExt cx="10610850" cy="3962400"/>
          </a:xfrm>
        </p:grpSpPr>
        <p:sp>
          <p:nvSpPr>
            <p:cNvPr id="7" name="Rectangle 7"/>
            <p:cNvSpPr/>
            <p:nvPr/>
          </p:nvSpPr>
          <p:spPr>
            <a:xfrm>
              <a:off x="571500" y="2047875"/>
              <a:ext cx="2095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07770" y="21653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对比维度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62250" y="2047875"/>
              <a:ext cx="2667000" cy="457200"/>
            </a:xfrm>
            <a:prstGeom prst="roundRect">
              <a:avLst>
                <a:gd name="adj" fmla="val 20833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07466" y="2152650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29250" y="2047875"/>
              <a:ext cx="2857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9807" y="2165350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286750" y="2047875"/>
              <a:ext cx="2857500" cy="457200"/>
            </a:xfrm>
            <a:prstGeom prst="roundRect">
              <a:avLst>
                <a:gd name="adj" fmla="val 208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10531" y="2165350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163300" y="2047875"/>
              <a:ext cx="19050" cy="396240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2543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242" y="2701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2250" y="2543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4185" y="2651125"/>
              <a:ext cx="1233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A18 芯片（3nm）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04947" y="2876550"/>
              <a:ext cx="2082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官方新闻稿 · 核心/NPU 参数未公布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29250" y="2543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14035" y="26511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4797" y="2876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286750" y="2543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2485" y="2651125"/>
              <a:ext cx="7016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8核处理器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53247" y="2876550"/>
              <a:ext cx="16321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配合 6GB内存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114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3242" y="32734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62250" y="3114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04185" y="3222625"/>
              <a:ext cx="2192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7" Liquid Retina · 1088×1088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04947" y="3448050"/>
              <a:ext cx="14719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500 nits峰值 · True Tone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29250" y="3114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14035" y="3222625"/>
              <a:ext cx="8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FHD+ 超高清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14797" y="3448050"/>
              <a:ext cx="14760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色温自动调节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3114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52485" y="3222625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11" 高清大屏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3247" y="3435350"/>
              <a:ext cx="11682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71500" y="3686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3242" y="3844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语音助手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762250" y="3686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04185" y="3794125"/>
              <a:ext cx="1222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· 多角色声纹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04947" y="40195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上下文感知 · 主动建议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429250" y="3686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14035" y="3794125"/>
              <a:ext cx="1185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官方未公布本地%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14797" y="40195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华为官网未公布处理比例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286750" y="3686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52485" y="3794125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小爱同学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53247" y="4019550"/>
              <a:ext cx="14461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AI大模型 · 中文场景理解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4257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3242" y="44164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生态合作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762250" y="4257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004185" y="4365625"/>
              <a:ext cx="15924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LG + Schneider + ADT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04947" y="4591050"/>
              <a:ext cx="13209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HomeKit · Matter 生态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429250" y="4257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14035" y="4365625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国内生态（合作方未公布）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14797" y="45910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鸿蒙智联生态 · 产业链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286750" y="4257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52485" y="4365625"/>
              <a:ext cx="1520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米家生态（Mi Home）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53247" y="4591050"/>
              <a:ext cx="14681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米家APP · 海量智能设备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1500" y="48291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3242" y="49879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隐私模型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762250" y="48291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04185" y="4937125"/>
              <a:ext cx="1709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Secure Exclaves + PCC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04947" y="5162550"/>
              <a:ext cx="15783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官方确认架构 · 未公布占比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429250" y="4829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14035" y="4937125"/>
              <a:ext cx="884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官方未公布%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614797" y="5162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华为官网未披露比例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86750" y="48291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452485" y="4937125"/>
              <a:ext cx="884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官方未公布%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53247" y="51625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小米官网未披露比例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1500" y="5400675"/>
              <a:ext cx="2095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93242" y="55594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价格段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762250" y="5400675"/>
              <a:ext cx="26670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004185" y="5508625"/>
              <a:ext cx="557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$299 起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004947" y="5734050"/>
              <a:ext cx="15468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 官方起售价 · 含壁挂版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429250" y="5400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14035" y="55086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614797" y="573405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华为未在官网披露统一零售价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86750" y="5400675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52485" y="5508625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53247" y="573405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小米官网未披露统一价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5385" y="6318250"/>
            <a:ext cx="86594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总结：Apple A18 + 本地隐私 + 三方合作 = 旗舰体验；华为/小米官方未公布芯片与隐私比例，以生态广度与性价比为差异化矩阵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4146332" cy="4095750"/>
            <a:chOff x="914400" y="2095500"/>
            <a:chExt cx="4146332" cy="4095750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04900" y="2286000"/>
              <a:ext cx="3714750" cy="800100"/>
            </a:xfrm>
            <a:prstGeom prst="roundRect">
              <a:avLst>
                <a:gd name="adj" fmla="val 14286"/>
              </a:avLst>
            </a:prstGeom>
            <a:solidFill>
              <a:srgbClr val="0A1628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1397" y="2476500"/>
              <a:ext cx="27417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67968" y="2673350"/>
              <a:ext cx="250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桌面版 / 壁挂版两种形态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21945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347" y="331470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51966" y="3530600"/>
              <a:ext cx="3808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True Tone · 500 nits峰值/0.3 nits最低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04900" y="392430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52347" y="40195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1966" y="4235450"/>
              <a:ext cx="359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04900" y="462915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52347" y="472440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1966" y="4940300"/>
              <a:ext cx="3626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04900" y="5334000"/>
              <a:ext cx="3714750" cy="609600"/>
            </a:xfrm>
            <a:prstGeom prst="roundRect">
              <a:avLst>
                <a:gd name="adj" fmla="val 15625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52347" y="54292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1966" y="5645150"/>
              <a:ext cx="25392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4" name="Rectangle 24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2" name="Rectangle 52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6878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EXPERIENCE · 功能矩阵（全部官方确认）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674598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功能全景：娱乐 · 连接 · 智能家居 · 隐私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5143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472416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 + 新闻稿（2026-10-13）· 所有功能点均有官方文字依据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14400" y="2095500"/>
            <a:ext cx="10363200" cy="2210943"/>
            <a:chOff x="914400" y="2095500"/>
            <a:chExt cx="10363200" cy="2210943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9947" y="2286000"/>
              <a:ext cx="15004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ENTERTAINMENT · 娱乐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376" y="2508250"/>
              <a:ext cx="261119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Music 歌词/专辑动画 · Podcasts 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376" y="2717800"/>
              <a:ext cx="262328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News 有声故事 · 兼容第三方音视频 App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2952750"/>
              <a:ext cx="201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Handoff 无缝续播 · 多房间 AirPlay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209550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9947" y="22860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CONNECT · 连接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376" y="2508250"/>
              <a:ext cx="234351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FaceTime + Center Stage 智能构图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376" y="2717800"/>
              <a:ext cx="222471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家庭广播 · 语音收发消息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2952750"/>
              <a:ext cx="19776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Find My · 实时活动 Live Activities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48600" y="209550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947" y="2286000"/>
              <a:ext cx="1730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CAMERA FACE · 安防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376" y="2508250"/>
              <a:ext cx="1494812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 9 路视频同屏直播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376" y="2717800"/>
              <a:ext cx="228914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HomeKit Secure Video 端到端加密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2952750"/>
              <a:ext cx="21583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人物/宠物/包裹/车辆识别（iCloud+）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947" y="3448050"/>
              <a:ext cx="18071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SOUND RECOGNITION · 感知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376" y="3670300"/>
              <a:ext cx="1665906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识别烟雾/一氧化碳报警音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376" y="3879850"/>
              <a:ext cx="2048098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报警推送至 iPhone/iPad/Watch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4114800"/>
              <a:ext cx="197412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温湿度传感器内置 · 环境光自适应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81500" y="3257550"/>
              <a:ext cx="333375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9947" y="3448050"/>
              <a:ext cx="11509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FACES · 表盘生态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376" y="3670300"/>
              <a:ext cx="2468489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Photos 人像景深 · Flow 动态互动艺术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9376" y="3879850"/>
              <a:ext cx="2286704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Snoopy 动画 · Home Modular 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9947" y="4114800"/>
              <a:ext cx="18349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距离感应：远观概要 / 近看细节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48600" y="3257550"/>
              <a:ext cx="3429000" cy="1028700"/>
            </a:xfrm>
            <a:prstGeom prst="roundRect">
              <a:avLst>
                <a:gd name="adj" fmla="val 1296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9947" y="344805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COOKING · 场景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9376" y="3683000"/>
              <a:ext cx="1625143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网页食谱一键转分步引导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9376" y="3879850"/>
              <a:ext cx="1315325" cy="213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免提计时 · 食材追踪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947" y="4114800"/>
              <a:ext cx="11825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多计时器 · 语音控制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914400" y="5715000"/>
            <a:ext cx="10363200" cy="876300"/>
          </a:xfrm>
          <a:prstGeom prst="roundRect">
            <a:avLst>
              <a:gd name="adj" fmla="val 15217"/>
            </a:avLst>
          </a:prstGeom>
          <a:solidFill>
            <a:schemeClr val="accent5"/>
          </a:solidFill>
          <a:ln w="9525">
            <a:solidFill>
              <a:srgbClr val="0EA5E9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176147" y="5905500"/>
            <a:ext cx="27734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APPLE HOME COLLECTION · 生态破圈第一役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75385" y="6127750"/>
            <a:ext cx="71095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与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LG Electronics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+ </a:t>
            </a:r>
            <a:r>
              <a:rPr lang="en-US" sz="112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Schneider Electric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联合设计智能摄像头/温控器/门锁（12月起发售，部分 2027 初）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5766" y="6369050"/>
            <a:ext cx="53905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端到端加密 · NFC 配对 · 兼容 Works with Apple Home 与 Matter · ADT 专业安装服务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4682" y="1127125"/>
            <a:ext cx="70718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语音助手深度拆解：Siri AI vs 小艺管家 vs 超级小爱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571625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14500"/>
            <a:ext cx="66536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官方产品页/新闻稿 · 华为 S2 官方产品页 · 小米智能家庭屏 11 产品页 · 未披露项标注「官方未公布」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2095500"/>
            <a:ext cx="3619500" cy="3619500"/>
            <a:chOff x="571500" y="2095500"/>
            <a:chExt cx="36195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0EA5E9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95724" y="2247900"/>
              <a:ext cx="1771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(Apple)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385" y="3060700"/>
              <a:ext cx="2747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广博世界知识：食谱/维修/百科即时回答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3289300"/>
              <a:ext cx="2513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屏幕感知：理解当前屏幕内容上下文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385" y="3517900"/>
              <a:ext cx="31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iPhone/iPad 后读取日历/消息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5147" y="3924300"/>
              <a:ext cx="13256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MULTIUSER · 多用户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127500"/>
              <a:ext cx="2014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最多识别 6 人（人脸+声音）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385" y="4356100"/>
              <a:ext cx="2555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内容隔离：个人消息/日历仅本人可见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147" y="47625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PRIVACY · 隐私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385" y="4965700"/>
              <a:ext cx="2330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硬件隔离音视频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385" y="5194300"/>
              <a:ext cx="2449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147" y="5448300"/>
              <a:ext cx="22949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仅英语起步 · EU 不售（Siri AI 政策）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2095500"/>
            <a:ext cx="3619500" cy="3619500"/>
            <a:chOff x="4381500" y="2095500"/>
            <a:chExt cx="3619500" cy="3619500"/>
          </a:xfrm>
        </p:grpSpPr>
        <p:sp>
          <p:nvSpPr>
            <p:cNvPr id="22" name="Rectangle 22"/>
            <p:cNvSpPr/>
            <p:nvPr/>
          </p:nvSpPr>
          <p:spPr>
            <a:xfrm>
              <a:off x="438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15371" y="2260600"/>
              <a:ext cx="2551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小艺管家 (Huawei S2)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30607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可视可说：屏幕可见即可语音控制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32893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全双工对话：连续对话、可打断、可插话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4385" y="35179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空间感知：挂墙自动切换当前空间界面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5147" y="3924300"/>
              <a:ext cx="1347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INTERACTION · 交互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127500"/>
              <a:ext cx="2410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 UX：全屋/系统/单品三层管控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385" y="4356100"/>
              <a:ext cx="2345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超级快控：拖拽建场景 · 长按精调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4965700"/>
              <a:ext cx="1941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· HarmonyOS 2.1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385" y="5194300"/>
              <a:ext cx="2361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与智能主机 SE 组合实现全屋中枢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191500" y="2095500"/>
            <a:ext cx="3619500" cy="3619500"/>
            <a:chOff x="8191500" y="2095500"/>
            <a:chExt cx="3619500" cy="3619500"/>
          </a:xfrm>
        </p:grpSpPr>
        <p:sp>
          <p:nvSpPr>
            <p:cNvPr id="37" name="Rectangle 37"/>
            <p:cNvSpPr/>
            <p:nvPr/>
          </p:nvSpPr>
          <p:spPr>
            <a:xfrm>
              <a:off x="819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9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62661" y="2260600"/>
              <a:ext cx="247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超级小爱 (Xiaomi 11)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3060700"/>
              <a:ext cx="2473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大模型 · 百科问答/文案创作/闲聊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32893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语音创建自动化场景（米家联动）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4385" y="3517900"/>
              <a:ext cx="238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一句话多指令：控车+控家+查信息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5147" y="3924300"/>
              <a:ext cx="8871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VOICE · 音色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385" y="4127500"/>
              <a:ext cx="195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拟人音色「柚子」/「蜜糖」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4385" y="4356100"/>
              <a:ext cx="232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连续对话 · 随时打断 · 上下文继承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4385" y="4965700"/>
              <a:ext cx="231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澎湃OS 3 · 中枢网关 + Mesh 2.0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4385" y="51943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sp>
        <p:nvSpPr>
          <p:cNvPr id="52" name="Rectangle 52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175385" y="6108700"/>
            <a:ext cx="10819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 AI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：广博世界知识 + 6人隔离 + 最强隐私架构（英语起步） · </a:t>
            </a:r>
            <a:r>
              <a:rPr lang="zh-CN" sz="112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小艺管家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：可视可说 + 空间穿越 + 鸿蒙生态 · </a:t>
            </a:r>
            <a:r>
              <a:rPr lang="zh-CN" sz="112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超级小爱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：大模型对话 + 万级设备兼容 + 中文场景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76147" y="6343650"/>
            <a:ext cx="35133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本地处理百分比与离线指令率：三方官方均未公布 → 不列出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7" name="Rectangle 7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4" name="Rectangle 24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327400"/>
              <a:ext cx="224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8核 + 6GB · Mesh 2.0 本地中枢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6780" y="584200"/>
            <a:ext cx="30198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ROADMAP &amp; 战略思考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产业思考与后续演进路线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190750"/>
            <a:ext cx="10363200" cy="1428750"/>
            <a:chOff x="914400" y="2190750"/>
            <a:chExt cx="10363200" cy="14287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042" y="27686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系统级竞争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92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卖「家庭操作系统」体验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与隐私承诺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433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042" y="2768600"/>
              <a:ext cx="1390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硬件-软件一体化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3092450"/>
              <a:ext cx="1457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+ HomeView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不可分割的护城河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722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042" y="27686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生态同盟而非封闭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092450"/>
              <a:ext cx="1386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LG / Schneider / ADT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3020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关键硬件开放合作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01100" y="2190750"/>
              <a:ext cx="2476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4232" y="22796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effectLst>
                    <a:glow rad="47625">
                      <a:srgbClr val="000000">
                        <a:alpha val="3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8042" y="27686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隐私成为核心差异化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092450"/>
              <a:ext cx="2213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302000"/>
              <a:ext cx="1681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「可信任的家庭 OS」心智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7542" y="4044950"/>
            <a:ext cx="10370058" cy="1651000"/>
            <a:chOff x="907542" y="4044950"/>
            <a:chExt cx="10370058" cy="1651000"/>
          </a:xfrm>
        </p:grpSpPr>
        <p:sp>
          <p:nvSpPr>
            <p:cNvPr id="27" name="TextBox 27"/>
            <p:cNvSpPr txBox="1"/>
            <p:nvPr/>
          </p:nvSpPr>
          <p:spPr>
            <a:xfrm>
              <a:off x="907542" y="4044950"/>
              <a:ext cx="24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ROADMAP · 演进预测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14400" y="4457700"/>
              <a:ext cx="103632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104900" y="4667250"/>
              <a:ext cx="9791700" cy="838200"/>
              <a:chOff x="1104900" y="4667250"/>
              <a:chExt cx="9791700" cy="8382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104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51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1585" y="5060950"/>
                <a:ext cx="93121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HomeOS 2.1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52347" y="5295900"/>
                <a:ext cx="6695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跨协议调和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814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728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28085" y="50609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传感器微型化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28847" y="5295900"/>
                <a:ext cx="83812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嵌入家电/灯具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57900" y="4667250"/>
                <a:ext cx="22860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9525">
                <a:solidFill>
                  <a:srgbClr val="1E3A5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45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2027 Q3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04585" y="5060950"/>
                <a:ext cx="12732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Vision Pro 家庭版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05347" y="5295900"/>
                <a:ext cx="933399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空间计算进客厅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34400" y="4667250"/>
                <a:ext cx="236220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0E2440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681085" y="4794250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5F3FC"/>
                    </a:solidFill>
                    <a:latin typeface="Consolas"/>
                    <a:ea typeface="Consolas"/>
                    <a:cs typeface="Consolas"/>
                  </a:rPr>
                  <a:t>2028 Q1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681085" y="50609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A5F3FC"/>
                    </a:solidFill>
                    <a:latin typeface="+mn-lt"/>
                    <a:ea typeface="+mn-ea"/>
                    <a:cs typeface="+mn-cs"/>
                  </a:rPr>
                  <a:t>跨平台开放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681847" y="5295900"/>
                <a:ext cx="111349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安卓/Windows API</a:t>
                </a:r>
              </a:p>
            </p:txBody>
          </p:sp>
        </p:grpSp>
      </p:grpSp>
      <p:sp>
        <p:nvSpPr>
          <p:cNvPr id="47" name="TextBox 4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714500"/>
                </a:moveTo>
                <a:lnTo>
                  <a:pt x="12192000" y="17145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5143500"/>
                </a:moveTo>
                <a:lnTo>
                  <a:pt x="12192000" y="51435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solidFill>
            <a:srgbClr val="000000">
              <a:alpha val="35000"/>
            </a:srgbClr>
          </a:solidFill>
          <a:ln w="9525">
            <a:solidFill>
              <a:srgbClr val="16324D">
                <a:alpha val="35000"/>
              </a:srgbClr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7" name="Rectangle 7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20" name="Rectangle 20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2026-10-16T00:19:24Z</dcterms:created>
  <dcterms:modified xsi:type="dcterms:W3CDTF">2026-10-16T00:19:24Z</dcterms:modified>
  <cp:category/>
  <cp:contentStatus/>
</cp:coreProperties>
</file>